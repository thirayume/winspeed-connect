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Prompt" panose="00000500000000000000" pitchFamily="2" charset="-34"/>
              </a:defRPr>
            </a:lvl1pPr>
          </a:lstStyle>
          <a:p>
            <a:fld id="{5BCAD085-E8A6-8845-BD4E-CB4CCA059FC4}" type="datetimeFigureOut">
              <a:rPr lang="en-US" smtClean="0"/>
              <a:pPr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rompt" panose="00000500000000000000" pitchFamily="2" charset="-34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rompt" panose="00000500000000000000" pitchFamily="2" charset="-34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rompt" panose="00000500000000000000" pitchFamily="2" charset="-34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rompt" panose="00000500000000000000" pitchFamily="2" charset="-34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rompt" panose="00000500000000000000" pitchFamily="2" charset="-34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rompt" panose="00000500000000000000" pitchFamily="2" charset="-34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rompt" panose="00000500000000000000" pitchFamily="2" charset="-34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rompt" panose="00000500000000000000" pitchFamily="2" charset="-34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63500"/>
          </a:xfrm>
          <a:prstGeom prst="rect">
            <a:avLst/>
          </a:prstGeom>
          <a:solidFill>
            <a:srgbClr val="BA7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WS-Sale-App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332720" cy="8053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 dirty="0" err="1">
                <a:solidFill>
                  <a:srgbClr val="CFDAE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ระบบจัดการสั่งขาย</a:t>
            </a:r>
            <a:r>
              <a:rPr sz="2200" b="0" dirty="0">
                <a:solidFill>
                  <a:srgbClr val="CFDAE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· </a:t>
            </a:r>
            <a:r>
              <a:rPr sz="2200" b="0" dirty="0" err="1">
                <a:solidFill>
                  <a:srgbClr val="CFDAE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คลัง</a:t>
            </a:r>
            <a:r>
              <a:rPr sz="2200" b="0" dirty="0">
                <a:solidFill>
                  <a:srgbClr val="CFDAE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· </a:t>
            </a:r>
            <a:r>
              <a:rPr sz="2200" b="0" dirty="0" err="1">
                <a:solidFill>
                  <a:srgbClr val="CFDAE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รีเบท</a:t>
            </a:r>
            <a:r>
              <a:rPr sz="2200" b="0" dirty="0">
                <a:solidFill>
                  <a:srgbClr val="CFDAE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— </a:t>
            </a:r>
            <a:r>
              <a:rPr sz="2200" b="0" dirty="0" err="1">
                <a:solidFill>
                  <a:srgbClr val="CFDAE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เชื่อม</a:t>
            </a:r>
            <a:r>
              <a:rPr sz="2200" b="0" dirty="0">
                <a:solidFill>
                  <a:srgbClr val="CFDAE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</a:t>
            </a:r>
            <a:r>
              <a:rPr sz="2200" b="0" dirty="0" err="1">
                <a:solidFill>
                  <a:srgbClr val="CFDAE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WINSpeed</a:t>
            </a:r>
            <a:r>
              <a:rPr sz="2200" b="0" dirty="0">
                <a:solidFill>
                  <a:srgbClr val="CFDAE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&amp; </a:t>
            </a:r>
            <a:r>
              <a:rPr sz="2200" b="0" dirty="0" err="1">
                <a:solidFill>
                  <a:srgbClr val="CFDAE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TruckScale</a:t>
            </a:r>
            <a:endParaRPr sz="2200" b="0" dirty="0">
              <a:solidFill>
                <a:srgbClr val="CFDAEC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 algn="l">
              <a:spcAft>
                <a:spcPts val="1000"/>
              </a:spcAft>
            </a:pPr>
            <a:r>
              <a:rPr sz="1600" b="1" dirty="0">
                <a:solidFill>
                  <a:srgbClr val="BA7517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· UAT Demo Baseline · build v4.2.24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100584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World Fert Co., Ltd. · 1 กรกฎาคม 2569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BA7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89009"/>
            <a:ext cx="10972800" cy="7284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CFDAE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EXECUTIVE SUMMARY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บทสรุปผู้บริหาร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4654"/>
            <a:ext cx="10972800" cy="5504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dirty="0">
                <a:solidFill>
                  <a:srgbClr val="BA7517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•  </a:t>
            </a:r>
            <a:r>
              <a:rPr b="1" dirty="0" err="1">
                <a:solidFill>
                  <a:srgbClr val="0C447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ขอบเขต</a:t>
            </a:r>
            <a:r>
              <a:rPr b="1" dirty="0">
                <a:solidFill>
                  <a:srgbClr val="0C447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</a:t>
            </a:r>
            <a:endParaRPr lang="en-US" b="1" dirty="0">
              <a:solidFill>
                <a:srgbClr val="0C447C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>
              <a:spcAft>
                <a:spcPts val="700"/>
              </a:spcAft>
            </a:pPr>
            <a:r>
              <a:rPr lang="en-US" b="1" dirty="0">
                <a:solidFill>
                  <a:srgbClr val="0C447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	</a:t>
            </a:r>
            <a:r>
              <a:rPr b="1" dirty="0">
                <a:solidFill>
                  <a:srgbClr val="0C447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— </a:t>
            </a:r>
            <a:r>
              <a:rPr dirty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Sales Execution &amp; Control Layer </a:t>
            </a:r>
            <a:r>
              <a:rPr dirty="0" err="1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เหนือ</a:t>
            </a:r>
            <a:r>
              <a:rPr dirty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</a:t>
            </a:r>
            <a:r>
              <a:rPr dirty="0" err="1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WINSpeed</a:t>
            </a:r>
            <a:r>
              <a:rPr dirty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</a:t>
            </a:r>
            <a:endParaRPr lang="en-US" dirty="0">
              <a:solidFill>
                <a:srgbClr val="1A1A1A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>
              <a:spcAft>
                <a:spcPts val="700"/>
              </a:spcAft>
            </a:pPr>
            <a:r>
              <a:rPr lang="en-US" dirty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	</a:t>
            </a:r>
            <a:r>
              <a:rPr dirty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— </a:t>
            </a:r>
            <a:r>
              <a:rPr dirty="0" err="1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ขาย</a:t>
            </a:r>
            <a:r>
              <a:rPr dirty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, </a:t>
            </a:r>
            <a:r>
              <a:rPr strike="sngStrike" dirty="0" err="1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คลัง</a:t>
            </a:r>
            <a:r>
              <a:rPr strike="sngStrike" dirty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, </a:t>
            </a:r>
            <a:r>
              <a:rPr strike="sngStrike" dirty="0" err="1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ชั่งรถ</a:t>
            </a:r>
            <a:r>
              <a:rPr dirty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, </a:t>
            </a:r>
            <a:r>
              <a:rPr dirty="0" err="1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รีเบท</a:t>
            </a:r>
            <a:r>
              <a:rPr dirty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, </a:t>
            </a:r>
            <a:r>
              <a:rPr dirty="0" err="1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ของแถม</a:t>
            </a:r>
            <a:r>
              <a:rPr dirty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, </a:t>
            </a:r>
            <a:r>
              <a:rPr dirty="0" err="1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บัญชี</a:t>
            </a:r>
            <a:r>
              <a:rPr dirty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/</a:t>
            </a:r>
            <a:r>
              <a:rPr dirty="0" err="1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กระทบยอด</a:t>
            </a:r>
            <a:endParaRPr dirty="0">
              <a:solidFill>
                <a:srgbClr val="1A1A1A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>
              <a:spcAft>
                <a:spcPts val="700"/>
              </a:spcAft>
            </a:pPr>
            <a:r>
              <a:rPr b="1" dirty="0">
                <a:solidFill>
                  <a:srgbClr val="BA7517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•  </a:t>
            </a:r>
            <a:r>
              <a:rPr b="1" dirty="0" err="1">
                <a:solidFill>
                  <a:srgbClr val="0C447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สถานะ</a:t>
            </a:r>
            <a:r>
              <a:rPr b="1" dirty="0">
                <a:solidFill>
                  <a:srgbClr val="0C447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</a:t>
            </a:r>
            <a:endParaRPr lang="en-US" b="1" dirty="0">
              <a:solidFill>
                <a:srgbClr val="0C447C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>
              <a:spcAft>
                <a:spcPts val="700"/>
              </a:spcAft>
            </a:pPr>
            <a:r>
              <a:rPr lang="en-US" b="1" dirty="0">
                <a:solidFill>
                  <a:srgbClr val="0C447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	</a:t>
            </a:r>
            <a:r>
              <a:rPr b="1" dirty="0">
                <a:solidFill>
                  <a:srgbClr val="0C447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— </a:t>
            </a:r>
            <a:r>
              <a:rPr dirty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P0 + P1 + P2 </a:t>
            </a:r>
            <a:r>
              <a:rPr dirty="0" err="1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จากแผน</a:t>
            </a:r>
            <a:r>
              <a:rPr dirty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v7 implement + deploy </a:t>
            </a:r>
            <a:r>
              <a:rPr dirty="0" err="1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ครบ</a:t>
            </a:r>
            <a:r>
              <a:rPr dirty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</a:t>
            </a:r>
            <a:endParaRPr lang="en-US" dirty="0">
              <a:solidFill>
                <a:srgbClr val="1A1A1A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>
              <a:spcAft>
                <a:spcPts val="700"/>
              </a:spcAft>
            </a:pPr>
            <a:r>
              <a:rPr lang="en-US" dirty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	   </a:t>
            </a:r>
            <a:r>
              <a:rPr dirty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(build v4.2.24, schema migration 001–029, 23 </a:t>
            </a:r>
            <a:r>
              <a:rPr dirty="0" err="1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หน้า</a:t>
            </a:r>
            <a:r>
              <a:rPr dirty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)</a:t>
            </a:r>
          </a:p>
          <a:p>
            <a:pPr>
              <a:spcAft>
                <a:spcPts val="700"/>
              </a:spcAft>
            </a:pPr>
            <a:r>
              <a:rPr b="1" dirty="0">
                <a:solidFill>
                  <a:srgbClr val="BA7517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•  </a:t>
            </a:r>
            <a:r>
              <a:rPr b="1" dirty="0" err="1">
                <a:solidFill>
                  <a:srgbClr val="0C447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เชื่อมต่อ</a:t>
            </a:r>
            <a:r>
              <a:rPr b="1" dirty="0">
                <a:solidFill>
                  <a:srgbClr val="0C447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</a:t>
            </a:r>
            <a:endParaRPr lang="en-US" b="1" dirty="0">
              <a:solidFill>
                <a:srgbClr val="0C447C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>
              <a:spcAft>
                <a:spcPts val="700"/>
              </a:spcAft>
            </a:pPr>
            <a:r>
              <a:rPr lang="en-US" b="1" dirty="0">
                <a:solidFill>
                  <a:srgbClr val="0C447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	</a:t>
            </a:r>
            <a:r>
              <a:rPr sz="1700" b="1" dirty="0">
                <a:solidFill>
                  <a:srgbClr val="0C447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— </a:t>
            </a:r>
            <a:r>
              <a:rPr sz="1700" dirty="0" err="1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WINSpeed</a:t>
            </a:r>
            <a:r>
              <a:rPr sz="1700" dirty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(SQL Server, system of record) ↔ </a:t>
            </a:r>
            <a:r>
              <a:rPr sz="1700" dirty="0" err="1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wf</a:t>
            </a:r>
            <a:r>
              <a:rPr sz="1700" dirty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(operational) ↔ </a:t>
            </a:r>
            <a:r>
              <a:rPr sz="1700" dirty="0" err="1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TruckScale</a:t>
            </a:r>
            <a:r>
              <a:rPr sz="1700" dirty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(MySQL, </a:t>
            </a:r>
            <a:r>
              <a:rPr sz="1700" dirty="0" err="1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ชั่งรถ</a:t>
            </a:r>
            <a:r>
              <a:rPr sz="1700" dirty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) </a:t>
            </a:r>
            <a:endParaRPr lang="en-US" sz="1700" dirty="0">
              <a:solidFill>
                <a:srgbClr val="1A1A1A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>
              <a:spcAft>
                <a:spcPts val="700"/>
              </a:spcAft>
            </a:pPr>
            <a:r>
              <a:rPr lang="en-US" dirty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	</a:t>
            </a:r>
            <a:r>
              <a:rPr dirty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— </a:t>
            </a:r>
            <a:r>
              <a:rPr dirty="0" err="1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ดึงข้อมูลชั่งกลับอัตโนมัติ</a:t>
            </a:r>
            <a:endParaRPr dirty="0">
              <a:solidFill>
                <a:srgbClr val="1A1A1A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>
              <a:spcAft>
                <a:spcPts val="700"/>
              </a:spcAft>
            </a:pPr>
            <a:r>
              <a:rPr b="1" dirty="0">
                <a:solidFill>
                  <a:srgbClr val="BA7517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•  </a:t>
            </a:r>
            <a:r>
              <a:rPr b="1" dirty="0" err="1">
                <a:solidFill>
                  <a:srgbClr val="0C447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คุณภาพระดับ</a:t>
            </a:r>
            <a:r>
              <a:rPr b="1" dirty="0">
                <a:solidFill>
                  <a:srgbClr val="0C447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Enterprise/ISO </a:t>
            </a:r>
            <a:endParaRPr lang="en-US" b="1" dirty="0">
              <a:solidFill>
                <a:srgbClr val="0C447C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>
              <a:spcAft>
                <a:spcPts val="700"/>
              </a:spcAft>
            </a:pPr>
            <a:r>
              <a:rPr lang="en-US" b="1" dirty="0">
                <a:solidFill>
                  <a:srgbClr val="0C447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	</a:t>
            </a:r>
            <a:r>
              <a:rPr b="1" dirty="0">
                <a:solidFill>
                  <a:srgbClr val="0C447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— </a:t>
            </a:r>
            <a:r>
              <a:rPr dirty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migration ledger, integration outbox, approval policy, </a:t>
            </a:r>
            <a:endParaRPr lang="en-US" dirty="0">
              <a:solidFill>
                <a:srgbClr val="1A1A1A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>
              <a:spcAft>
                <a:spcPts val="700"/>
              </a:spcAft>
            </a:pPr>
            <a:r>
              <a:rPr lang="en-US" dirty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	   </a:t>
            </a:r>
            <a:r>
              <a:rPr dirty="0" err="1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observability+alert</a:t>
            </a:r>
            <a:r>
              <a:rPr dirty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, reconciliation, PDPA/DSAR</a:t>
            </a:r>
          </a:p>
          <a:p>
            <a:pPr>
              <a:spcAft>
                <a:spcPts val="700"/>
              </a:spcAft>
            </a:pPr>
            <a:r>
              <a:rPr b="1" dirty="0">
                <a:solidFill>
                  <a:srgbClr val="BA7517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•  </a:t>
            </a:r>
            <a:r>
              <a:rPr b="1" dirty="0" err="1">
                <a:solidFill>
                  <a:srgbClr val="0C447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ความพร้อม</a:t>
            </a:r>
            <a:r>
              <a:rPr b="1" dirty="0">
                <a:solidFill>
                  <a:srgbClr val="0C447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</a:t>
            </a:r>
            <a:endParaRPr lang="en-US" b="1" dirty="0">
              <a:solidFill>
                <a:srgbClr val="0C447C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>
              <a:spcAft>
                <a:spcPts val="700"/>
              </a:spcAft>
            </a:pPr>
            <a:r>
              <a:rPr lang="en-US" b="1" dirty="0">
                <a:solidFill>
                  <a:srgbClr val="0C447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	</a:t>
            </a:r>
            <a:r>
              <a:rPr b="1" dirty="0">
                <a:solidFill>
                  <a:srgbClr val="0C447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— </a:t>
            </a:r>
            <a:r>
              <a:rPr dirty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UAT Demo Ready </a:t>
            </a:r>
            <a:endParaRPr lang="en-US" dirty="0">
              <a:solidFill>
                <a:srgbClr val="1A1A1A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>
              <a:spcAft>
                <a:spcPts val="700"/>
              </a:spcAft>
            </a:pPr>
            <a:r>
              <a:rPr lang="en-US" dirty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	</a:t>
            </a:r>
            <a:r>
              <a:rPr dirty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— </a:t>
            </a:r>
            <a:r>
              <a:rPr dirty="0" err="1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เชื่อม</a:t>
            </a:r>
            <a:r>
              <a:rPr dirty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</a:t>
            </a:r>
            <a:r>
              <a:rPr dirty="0" err="1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WINSpeed</a:t>
            </a:r>
            <a:r>
              <a:rPr dirty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</a:t>
            </a:r>
            <a:r>
              <a:rPr dirty="0" err="1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และ</a:t>
            </a:r>
            <a:r>
              <a:rPr dirty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</a:t>
            </a:r>
            <a:r>
              <a:rPr dirty="0" err="1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TruckScale</a:t>
            </a:r>
            <a:r>
              <a:rPr dirty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</a:t>
            </a:r>
            <a:r>
              <a:rPr dirty="0" err="1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ครบ</a:t>
            </a:r>
            <a:r>
              <a:rPr dirty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(</a:t>
            </a:r>
            <a:r>
              <a:rPr dirty="0" err="1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ทดสอบกับข้อมูลจริงแล้ว</a:t>
            </a:r>
            <a:r>
              <a:rPr dirty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dirty="0">
                <a:solidFill>
                  <a:srgbClr val="6B728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WS-Sale-App · World Fert ·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BA7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89009"/>
            <a:ext cx="10972800" cy="7284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CFDAE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ARCHITECTURE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สถาปัตยกรรม — 3 ฐานข้อมูล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3566160" cy="2926080"/>
          </a:xfrm>
          <a:prstGeom prst="rect">
            <a:avLst/>
          </a:prstGeom>
          <a:solidFill>
            <a:srgbClr val="F4F6FA"/>
          </a:solidFill>
          <a:ln w="12700">
            <a:solidFill>
              <a:srgbClr val="0C44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3566160" cy="640080"/>
          </a:xfrm>
          <a:prstGeom prst="rect">
            <a:avLst/>
          </a:prstGeom>
          <a:solidFill>
            <a:srgbClr val="0C4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717286"/>
            <a:ext cx="356616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WINSpeed (dbo)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32004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BA7517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SQL 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3108960" cy="5437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System of record บัญชี
อ่านเป็นหลัก · เขียนเฉพาะ flow ที่ตกลง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554480"/>
            <a:ext cx="3566160" cy="2926080"/>
          </a:xfrm>
          <a:prstGeom prst="rect">
            <a:avLst/>
          </a:prstGeom>
          <a:solidFill>
            <a:srgbClr val="F4F6FA"/>
          </a:solidFill>
          <a:ln w="12700">
            <a:solidFill>
              <a:srgbClr val="BA75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480560" y="1554480"/>
            <a:ext cx="3566160" cy="640080"/>
          </a:xfrm>
          <a:prstGeom prst="rect">
            <a:avLst/>
          </a:prstGeom>
          <a:solidFill>
            <a:srgbClr val="BA7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480560" y="1717286"/>
            <a:ext cx="356616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wf schema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77440"/>
            <a:ext cx="32004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BA7517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SQL Server (เดียวกัน)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880360"/>
            <a:ext cx="3108960" cy="5437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Operational extension
read-write ผ่าน migration เท่านั้น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1554480"/>
            <a:ext cx="3566160" cy="2926080"/>
          </a:xfrm>
          <a:prstGeom prst="rect">
            <a:avLst/>
          </a:prstGeom>
          <a:solidFill>
            <a:srgbClr val="F4F6FA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21040" y="1554480"/>
            <a:ext cx="3566160" cy="6400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1040" y="1717286"/>
            <a:ext cx="356616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TruckScale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377440"/>
            <a:ext cx="32004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BA7517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MySQL / Railway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880360"/>
            <a:ext cx="3108960" cy="5437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เครื่องชั่งรถ
READ-ONLY · ดึงกลับผ่าน sync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46320"/>
            <a:ext cx="10972800" cy="5745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รูปแบบหลัก: dual-pool DB switch (local/remote), Socket.IO realtime, migration ledger, integration outbox,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approval policy engine, observability + webhook alert, reconciliation, TruckScale pull-sync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73152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dirty="0">
                <a:solidFill>
                  <a:srgbClr val="6B728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WS-Sale-App · World Fert ·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18872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BA7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89009"/>
            <a:ext cx="10972800" cy="7284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CFDAE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MODULE MAP</a:t>
            </a:r>
          </a:p>
          <a:p>
            <a:pPr algn="l">
              <a:spcAft>
                <a:spcPts val="400"/>
              </a:spcAft>
            </a:pPr>
            <a:r>
              <a:rPr sz="2600" b="1" dirty="0" err="1">
                <a:solidFill>
                  <a:srgbClr val="FFFFFF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โมดูล</a:t>
            </a:r>
            <a:r>
              <a:rPr sz="2600" b="1" dirty="0">
                <a:solidFill>
                  <a:srgbClr val="FFFFFF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/ </a:t>
            </a:r>
            <a:r>
              <a:rPr sz="2600" b="1" dirty="0" err="1">
                <a:solidFill>
                  <a:srgbClr val="FFFFFF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หน้</a:t>
            </a:r>
            <a:r>
              <a:rPr lang="th-TH" sz="2600" b="1" dirty="0">
                <a:solidFill>
                  <a:srgbClr val="FFFFFF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า</a:t>
            </a:r>
            <a:endParaRPr sz="2600" b="1" dirty="0">
              <a:solidFill>
                <a:srgbClr val="FFFFFF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2651760" cy="868680"/>
          </a:xfrm>
          <a:prstGeom prst="rect">
            <a:avLst/>
          </a:prstGeom>
          <a:solidFill>
            <a:srgbClr val="0C4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697771"/>
            <a:ext cx="265176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ขาย / เอกสาร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417320"/>
            <a:ext cx="8138160" cy="868680"/>
          </a:xfrm>
          <a:prstGeom prst="rect">
            <a:avLst/>
          </a:prstGeom>
          <a:solidFill>
            <a:srgbClr val="F4F6FA"/>
          </a:solidFill>
          <a:ln w="1270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66160" y="1697771"/>
            <a:ext cx="786384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Dashboard · ขาย(POS) · เสนอราคา · Paper Trail · ตั๋วคงค้าง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77440"/>
            <a:ext cx="2651760" cy="868680"/>
          </a:xfrm>
          <a:prstGeom prst="rect">
            <a:avLst/>
          </a:prstGeom>
          <a:solidFill>
            <a:srgbClr val="0C4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2657891"/>
            <a:ext cx="265176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คลัง / ชั่ง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2377440"/>
            <a:ext cx="8138160" cy="868680"/>
          </a:xfrm>
          <a:prstGeom prst="rect">
            <a:avLst/>
          </a:prstGeom>
          <a:solidFill>
            <a:srgbClr val="F4F6FA"/>
          </a:solidFill>
          <a:ln w="1270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66160" y="2657891"/>
            <a:ext cx="786384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คลัง · TruckScale · Weigh Inbox (ใหม่) · ชุดตั๋วคุม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337560"/>
            <a:ext cx="2651760" cy="868680"/>
          </a:xfrm>
          <a:prstGeom prst="rect">
            <a:avLst/>
          </a:prstGeom>
          <a:solidFill>
            <a:srgbClr val="0C4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3618011"/>
            <a:ext cx="265176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รีเบท / ของแถม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3337560"/>
            <a:ext cx="8138160" cy="868680"/>
          </a:xfrm>
          <a:prstGeom prst="rect">
            <a:avLst/>
          </a:prstGeom>
          <a:solidFill>
            <a:srgbClr val="F4F6FA"/>
          </a:solidFill>
          <a:ln w="1270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66160" y="3618011"/>
            <a:ext cx="786384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รีเบท(App) · Rebate Plan · CN Rebate · Voucher · ของแถม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297680"/>
            <a:ext cx="2651760" cy="868680"/>
          </a:xfrm>
          <a:prstGeom prst="rect">
            <a:avLst/>
          </a:prstGeom>
          <a:solidFill>
            <a:srgbClr val="0C4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" y="4578131"/>
            <a:ext cx="265176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บัญชี / กำกับ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4297680"/>
            <a:ext cx="8138160" cy="868680"/>
          </a:xfrm>
          <a:prstGeom prst="rect">
            <a:avLst/>
          </a:prstGeom>
          <a:solidFill>
            <a:srgbClr val="F4F6FA"/>
          </a:solidFill>
          <a:ln w="1270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566160" y="4578131"/>
            <a:ext cx="786384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บัญชี · กระทบยอด(ใหม่) · Price Book(ใหม่) · นโยบายอนุมัติ(ใหม่) · กำกับข้อมูล(ใหม่)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257800"/>
            <a:ext cx="2651760" cy="868680"/>
          </a:xfrm>
          <a:prstGeom prst="rect">
            <a:avLst/>
          </a:prstGeom>
          <a:solidFill>
            <a:srgbClr val="0C4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0080" y="5538251"/>
            <a:ext cx="265176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รายงาน / ระบบ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5257800"/>
            <a:ext cx="8138160" cy="868680"/>
          </a:xfrm>
          <a:prstGeom prst="rect">
            <a:avLst/>
          </a:prstGeom>
          <a:solidFill>
            <a:srgbClr val="F4F6FA"/>
          </a:solidFill>
          <a:ln w="1270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566160" y="5538251"/>
            <a:ext cx="786384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รายงาน · สถานะระบบ(ใหม่) · ผู้ใช้งาน · ข้อมูลหลัก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73152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dirty="0">
                <a:solidFill>
                  <a:srgbClr val="6B728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WS-Sale-App · World Fert ·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46520"/>
            <a:ext cx="118872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BA7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89009"/>
            <a:ext cx="10972800" cy="7284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CFDAE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WHAT'S NEW</a:t>
            </a:r>
          </a:p>
          <a:p>
            <a:pPr algn="l">
              <a:spcAft>
                <a:spcPts val="400"/>
              </a:spcAft>
            </a:pPr>
            <a:r>
              <a:rPr sz="2600" b="1" dirty="0" err="1">
                <a:solidFill>
                  <a:srgbClr val="FFFFFF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สิ่งที่เพิ่ม</a:t>
            </a:r>
            <a:endParaRPr sz="2600" b="1" dirty="0">
              <a:solidFill>
                <a:srgbClr val="FFFFFF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828800" cy="960120"/>
          </a:xfrm>
          <a:prstGeom prst="rect">
            <a:avLst/>
          </a:prstGeom>
          <a:solidFill>
            <a:srgbClr val="16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849874"/>
            <a:ext cx="182880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P0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554480"/>
            <a:ext cx="8961120" cy="960120"/>
          </a:xfrm>
          <a:prstGeom prst="rect">
            <a:avLst/>
          </a:prstGeom>
          <a:solidFill>
            <a:srgbClr val="F4F6FA"/>
          </a:solidFill>
          <a:ln w="1270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0" y="1880651"/>
            <a:ext cx="86868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Reconciliation Workbench (FR-027) · Observability+Alert (FR-030) · Migration Ledger (FR-031)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06040"/>
            <a:ext cx="1828800" cy="960120"/>
          </a:xfrm>
          <a:prstGeom prst="rect">
            <a:avLst/>
          </a:prstGeom>
          <a:solidFill>
            <a:srgbClr val="16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2901434"/>
            <a:ext cx="182880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P1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2606040"/>
            <a:ext cx="8961120" cy="960120"/>
          </a:xfrm>
          <a:prstGeom prst="rect">
            <a:avLst/>
          </a:prstGeom>
          <a:solidFill>
            <a:srgbClr val="F4F6FA"/>
          </a:solidFill>
          <a:ln w="1270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43200" y="2824490"/>
            <a:ext cx="8686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Approval Policy (FR-028) · Integration Outbox (FR-029) · Price Book workflow (FR-023) · TruckScale ranking (FR-025)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657600"/>
            <a:ext cx="1828800" cy="960120"/>
          </a:xfrm>
          <a:prstGeom prst="rect">
            <a:avLst/>
          </a:prstGeom>
          <a:solidFill>
            <a:srgbClr val="16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3952994"/>
            <a:ext cx="182880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P2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0" y="3657600"/>
            <a:ext cx="8961120" cy="960120"/>
          </a:xfrm>
          <a:prstGeom prst="rect">
            <a:avLst/>
          </a:prstGeom>
          <a:solidFill>
            <a:srgbClr val="F4F6FA"/>
          </a:solidFill>
          <a:ln w="1270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743200" y="3983771"/>
            <a:ext cx="86868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Credit Hold (FR-003) · PDPA/DSAR (FR-032) · Operational Stock (DG-04) · LINE scaffold (FR-016)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709160"/>
            <a:ext cx="1828800" cy="960120"/>
          </a:xfrm>
          <a:prstGeom prst="rect">
            <a:avLst/>
          </a:prstGeom>
          <a:solidFill>
            <a:srgbClr val="BA7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" y="5004554"/>
            <a:ext cx="182880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Integration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0" y="4709160"/>
            <a:ext cx="8961120" cy="960120"/>
          </a:xfrm>
          <a:prstGeom prst="rect">
            <a:avLst/>
          </a:prstGeom>
          <a:solidFill>
            <a:srgbClr val="F4F6FA"/>
          </a:solidFill>
          <a:ln w="1270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743200" y="5035331"/>
            <a:ext cx="86868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TruckScale pull-back: Weigh Inbox + sync worker + SO auto-match + push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73152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dirty="0">
                <a:solidFill>
                  <a:srgbClr val="6B728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WS-Sale-App · World Fert ·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18872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BA7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89009"/>
            <a:ext cx="10972800" cy="7284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CFDAE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TRUCKSCALE PULL-BACK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การเชื่อม TruckScale — ดึงข้อมูลชั่งกลับ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164592" cy="777240"/>
          </a:xfrm>
          <a:prstGeom prst="rect">
            <a:avLst/>
          </a:prstGeom>
          <a:solidFill>
            <a:srgbClr val="BA7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1682383"/>
            <a:ext cx="36576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C447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1  TruckScale (MySQL)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682383"/>
            <a:ext cx="69494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พนักงานชั่งเข้า/ชั่งออก บันทึกใน tblscale (เราไม่แตะ — READ-ONLY)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04288"/>
            <a:ext cx="164592" cy="777240"/>
          </a:xfrm>
          <a:prstGeom prst="rect">
            <a:avLst/>
          </a:prstGeom>
          <a:solidFill>
            <a:srgbClr val="BA7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2523631"/>
            <a:ext cx="36576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C447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2  Sync worker (ทุก 60 วิ)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523631"/>
            <a:ext cx="69494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ดึง s_id &gt; watermark + refresh รายการที่ยังรอชั่งออก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145536"/>
            <a:ext cx="164592" cy="777240"/>
          </a:xfrm>
          <a:prstGeom prst="rect">
            <a:avLst/>
          </a:prstGeom>
          <a:solidFill>
            <a:srgbClr val="BA7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3364879"/>
            <a:ext cx="36576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C447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3  wf.WeighInbox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364879"/>
            <a:ext cx="69494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upsert ตาม sequence (idempotent) + เก็บถาวร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986784"/>
            <a:ext cx="164592" cy="777240"/>
          </a:xfrm>
          <a:prstGeom prst="rect">
            <a:avLst/>
          </a:prstGeom>
          <a:solidFill>
            <a:srgbClr val="BA7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4206127"/>
            <a:ext cx="36576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C447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4  จับคู่ SO อัตโนมัติ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206127"/>
            <a:ext cx="69494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match ทะเบียนกับ SO ที่ active → MATCHED / MULTI / UNMATCHED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828032"/>
            <a:ext cx="164592" cy="777240"/>
          </a:xfrm>
          <a:prstGeom prst="rect">
            <a:avLst/>
          </a:prstGeom>
          <a:solidFill>
            <a:srgbClr val="BA7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5047375"/>
            <a:ext cx="36576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C447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5  หน้า Weigh Inbox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047375"/>
            <a:ext cx="69494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เจ้าหน้าที่ตรวจ/จับคู่ที่เหลือ → ยืนยัน Shipped กลับ WINSpeed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806440"/>
            <a:ext cx="109728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BA7517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ทางเลือก push: POST /api/truckscale/ingest (shared secret) เผื่ออนาคตมี agent ฝั่งโรงงาน · ทดสอบกับข้อมูลจริงแล้ว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73152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dirty="0">
                <a:solidFill>
                  <a:srgbClr val="6B728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WS-Sale-App · World Fert ·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18872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BA7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89009"/>
            <a:ext cx="10972800" cy="7284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CFDAE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STATUS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สถานะความพร้อม — UAT Demo Ready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72800" cy="1005840"/>
          </a:xfrm>
          <a:prstGeom prst="rect">
            <a:avLst/>
          </a:prstGeom>
          <a:solidFill>
            <a:srgbClr val="16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689854"/>
            <a:ext cx="1097280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✅  P0 + P1 + P2 ครบทั้งหมด · เชื่อม WINSpeed + TruckScale ครบ · พร้อม UAT Demo 1 ก.ค. 2569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972800" cy="1284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BA7517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•  </a:t>
            </a:r>
            <a:r>
              <a:rPr sz="1500" b="1">
                <a:solidFill>
                  <a:srgbClr val="0C447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ผ่านแล้ว — </a:t>
            </a:r>
            <a:r>
              <a:rPr sz="150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29 FR ✅ · migration ledger ทำงานทั้ง local+remote · outbox/recon/observability ทดสอบแล้ว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BA7517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•  </a:t>
            </a:r>
            <a:r>
              <a:rPr sz="1500" b="1">
                <a:solidFill>
                  <a:srgbClr val="0C447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TruckScale — </a:t>
            </a:r>
            <a:r>
              <a:rPr sz="150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ดึงข้อมูลชั่งจริงเข้า Weigh Inbox + จับคู่ SO สำเร็จ (ทะเบียน/น้ำหนักจริง)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BA7517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•  </a:t>
            </a:r>
            <a:r>
              <a:rPr sz="1500" b="1">
                <a:solidFill>
                  <a:srgbClr val="0C447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คงเหลือ (ไม่บล็อก demo) — </a:t>
            </a:r>
            <a:r>
              <a:rPr sz="150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LINE = scaffold (รอตั้ง channel จริง) · DG-04 operational stock ยังเป็น open decision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BA7517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•  </a:t>
            </a:r>
            <a:r>
              <a:rPr sz="1500" b="1">
                <a:solidFill>
                  <a:srgbClr val="0C447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ก่อน production — </a:t>
            </a:r>
            <a:r>
              <a:rPr sz="1500">
                <a:solidFill>
                  <a:srgbClr val="1A1A1A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หมุนรหัสผ่าน/secret · ตั้ง ALERT_WEBHOOK_URL · ยืนยัน cadence การกระทบยอด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dirty="0">
                <a:solidFill>
                  <a:srgbClr val="6B728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WS-Sale-App · World Fert ·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18872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63500"/>
          </a:xfrm>
          <a:prstGeom prst="rect">
            <a:avLst/>
          </a:prstGeom>
          <a:solidFill>
            <a:srgbClr val="BA7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พร้อมสำหรับ UAT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dirty="0">
                <a:solidFill>
                  <a:srgbClr val="CFDAE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WS-Sale-App · build v4.2.24 · 1 </a:t>
            </a:r>
            <a:r>
              <a:rPr sz="1800" b="0" dirty="0" err="1">
                <a:solidFill>
                  <a:srgbClr val="CFDAE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กรกฎาคม</a:t>
            </a:r>
            <a:r>
              <a:rPr sz="1800" b="0" dirty="0">
                <a:solidFill>
                  <a:srgbClr val="CFDAEC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 2569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100584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World Fert Co., Ltd. —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754</Words>
  <Application>Microsoft Office PowerPoint</Application>
  <PresentationFormat>Widescreen</PresentationFormat>
  <Paragraphs>91</Paragraphs>
  <Slides>8</Slides>
  <Notes>0</Notes>
  <HiddenSlides>4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Prompt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Thirayu Meererksom</cp:lastModifiedBy>
  <cp:revision>8</cp:revision>
  <dcterms:created xsi:type="dcterms:W3CDTF">2013-01-27T09:14:16Z</dcterms:created>
  <dcterms:modified xsi:type="dcterms:W3CDTF">2026-07-01T15:56:52Z</dcterms:modified>
  <cp:category/>
</cp:coreProperties>
</file>