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2" autoAdjust="0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10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4789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WORLD FERT  |  WS-SALE-APP</a:t>
            </a:r>
            <a:endParaRPr lang="en-US" sz="65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869680" y="6510528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PROPOSAL</a:t>
            </a:r>
            <a:endParaRPr lang="en-US" sz="65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92853" y="64894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Prompt" panose="00000500000000000000" pitchFamily="2" charset="-34"/>
                <a:ea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fld id="{F7021451-1387-4CA6-816F-3879F97B5CB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Prompt" panose="00000500000000000000" pitchFamily="2" charset="-34"/>
                <a:ea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fld id="{F7021451-1387-4CA6-816F-3879F97B5CB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082E55"/>
          </a:solidFill>
          <a:ln w="12700">
            <a:solidFill>
              <a:srgbClr val="082E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73568" y="1298448"/>
            <a:ext cx="566928" cy="56692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73568" y="1481328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11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586216" y="1581912"/>
            <a:ext cx="256032" cy="0"/>
          </a:xfrm>
          <a:prstGeom prst="line">
            <a:avLst/>
          </a:prstGeom>
          <a:noFill/>
          <a:ln w="1524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882128" y="199339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ORDER</a:t>
            </a:r>
            <a:endParaRPr lang="en-US" sz="1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90688" y="221284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Sales</a:t>
            </a:r>
            <a:endParaRPr lang="en-US" sz="1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915400" y="1298448"/>
            <a:ext cx="566928" cy="566928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15400" y="1481328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11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528048" y="1581912"/>
            <a:ext cx="256032" cy="0"/>
          </a:xfrm>
          <a:prstGeom prst="line">
            <a:avLst/>
          </a:prstGeom>
          <a:noFill/>
          <a:ln w="1524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23960" y="199339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VERIFY</a:t>
            </a:r>
            <a:endParaRPr lang="en-US" sz="1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732520" y="221284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Counter</a:t>
            </a:r>
            <a:endParaRPr lang="en-US" sz="1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857232" y="1298448"/>
            <a:ext cx="566928" cy="566928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857232" y="1481328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11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469880" y="1581912"/>
            <a:ext cx="256032" cy="0"/>
          </a:xfrm>
          <a:prstGeom prst="line">
            <a:avLst/>
          </a:prstGeom>
          <a:noFill/>
          <a:ln w="1524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765792" y="199339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WEIGH</a:t>
            </a:r>
            <a:endParaRPr lang="en-US" sz="1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74352" y="221284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TruckScale</a:t>
            </a:r>
            <a:endParaRPr lang="en-US" sz="1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799064" y="1298448"/>
            <a:ext cx="566928" cy="56692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799064" y="1481328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11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707624" y="199339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POST</a:t>
            </a:r>
            <a:endParaRPr lang="en-US" sz="1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616184" y="2212848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WINSpeed</a:t>
            </a:r>
            <a:endParaRPr lang="en-US" sz="1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01000" y="2889504"/>
            <a:ext cx="3547872" cy="8686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01000" y="2889504"/>
            <a:ext cx="64008" cy="868680"/>
          </a:xfrm>
          <a:prstGeom prst="rect">
            <a:avLst/>
          </a:prstGeom>
          <a:solidFill>
            <a:srgbClr val="2B76B7"/>
          </a:solidFill>
          <a:ln w="12700">
            <a:solidFill>
              <a:srgbClr val="2B76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29600" y="309067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Operational layer</a:t>
            </a:r>
            <a:endParaRPr lang="en-US" sz="125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0" y="332841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Sales order · Rebate · Paper trail · </a:t>
            </a:r>
            <a:br>
              <a:rPr lang="th-TH" sz="10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0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Control ticket · Weight evidence</a:t>
            </a:r>
            <a:endParaRPr lang="en-US" sz="1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001000" y="3913632"/>
            <a:ext cx="3547872" cy="8686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001000" y="3913632"/>
            <a:ext cx="64008" cy="86868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229600" y="411480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Financial system of record</a:t>
            </a:r>
            <a:endParaRPr lang="en-US" sz="125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29600" y="444398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WINSpeed remains owner of invoice and GL</a:t>
            </a:r>
            <a:endParaRPr lang="en-US" sz="10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001000" y="5038344"/>
            <a:ext cx="3547872" cy="566928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165592" y="5202936"/>
            <a:ext cx="219456" cy="219456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165592" y="522122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9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476488" y="518464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0C447C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Non-invasive design: ทำให้หน้างานเร็วขึ้น โดยไม่เปลี่ยนเจ้าของบัญชี</a:t>
            </a:r>
            <a:endParaRPr lang="en-US" sz="97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1792" y="566928"/>
            <a:ext cx="2057400" cy="256032"/>
          </a:xfrm>
          <a:prstGeom prst="roundRect">
            <a:avLst/>
          </a:prstGeom>
          <a:solidFill>
            <a:srgbClr val="153F68"/>
          </a:solidFill>
          <a:ln w="12700">
            <a:solidFill>
              <a:srgbClr val="153F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94944" y="612648"/>
            <a:ext cx="1911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PROPOSAL</a:t>
            </a:r>
            <a:endParaRPr lang="en-US" sz="8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0080" y="1426464"/>
            <a:ext cx="65379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เปลี่ยนงานขายปุ๋ยที่กระจัดกระจาย</a:t>
            </a:r>
            <a:endParaRPr lang="en-US" sz="3100" dirty="0"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ให้เป็น Sales Execution ที่ควบคุมได้</a:t>
            </a:r>
            <a:endParaRPr lang="en-US" sz="31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0080" y="3054096"/>
            <a:ext cx="150876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58368" y="3346704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Operational layer สำหรับ </a:t>
            </a:r>
            <a:br>
              <a:rPr lang="en-US" sz="135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35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Sales · Counter Sales · Warehouse · Weighbridge · Accounting</a:t>
            </a:r>
            <a:endParaRPr lang="en-US" sz="135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58368" y="5824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C7D9E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World Fert Co., Ltd.  |  WS-Sale-App</a:t>
            </a:r>
            <a:endParaRPr lang="en-US" sz="105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58368" y="61081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Proposal deck · Executive readable edition</a:t>
            </a:r>
            <a:endParaRPr lang="en-US" sz="82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01 · EXECUTIVE BRIEF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จาก “คีย์เอกสาร” สู่ “ควบคุมการปฏิบัติงานขาย”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ระบบเดียวที่เชื่อมจุดส่งต่องานสำคัญ โดยรักษา WINSpeed ให้เป็นเจ้าของบัญชี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9344"/>
            <a:ext cx="2468880" cy="11155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609344"/>
            <a:ext cx="2468880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9808" y="1847088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282,087</a:t>
            </a:r>
            <a:endParaRPr lang="en-US" sz="24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808" y="2231136"/>
            <a:ext cx="20665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ใบกำกับที่มีอยู่ในฐานข้อมูล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808" y="244144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หลักฐานความซับซ้อนของระบบเดิม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82112" y="1609344"/>
            <a:ext cx="2468880" cy="11155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82112" y="1609344"/>
            <a:ext cx="2468880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83280" y="1847088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67A6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107,018</a:t>
            </a:r>
            <a:endParaRPr lang="en-US" sz="24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0" y="2231136"/>
            <a:ext cx="20665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ใบจอง / ใบสั่งขาย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83280" y="244144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ต้องการสถานะและหลักฐานที่ชัดเจน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815584" y="1609344"/>
            <a:ext cx="2468880" cy="11155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15584" y="1609344"/>
            <a:ext cx="2468880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16752" y="1847088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790</a:t>
            </a:r>
            <a:endParaRPr lang="en-US" sz="24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16752" y="2231136"/>
            <a:ext cx="20665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ลูกค้า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16752" y="244144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ข้อมูลและเงื่อนไขหลากหลาย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449056" y="1609344"/>
            <a:ext cx="2468880" cy="11155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49056" y="1609344"/>
            <a:ext cx="2468880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50224" y="1847088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B6D11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403,908</a:t>
            </a:r>
            <a:endParaRPr lang="en-US" sz="24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50224" y="2231136"/>
            <a:ext cx="20665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ใบชั่ง TruckScale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650224" y="244144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น้ำหนักต้องผูกกับการส่งสินค้า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3145536"/>
            <a:ext cx="3529584" cy="1600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3145536"/>
            <a:ext cx="64008" cy="16002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77240" y="3346704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1. ลดการตีความหน้างาน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77240" y="3675888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ลำดับโหลดแม่/ลูก,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ของแถม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</a:t>
            </a:r>
            <a:b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ตั๋วคุมถูกบันทึกเป็นข้อมูล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ไม่ใช่หมายเหตุ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325112" y="3145536"/>
            <a:ext cx="3529584" cy="1600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25112" y="3145536"/>
            <a:ext cx="64008" cy="160020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53712" y="3346704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2. ทำให้ Rebate ตรวจย้อนกลับได้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53712" y="3675888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ตั้ง accrual ต่อรายการ ตัด FIFO </a:t>
            </a:r>
            <a:b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และผูก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Claim/CN กลับถึงต้นทาง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101584" y="3145536"/>
            <a:ext cx="3529584" cy="1600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101584" y="3145536"/>
            <a:ext cx="64008" cy="1600200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330184" y="3346704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3. คุมเอกสารและจุดส่งต่องาน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330184" y="3675888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Verification gate, QR Paper Trail และ WeighTicket สร้างหลักฐานการปฏิบัติงาน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48640" y="5257800"/>
            <a:ext cx="11082528" cy="566928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13232" y="5422392"/>
            <a:ext cx="219456" cy="219456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13232" y="544068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900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24128" y="5404104"/>
            <a:ext cx="10479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0C447C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Value proposition ที่เสนอ: “ทำให้งานขายเร็วขึ้น ตรวจสอบได้ และพร้อมส่งต่อบัญชีอย่างมีวินัย”</a:t>
            </a:r>
            <a:endParaRPr lang="en-US" sz="970" dirty="0">
              <a:latin typeface="Prompt" panose="00000500000000000000" pitchFamily="2" charset="-34"/>
            </a:endParaRPr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2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02 · BUSINESS PROBLEM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ปัญหาไม่ได้อยู่ที่ “คนทำงานช้า” แต่อยู่ที่ “ข้อมูลหลุดระหว่างจุดส่งต่อ”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เมื่อคำสั่งซื้อเคลื่อนผ่าน Sales → Counter → Warehouse → TruckScale → Accounting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0352" y="1673352"/>
            <a:ext cx="2029968" cy="2286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673352"/>
            <a:ext cx="2029968" cy="47548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6656" y="181965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Sales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" y="23865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รับ order ผ่าน LINE</a:t>
            </a:r>
            <a:endParaRPr lang="en-US" sz="1200" dirty="0">
              <a:latin typeface="Prompt" panose="00000500000000000000" pitchFamily="2" charset="-34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หรือเอกสาร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76656" y="2980944"/>
            <a:ext cx="1737360" cy="65836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3127248"/>
            <a:ext cx="1536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คีย์ซ้ำ / </a:t>
            </a:r>
            <a:r>
              <a:rPr lang="en-US" sz="1000" dirty="0" err="1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รายละเอียด</a:t>
            </a:r>
            <a:br>
              <a:rPr lang="en-US" sz="1000" dirty="0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000" dirty="0" err="1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อยู่ในหมายเหตุ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78608" y="2816352"/>
            <a:ext cx="128016" cy="0"/>
          </a:xfrm>
          <a:prstGeom prst="line">
            <a:avLst/>
          </a:prstGeom>
          <a:noFill/>
          <a:ln w="1524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0" y="1673352"/>
            <a:ext cx="2029968" cy="2286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0" y="1673352"/>
            <a:ext cx="2029968" cy="47548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889504" y="181965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Counter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889504" y="23865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คีย์ใบสั่งจอง</a:t>
            </a:r>
            <a:endParaRPr lang="en-US" sz="1200" dirty="0">
              <a:latin typeface="Prompt" panose="00000500000000000000" pitchFamily="2" charset="-34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และพิมพ์เอกสาร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889504" y="2980944"/>
            <a:ext cx="1737360" cy="65836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990088" y="3127248"/>
            <a:ext cx="1536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ไม่มี verification gate</a:t>
            </a:r>
            <a:br>
              <a:rPr lang="en-US" sz="100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000" dirty="0" err="1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ที่ชัด</a:t>
            </a:r>
            <a:r>
              <a:rPr lang="th-TH" sz="100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เจน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91456" y="2816352"/>
            <a:ext cx="128016" cy="0"/>
          </a:xfrm>
          <a:prstGeom prst="line">
            <a:avLst/>
          </a:prstGeom>
          <a:noFill/>
          <a:ln w="1524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956048" y="1673352"/>
            <a:ext cx="2029968" cy="2286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956048" y="1673352"/>
            <a:ext cx="2029968" cy="47548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02352" y="181965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Warehouse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02352" y="23865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จัดของหลายจุด</a:t>
            </a:r>
            <a:endParaRPr lang="en-US" sz="1200" dirty="0">
              <a:latin typeface="Prompt" panose="00000500000000000000" pitchFamily="2" charset="-34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สายพาน/คลัง/Bulk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102352" y="2980944"/>
            <a:ext cx="1737360" cy="65836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02936" y="3127248"/>
            <a:ext cx="1536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ตีความลำดับแม่/ลูกเอง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004304" y="2816352"/>
            <a:ext cx="128016" cy="0"/>
          </a:xfrm>
          <a:prstGeom prst="line">
            <a:avLst/>
          </a:prstGeom>
          <a:noFill/>
          <a:ln w="1524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168896" y="1673352"/>
            <a:ext cx="2029968" cy="2286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168896" y="1673352"/>
            <a:ext cx="2029968" cy="47548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15200" y="181965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Weighbridge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315200" y="23865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ชั่งเข้า/ออก</a:t>
            </a:r>
            <a:endParaRPr lang="en-US" sz="1200" dirty="0">
              <a:latin typeface="Prompt" panose="00000500000000000000" pitchFamily="2" charset="-34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และปิดรถ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315200" y="2980944"/>
            <a:ext cx="1737360" cy="65836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415784" y="3127248"/>
            <a:ext cx="1536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น้ำหนักกับ order </a:t>
            </a:r>
            <a:br>
              <a:rPr lang="en-US" sz="1000" dirty="0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000" dirty="0" err="1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ไม่เชื่อมเป็นหลักฐานเดียว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217152" y="2816352"/>
            <a:ext cx="128016" cy="0"/>
          </a:xfrm>
          <a:prstGeom prst="line">
            <a:avLst/>
          </a:prstGeom>
          <a:noFill/>
          <a:ln w="1524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381744" y="1673352"/>
            <a:ext cx="2029968" cy="2286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381744" y="1673352"/>
            <a:ext cx="2029968" cy="47548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528048" y="181965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Accounting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528048" y="23865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ตรวจ rebate</a:t>
            </a:r>
            <a:endParaRPr lang="en-US" sz="1200" dirty="0">
              <a:latin typeface="Prompt" panose="00000500000000000000" pitchFamily="2" charset="-34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และออก CN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528048" y="2980944"/>
            <a:ext cx="1737360" cy="65836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628632" y="3127248"/>
            <a:ext cx="1536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ต้องค้นย้อนทีละบิล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48640" y="4370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6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ผลกระทบที่ต้องแก้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8640" y="4645152"/>
            <a:ext cx="3529584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48640" y="4645152"/>
            <a:ext cx="64008" cy="100584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77240" y="4846320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Manual rebate review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77240" y="5175504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Accounting </a:t>
            </a:r>
            <a:r>
              <a:rPr lang="en-US" sz="103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ใช้เวลาตรวจหลักฐาน</a:t>
            </a:r>
            <a:b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03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และค้นบิลต้นทางจำนวนมาก</a:t>
            </a:r>
            <a:endParaRPr lang="en-US" sz="1030" dirty="0">
              <a:latin typeface="Prompt" panose="00000500000000000000" pitchFamily="2" charset="-3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325112" y="4645152"/>
            <a:ext cx="3529584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325112" y="4645152"/>
            <a:ext cx="64008" cy="10058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553712" y="4846320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Paper trail gap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553712" y="5175504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เอกสาร 4 สีติดตามยากเมื่อพ้นจุดพิมพ์</a:t>
            </a:r>
            <a:endParaRPr lang="en-US" sz="1030" dirty="0">
              <a:latin typeface="Prompt" panose="00000500000000000000" pitchFamily="2" charset="-34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101584" y="4645152"/>
            <a:ext cx="3529584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101584" y="4645152"/>
            <a:ext cx="64008" cy="1005840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330184" y="4846320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Operational blind spot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330184" y="5175504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ไม่มีภาพเดียวที่รวมสถานะรถ, ตั๋วคุม และงานคงค้าง</a:t>
            </a:r>
            <a:endParaRPr lang="en-US" sz="1030" dirty="0">
              <a:latin typeface="Prompt" panose="00000500000000000000" pitchFamily="2" charset="-3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75488" y="6181344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Pain points are consolidated from field observations, sales requirements, and operational forms.</a:t>
            </a:r>
            <a:endParaRPr lang="en-US" sz="680" dirty="0">
              <a:latin typeface="Prompt" panose="00000500000000000000" pitchFamily="2" charset="-34"/>
            </a:endParaRPr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3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03 · TARGET OPERATING MODEL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WS-Sale-App คือชั้นปฏิบัติการที่ทำให้ทุกคนเห็น “ความจริงชุดเดียวกัน”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เน้นควบคุมการทำงานก่อนและระหว่างส่งมอบ โดยไม่ยึดบทบาทของ WINSpeed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85216" y="1591056"/>
            <a:ext cx="11018520" cy="1207008"/>
          </a:xfrm>
          <a:prstGeom prst="roundRect">
            <a:avLst/>
          </a:prstGeom>
          <a:solidFill>
            <a:srgbClr val="0C447C"/>
          </a:solidFill>
          <a:ln w="762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79222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WS-Sale-App operational layer</a:t>
            </a:r>
            <a:endParaRPr lang="en-US" sz="1500" dirty="0">
              <a:latin typeface="Prompt" panose="00000500000000000000" pitchFamily="2" charset="-3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41248" y="2203704"/>
            <a:ext cx="1444752" cy="3657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96112" y="2276856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Sales Order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78608" y="2203704"/>
            <a:ext cx="1444752" cy="3657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3472" y="2276856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Verification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15968" y="2203704"/>
            <a:ext cx="1444752" cy="3657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70832" y="2276856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Paper Trail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53328" y="2203704"/>
            <a:ext cx="1444752" cy="3657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08192" y="2276856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Rebate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790688" y="2203704"/>
            <a:ext cx="1444752" cy="3657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45552" y="2276856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WeighTicket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528048" y="2203704"/>
            <a:ext cx="1444752" cy="3657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582912" y="2276856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Reports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77240" y="3063240"/>
            <a:ext cx="10607040" cy="0"/>
          </a:xfrm>
          <a:prstGeom prst="line">
            <a:avLst/>
          </a:prstGeom>
          <a:noFill/>
          <a:ln w="15240">
            <a:solidFill>
              <a:srgbClr val="AFC8DE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5216" y="3355848"/>
            <a:ext cx="7479792" cy="12801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3584448"/>
            <a:ext cx="1389888" cy="25603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E6F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96112" y="3630168"/>
            <a:ext cx="12435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SYSTEM OF RECORD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" y="3941064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WINSpeed v9.0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960" y="427939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Master data · Sales documents · Invoice · Credit Note · GL</a:t>
            </a:r>
            <a:endParaRPr lang="en-US" sz="95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366760" y="3355848"/>
            <a:ext cx="3236976" cy="12801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604504" y="3584448"/>
            <a:ext cx="1444752" cy="256032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677656" y="3630168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6D11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WEIGHT EVIDENCE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04504" y="394106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6D11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TruckScale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604504" y="427939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Gross · Tare · Net · Movebill</a:t>
            </a:r>
            <a:endParaRPr lang="en-US" sz="95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36008" y="2788920"/>
            <a:ext cx="0" cy="557784"/>
          </a:xfrm>
          <a:prstGeom prst="line">
            <a:avLst/>
          </a:prstGeom>
          <a:noFill/>
          <a:ln w="22860">
            <a:solidFill>
              <a:srgbClr val="0C447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921240" y="2788920"/>
            <a:ext cx="0" cy="557784"/>
          </a:xfrm>
          <a:prstGeom prst="line">
            <a:avLst/>
          </a:prstGeom>
          <a:noFill/>
          <a:ln w="22860">
            <a:solidFill>
              <a:srgbClr val="3B6D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85216" y="5065776"/>
            <a:ext cx="11018520" cy="566928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E6F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49808" y="5230368"/>
            <a:ext cx="219456" cy="219456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49808" y="524865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90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60704" y="5212080"/>
            <a:ext cx="10415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0C447C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Integration rule: App อ่าน master/ผลลัพธ์จาก WINSpeed และ TruckScale; งานบัญชีให้ WINSpeed post ตามกระบวนการควบคุมขององค์กร</a:t>
            </a:r>
            <a:endParaRPr lang="en-US" sz="97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75488" y="6181344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Architecture concept: non-invasive operational layer with controlled system-of-record boundaries.</a:t>
            </a:r>
            <a:endParaRPr lang="en-US" sz="680" dirty="0">
              <a:latin typeface="Prompt" panose="00000500000000000000" pitchFamily="2" charset="-34"/>
            </a:endParaRPr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4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04 · SOLUTION SCOPE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6 capabilities ที่เปลี่ยน pain point ให้เป็น workflow ที่ควบคุมได้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ออกแบบเพื่อรองรับบทบาท Sales, Counter Sales, Warehouse, Weighbridge และ Accounting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429000" cy="1600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8096" y="1773936"/>
            <a:ext cx="384048" cy="384048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8096" y="18562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85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80160" y="1764792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Sales order</a:t>
            </a:r>
            <a:endParaRPr lang="en-US" sz="115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8096" y="2249424"/>
            <a:ext cx="30266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สร้าง SO แบบ tablet-first </a:t>
            </a:r>
            <a:b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พร้อมราคา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, rebate,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ของแถม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  <a:b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และทะเบียนรถ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70832" y="1572768"/>
            <a:ext cx="3429000" cy="1600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0" y="1773936"/>
            <a:ext cx="384048" cy="38404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0" y="18562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85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84064" y="1764792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Verification gate</a:t>
            </a:r>
            <a:endParaRPr lang="en-US" sz="115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0" y="2249424"/>
            <a:ext cx="30266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บล็อกการส่งโรงงานจนกว่าจะผ่านการตรวจซ้ำ</a:t>
            </a:r>
            <a:b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โดย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Counter Sales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74736" y="1572768"/>
            <a:ext cx="3429000" cy="1600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75904" y="1773936"/>
            <a:ext cx="384048" cy="384048"/>
          </a:xfrm>
          <a:prstGeom prst="ellipse">
            <a:avLst/>
          </a:prstGeom>
          <a:solidFill>
            <a:srgbClr val="00A6B8"/>
          </a:solidFill>
          <a:ln w="12700">
            <a:solidFill>
              <a:srgbClr val="00A6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75904" y="18562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85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87968" y="1764792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Control ticket</a:t>
            </a:r>
            <a:endParaRPr lang="en-US" sz="115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75904" y="2249424"/>
            <a:ext cx="30266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ดูยอดคงเหลือตั๋วคุม</a:t>
            </a:r>
            <a:r>
              <a:rPr lang="th-TH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</a:t>
            </a:r>
            <a:br>
              <a:rPr lang="th-TH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ประวัติการตัดแบบเจาะจงรายชุด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6928" y="3520440"/>
            <a:ext cx="3429000" cy="1600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68096" y="3721608"/>
            <a:ext cx="384048" cy="38404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8096" y="38039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85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80160" y="37124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Rebate FIFO</a:t>
            </a:r>
            <a:endParaRPr lang="en-US" sz="115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68096" y="4197096"/>
            <a:ext cx="30266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ตั้ง accrual ต่อ line, ตัด FIFO </a:t>
            </a:r>
            <a:b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และสร้าง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claim ที่ตรวจย้อนกลับได้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70832" y="3520440"/>
            <a:ext cx="3429000" cy="1600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0" y="3721608"/>
            <a:ext cx="384048" cy="384048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0" y="38039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5</a:t>
            </a:r>
            <a:endParaRPr lang="en-US" sz="85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84064" y="37124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Paper trail</a:t>
            </a:r>
            <a:endParaRPr lang="en-US" sz="1150" dirty="0">
              <a:latin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0" y="4197096"/>
            <a:ext cx="30266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พิมพ์เอกสาร 4 สี พร้อม QR </a:t>
            </a:r>
            <a:b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และสถานะการส่งต่อ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/ค้าง/หาย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174736" y="3520440"/>
            <a:ext cx="3429000" cy="1600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375904" y="3721608"/>
            <a:ext cx="384048" cy="38404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375904" y="38039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6</a:t>
            </a:r>
            <a:endParaRPr lang="en-US" sz="850" dirty="0">
              <a:latin typeface="Prompt" panose="00000500000000000000" pitchFamily="2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887968" y="37124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Weigh evidence</a:t>
            </a:r>
            <a:endParaRPr lang="en-US" sz="1150" dirty="0">
              <a:latin typeface="Prompt" panose="00000500000000000000" pitchFamily="2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375904" y="4197096"/>
            <a:ext cx="30266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เชื่อมข้อมูลชั่งออก,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movebill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</a:t>
            </a:r>
            <a:endParaRPr lang="th-TH" sz="1200" dirty="0">
              <a:solidFill>
                <a:srgbClr val="334155"/>
              </a:solidFill>
              <a:latin typeface="Prompt" panose="00000500000000000000" pitchFamily="2" charset="-34"/>
              <a:ea typeface="Noto Sans Thai" pitchFamily="34" charset="-122"/>
              <a:cs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น้ำหนักสุทธิ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เพื่อยืนยันการส่งสินค้า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66928" y="5660136"/>
            <a:ext cx="11018520" cy="566928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31520" y="5824728"/>
            <a:ext cx="219456" cy="219456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1520" y="584301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900" dirty="0">
              <a:latin typeface="Prompt" panose="00000500000000000000" pitchFamily="2" charset="-3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42416" y="5806440"/>
            <a:ext cx="10415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0C447C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ขอบเขตนี้สามารถจัดเป็น Pilot หรือ Production Core ได้ตามลำดับความสำคัญของลูกค้า</a:t>
            </a:r>
            <a:endParaRPr lang="en-US" sz="970" dirty="0">
              <a:latin typeface="Prompt" panose="00000500000000000000" pitchFamily="2" charset="-34"/>
            </a:endParaRPr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5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05 · SALES EXPERIENCE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ออกแบบให้ Sales เห็นราคา, Rebate และงบของแถมในจุดที่ตัดสินใจ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ลดการพึ่งพาหมายเหตุหรือการถามข้อมูลซ้ำจากหน้างาน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4632" y="1435608"/>
            <a:ext cx="6995160" cy="39776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pic>
        <p:nvPicPr>
          <p:cNvPr id="6" name="Image 0" descr="/mnt/data/WorldFert_WSSaleApp_v7_Winable_Package/05-UI-SCREENSHOTS/02-sales-p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81328"/>
            <a:ext cx="690372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" y="4983480"/>
            <a:ext cx="690372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5"/>
          <p:cNvSpPr/>
          <p:nvPr/>
        </p:nvSpPr>
        <p:spPr>
          <a:xfrm>
            <a:off x="658368" y="5074920"/>
            <a:ext cx="6647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ตัวอย่างหน้าสร้างใบสั่งขายแบบ POS / tablet-first</a:t>
            </a:r>
            <a:endParaRPr lang="en-US" sz="820" dirty="0">
              <a:latin typeface="Prompt" panose="00000500000000000000" pitchFamily="2" charset="-3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790688" y="1508760"/>
            <a:ext cx="3639312" cy="10241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790688" y="1508760"/>
            <a:ext cx="64008" cy="102412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019288" y="170992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1. เห็น Rebate ทันที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019288" y="2039112"/>
            <a:ext cx="3246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แสดง sell price, NET price และ Rebate/</a:t>
            </a:r>
            <a:r>
              <a:rPr lang="en-US" sz="103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ตัน</a:t>
            </a:r>
            <a: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  <a:b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ณ ตอนคีย์ order</a:t>
            </a:r>
            <a:endParaRPr lang="en-US" sz="1030" dirty="0">
              <a:latin typeface="Prompt" panose="00000500000000000000" pitchFamily="2" charset="-3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790688" y="2724912"/>
            <a:ext cx="3639312" cy="10241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790688" y="2724912"/>
            <a:ext cx="64008" cy="102412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019288" y="292608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2. คุมของแถมในใบเดียว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019288" y="3255264"/>
            <a:ext cx="3246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เลือกของแถมโดยเห็นงบ/</a:t>
            </a:r>
            <a:r>
              <a:rPr lang="en-US" sz="103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สต็อกคงเหลือ</a:t>
            </a:r>
            <a: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  <a:b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03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ไม่ต้องพิมพ์ในหมายเหตุ</a:t>
            </a:r>
            <a:endParaRPr lang="en-US" sz="1030" dirty="0">
              <a:latin typeface="Prompt" panose="00000500000000000000" pitchFamily="2" charset="-3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790688" y="3941064"/>
            <a:ext cx="3639312" cy="10241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790688" y="3941064"/>
            <a:ext cx="64008" cy="1024128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019288" y="4142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3. โครงสร้างข้อมูลพร้อมส่งต่อ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019288" y="4471416"/>
            <a:ext cx="3246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ลูกค้า, ทะเบียนรถ, รายการสินค้า และ control ticket </a:t>
            </a:r>
            <a:b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03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ถูกบันทึกเป็น</a:t>
            </a:r>
            <a: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field</a:t>
            </a:r>
            <a:endParaRPr lang="en-US" sz="1030" dirty="0">
              <a:latin typeface="Prompt" panose="00000500000000000000" pitchFamily="2" charset="-34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30352" y="5650992"/>
            <a:ext cx="10899648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94944" y="5815584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94944" y="5833872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900" dirty="0">
              <a:latin typeface="Prompt" panose="00000500000000000000" pitchFamily="2" charset="-3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05840" y="5797296"/>
            <a:ext cx="10296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0C447C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ข้อเสนอปรับปรุง UI: ให้แสดง “คำเตือนสูตรที่ไม่เคยซื้อ / ข้อมูลผิดปกติ” แบบ contextual ก่อนบันทึก</a:t>
            </a:r>
            <a:endParaRPr lang="en-US" sz="97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6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06 · REBATE MANAGEMENT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เปลี่ยน Rebate จาก “ยอดก้อนใหญ่” ให้เป็น ledger ที่พิสูจน์ที่มาได้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ทุกบาทผูกกลับไปยัง Sales Order line, Plan, Sales และ Claim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1874520" cy="13533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25880" y="1819656"/>
            <a:ext cx="365760" cy="365760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25880" y="1911096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3232" y="2286000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Plan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2542032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กำหนดสูตร / </a:t>
            </a:r>
            <a:br>
              <a:rPr lang="th-TH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200" dirty="0" err="1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ภาค</a:t>
            </a: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/ ช่วงเวลา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78024" y="2322576"/>
            <a:ext cx="301752" cy="0"/>
          </a:xfrm>
          <a:prstGeom prst="line">
            <a:avLst/>
          </a:prstGeom>
          <a:noFill/>
          <a:ln w="15240">
            <a:solidFill>
              <a:srgbClr val="8EA6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25496" y="1645920"/>
            <a:ext cx="1874520" cy="13533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584448" y="1819656"/>
            <a:ext cx="365760" cy="36576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84448" y="1911096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971800" y="2286000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Accrual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971800" y="2542032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ตั้งยอดเมื่อ Confirmed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36592" y="2322576"/>
            <a:ext cx="301752" cy="0"/>
          </a:xfrm>
          <a:prstGeom prst="line">
            <a:avLst/>
          </a:prstGeom>
          <a:noFill/>
          <a:ln w="15240">
            <a:solidFill>
              <a:srgbClr val="8EA6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84064" y="1645920"/>
            <a:ext cx="1874520" cy="13533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843016" y="1819656"/>
            <a:ext cx="365760" cy="365760"/>
          </a:xfrm>
          <a:prstGeom prst="ellipse">
            <a:avLst/>
          </a:prstGeom>
          <a:solidFill>
            <a:srgbClr val="00A6B8"/>
          </a:solidFill>
          <a:ln w="12700">
            <a:solidFill>
              <a:srgbClr val="00A6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843016" y="1911096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30368" y="2286000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Pool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230368" y="2542032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แยกตาม</a:t>
            </a: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  <a:br>
              <a:rPr lang="th-TH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Sales × สูตร × ภาค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995160" y="2322576"/>
            <a:ext cx="301752" cy="0"/>
          </a:xfrm>
          <a:prstGeom prst="line">
            <a:avLst/>
          </a:prstGeom>
          <a:noFill/>
          <a:ln w="15240">
            <a:solidFill>
              <a:srgbClr val="8EA6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342632" y="1645920"/>
            <a:ext cx="1874520" cy="13533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01584" y="1819656"/>
            <a:ext cx="365760" cy="36576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101584" y="1911096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488936" y="2286000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FIFO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88936" y="2542032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ตัดยอดเก่าสุดก่อน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253728" y="2322576"/>
            <a:ext cx="301752" cy="0"/>
          </a:xfrm>
          <a:prstGeom prst="line">
            <a:avLst/>
          </a:prstGeom>
          <a:noFill/>
          <a:ln w="15240">
            <a:solidFill>
              <a:srgbClr val="8EA6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601200" y="1645920"/>
            <a:ext cx="1874520" cy="13533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360152" y="1819656"/>
            <a:ext cx="365760" cy="365760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360152" y="1911096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5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747504" y="2286000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Claim / CN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747504" y="2542032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Accounting </a:t>
            </a:r>
            <a:r>
              <a:rPr lang="en-US" sz="1200" dirty="0" err="1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ตรวจ</a:t>
            </a:r>
            <a:br>
              <a:rPr lang="th-TH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200" dirty="0" err="1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และออก</a:t>
            </a: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CN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21208" y="3410712"/>
            <a:ext cx="5715000" cy="28346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pic>
        <p:nvPicPr>
          <p:cNvPr id="35" name="Image 0" descr="/mnt/data/WorldFert_WSSaleApp_v7_Winable_Package/05-UI-SCREENSHOTS/03-rebate-p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456432"/>
            <a:ext cx="5623560" cy="274320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566928" y="5815584"/>
            <a:ext cx="562356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94944" y="5907024"/>
            <a:ext cx="5367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ตัวอย่างหน้าติดตาม Pool / FIFO Ledger</a:t>
            </a:r>
            <a:endParaRPr lang="en-US" sz="820" dirty="0">
              <a:latin typeface="Prompt" panose="00000500000000000000" pitchFamily="2" charset="-34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565392" y="3456432"/>
            <a:ext cx="4956048" cy="8046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6565392" y="3456432"/>
            <a:ext cx="64008" cy="80467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793992" y="3657600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ตรวจย้อนกลับได้จากต้นทาง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793992" y="3986784"/>
            <a:ext cx="45628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Ledger link กลับ SO line และ Plan; Unlock ใช้ reversal ไม่ลบข้อมูล</a:t>
            </a:r>
            <a:endParaRPr lang="en-US" sz="1030" dirty="0">
              <a:latin typeface="Prompt" panose="00000500000000000000" pitchFamily="2" charset="-34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565392" y="4462272"/>
            <a:ext cx="4956048" cy="8046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565392" y="4462272"/>
            <a:ext cx="64008" cy="8046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793992" y="4663440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แยกประเภท Claim ชัดเจน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6793992" y="4992624"/>
            <a:ext cx="45628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คืนรีเบท (sell − NET) และคืนส่วนต่าง price-list อยู่คนละ block</a:t>
            </a:r>
            <a:endParaRPr lang="en-US" sz="1030" dirty="0">
              <a:latin typeface="Prompt" panose="00000500000000000000" pitchFamily="2" charset="-34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6565392" y="5468112"/>
            <a:ext cx="4956048" cy="5669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6565392" y="5468112"/>
            <a:ext cx="64008" cy="56692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6793992" y="5566991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ส่งต่อ Accounting อย่างเป็นระบบ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6789420" y="5797296"/>
            <a:ext cx="4562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WINSpeed เป็นผู้สร้าง Credit Note / GL ตามหลักควบคุมเดิม</a:t>
            </a:r>
            <a:endParaRPr lang="en-US" sz="900" dirty="0">
              <a:latin typeface="Prompt" panose="00000500000000000000" pitchFamily="2" charset="-34"/>
            </a:endParaRPr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7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07 · DOCUMENT AND CONTROL TICKET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เอกสาร 4 สีและตั๋วคุมเปลี่ยนจาก “กระดาษที่ต้องไล่ถาม” เป็น “หลักฐานที่ติดตามได้”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คุมการรับเฉพาะชุด, ยอดคงเหลือ และสถานะเอกสารในหน้าจอเดียว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1865376" cy="9326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8096" y="1865376"/>
            <a:ext cx="1426464" cy="25603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E6F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41248" y="19110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DRAFT</a:t>
            </a:r>
            <a:endParaRPr lang="en-US" sz="78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94944" y="225856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Sales order </a:t>
            </a:r>
            <a:br>
              <a:rPr lang="th-TH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พร้อมข้อมูลครบ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50592" y="2139696"/>
            <a:ext cx="283464" cy="0"/>
          </a:xfrm>
          <a:prstGeom prst="line">
            <a:avLst/>
          </a:prstGeom>
          <a:noFill/>
          <a:ln w="15240">
            <a:solidFill>
              <a:srgbClr val="8EA6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79776" y="1664208"/>
            <a:ext cx="1865376" cy="9326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99232" y="1865376"/>
            <a:ext cx="1426464" cy="256032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72384" y="19110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VERIFY</a:t>
            </a:r>
            <a:endParaRPr lang="en-US" sz="78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26080" y="225856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Counter Sales </a:t>
            </a:r>
            <a:br>
              <a:rPr lang="th-TH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ตรวจซ้ำ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81728" y="2139696"/>
            <a:ext cx="283464" cy="0"/>
          </a:xfrm>
          <a:prstGeom prst="line">
            <a:avLst/>
          </a:prstGeom>
          <a:noFill/>
          <a:ln w="15240">
            <a:solidFill>
              <a:srgbClr val="8EA6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10912" y="1664208"/>
            <a:ext cx="1865376" cy="9326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230368" y="1865376"/>
            <a:ext cx="1426464" cy="25603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E0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303520" y="19110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0A6B8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PRINT</a:t>
            </a:r>
            <a:endParaRPr lang="en-US" sz="78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57216" y="225856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พิมพ์ 4 สี + QR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912864" y="2139696"/>
            <a:ext cx="283464" cy="0"/>
          </a:xfrm>
          <a:prstGeom prst="line">
            <a:avLst/>
          </a:prstGeom>
          <a:noFill/>
          <a:ln w="15240">
            <a:solidFill>
              <a:srgbClr val="8EA6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242048" y="1664208"/>
            <a:ext cx="1865376" cy="9326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61504" y="1865376"/>
            <a:ext cx="1426464" cy="256032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534656" y="19110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3B6D11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SCAN</a:t>
            </a:r>
            <a:endParaRPr lang="en-US" sz="78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88352" y="225856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ส่งต่อ / เซ็นรับ / จัดเก็บ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44000" y="2139696"/>
            <a:ext cx="283464" cy="0"/>
          </a:xfrm>
          <a:prstGeom prst="line">
            <a:avLst/>
          </a:prstGeom>
          <a:noFill/>
          <a:ln w="15240">
            <a:solidFill>
              <a:srgbClr val="8EA6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473184" y="1664208"/>
            <a:ext cx="1865376" cy="9326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692640" y="1865376"/>
            <a:ext cx="1426464" cy="256032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765792" y="19110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A32D2D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ALERT</a:t>
            </a:r>
            <a:endParaRPr lang="en-US" sz="78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619488" y="225856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แจ้งเอกสารค้าง/หาย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2920" y="2926080"/>
            <a:ext cx="5687568" cy="28620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pic>
        <p:nvPicPr>
          <p:cNvPr id="30" name="Image 0" descr="/mnt/data/WorldFert_WSSaleApp_v7_Winable_Package/05-UI-SCREENSHOTS/04-paper-tr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71800"/>
            <a:ext cx="5596128" cy="2770632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548640" y="5358384"/>
            <a:ext cx="5596128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76656" y="5449824"/>
            <a:ext cx="5340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ตัวอย่าง Kanban สำหรับ Paper Trail</a:t>
            </a:r>
            <a:endParaRPr lang="en-US" sz="820" dirty="0">
              <a:latin typeface="Prompt" panose="00000500000000000000" pitchFamily="2" charset="-34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6492240" y="2971800"/>
            <a:ext cx="5010912" cy="8046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492240" y="2971800"/>
            <a:ext cx="64008" cy="804672"/>
          </a:xfrm>
          <a:prstGeom prst="rect">
            <a:avLst/>
          </a:prstGeom>
          <a:solidFill>
            <a:srgbClr val="00A6B8"/>
          </a:solidFill>
          <a:ln w="12700">
            <a:solidFill>
              <a:srgbClr val="00A6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720840" y="317296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Control ticket balance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720840" y="3502152"/>
            <a:ext cx="4617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ดู Total / Drawn / Remaining และ drill-down ลงถึง order ที่ตัดไปแล้ว</a:t>
            </a:r>
            <a:endParaRPr lang="en-US" sz="1030" dirty="0">
              <a:latin typeface="Prompt" panose="00000500000000000000" pitchFamily="2" charset="-34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492240" y="3986784"/>
            <a:ext cx="5010912" cy="8046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492240" y="3986784"/>
            <a:ext cx="64008" cy="8046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720840" y="4187952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QR unique per copy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720840" y="4517136"/>
            <a:ext cx="4617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เอกสารแต่ละสีมี QR เฉพาะตัว ทำให้รู้ว่า copy ใดอยู่ที่ใคร</a:t>
            </a:r>
            <a:endParaRPr lang="en-US" sz="1030" dirty="0">
              <a:latin typeface="Prompt" panose="00000500000000000000" pitchFamily="2" charset="-34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6492240" y="5001768"/>
            <a:ext cx="5010912" cy="74066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492240" y="5001768"/>
            <a:ext cx="64008" cy="740664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720840" y="5202936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Audit-friendly evidence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720840" y="5477876"/>
            <a:ext cx="4617720" cy="154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ประวัติ scan, actor, timestamp </a:t>
            </a:r>
            <a:r>
              <a:rPr lang="en-US" sz="9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ใช้เป็นหลักฐานสำหรับ</a:t>
            </a:r>
            <a:r>
              <a:rPr lang="en-US" sz="9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QA/ISO ได้</a:t>
            </a:r>
            <a:endParaRPr lang="en-US" sz="900" dirty="0">
              <a:latin typeface="Prompt" panose="00000500000000000000" pitchFamily="2" charset="-34"/>
            </a:endParaRPr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8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08 · TRUCKSCALE EVIDENCE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ยืนยันการส่งสินค้าด้วยน้ำหนักที่อ้างอิงได้ ไม่ใช่การกรอกย้อนหลัง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เชื่อม lookup จาก TruckScale ด้วยทะเบียนรถหรือ movebill และเก็บเป็น WeighTicket ของ App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4965192" cy="426110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59536" y="1792224"/>
            <a:ext cx="1664208" cy="256032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32688" y="1837944"/>
            <a:ext cx="1517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3B6D11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READ-ONLY SOURCE</a:t>
            </a:r>
            <a:endParaRPr lang="en-US" sz="74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9536" y="22128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6D11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TruckScale MySQL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9536" y="27889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ทะเบียนรถ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3472" y="2770632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Courier New" pitchFamily="34" charset="-122"/>
                <a:cs typeface="Prompt" panose="00000500000000000000" pitchFamily="2" charset="-34"/>
              </a:rPr>
              <a:t>one_car_regis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59536" y="3035808"/>
            <a:ext cx="4123944" cy="0"/>
          </a:xfrm>
          <a:prstGeom prst="line">
            <a:avLst/>
          </a:prstGeom>
          <a:noFill/>
          <a:ln w="7620">
            <a:solidFill>
              <a:srgbClr val="E5EA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9536" y="321868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Movebill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33472" y="3200400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Courier New" pitchFamily="34" charset="-122"/>
                <a:cs typeface="Prompt" panose="00000500000000000000" pitchFamily="2" charset="-34"/>
              </a:rPr>
              <a:t>movebill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59536" y="3465576"/>
            <a:ext cx="4123944" cy="0"/>
          </a:xfrm>
          <a:prstGeom prst="line">
            <a:avLst/>
          </a:prstGeom>
          <a:noFill/>
          <a:ln w="7620">
            <a:solidFill>
              <a:srgbClr val="E5EA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9536" y="364845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ชั่งเข้า / ออก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33472" y="3630168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Courier New" pitchFamily="34" charset="-122"/>
                <a:cs typeface="Prompt" panose="00000500000000000000" pitchFamily="2" charset="-34"/>
              </a:rPr>
              <a:t>weight_in / weight_out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59536" y="3895344"/>
            <a:ext cx="4123944" cy="0"/>
          </a:xfrm>
          <a:prstGeom prst="line">
            <a:avLst/>
          </a:prstGeom>
          <a:noFill/>
          <a:ln w="7620">
            <a:solidFill>
              <a:srgbClr val="E5EA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9536" y="407822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น้ำหนักสุทธิ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633472" y="405993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Courier New" pitchFamily="34" charset="-122"/>
                <a:cs typeface="Prompt" panose="00000500000000000000" pitchFamily="2" charset="-34"/>
              </a:rPr>
              <a:t>weight_net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59536" y="4325112"/>
            <a:ext cx="4123944" cy="0"/>
          </a:xfrm>
          <a:prstGeom prst="line">
            <a:avLst/>
          </a:prstGeom>
          <a:noFill/>
          <a:ln w="7620">
            <a:solidFill>
              <a:srgbClr val="E5EA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9536" y="45079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เวลา / เครื่องชั่ง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633472" y="4489704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Courier New" pitchFamily="34" charset="-122"/>
                <a:cs typeface="Prompt" panose="00000500000000000000" pitchFamily="2" charset="-34"/>
              </a:rPr>
              <a:t>Date/Time + Computer_w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59536" y="4754880"/>
            <a:ext cx="4123944" cy="0"/>
          </a:xfrm>
          <a:prstGeom prst="line">
            <a:avLst/>
          </a:prstGeom>
          <a:noFill/>
          <a:ln w="7620">
            <a:solidFill>
              <a:srgbClr val="E5EA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650992" y="3602736"/>
            <a:ext cx="978408" cy="0"/>
          </a:xfrm>
          <a:prstGeom prst="line">
            <a:avLst/>
          </a:prstGeom>
          <a:noFill/>
          <a:ln w="25400">
            <a:solidFill>
              <a:srgbClr val="3B6D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32704" y="3822192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match by</a:t>
            </a:r>
            <a:endParaRPr lang="en-US" sz="1000" dirty="0">
              <a:latin typeface="Prompt" panose="00000500000000000000" pitchFamily="2" charset="-34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plate / movebill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21424" y="1572768"/>
            <a:ext cx="4681728" cy="426110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114032" y="1792224"/>
            <a:ext cx="1225296" cy="25603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E6F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87184" y="1837944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APP EVIDENCE</a:t>
            </a:r>
            <a:endParaRPr lang="en-US" sz="740" dirty="0">
              <a:latin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114032" y="2212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wf.WeighTicket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141464" y="2816352"/>
            <a:ext cx="201168" cy="201168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141464" y="286207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52360" y="280720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SO reference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141464" y="3255264"/>
            <a:ext cx="201168" cy="201168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141464" y="3300984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452360" y="324612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gross / tare / net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141464" y="3694176"/>
            <a:ext cx="201168" cy="201168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141464" y="3739896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452360" y="3685032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weigh-in / weigh-out timestamps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141464" y="4133088"/>
            <a:ext cx="201168" cy="201168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141464" y="4178808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452360" y="4123944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scale number + movebill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141464" y="4572000"/>
            <a:ext cx="201168" cy="201168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141464" y="461772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452360" y="4562856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actor + audit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66928" y="5925312"/>
            <a:ext cx="10936224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1520" y="6089904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1520" y="6108192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900" dirty="0">
              <a:latin typeface="Prompt" panose="00000500000000000000" pitchFamily="2" charset="-3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42416" y="607161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0C447C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Fallback ที่ต้องคงไว้: หาก TruckScale ไม่พร้อม ให้กรอกน้ำหนักด้วยมือ พร้อมบันทึกผู้ยืนยันและเหตุผล</a:t>
            </a:r>
            <a:endParaRPr lang="en-US" sz="970" dirty="0">
              <a:latin typeface="Prompt" panose="00000500000000000000" pitchFamily="2" charset="-34"/>
            </a:endParaRPr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9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09 · CONTROLS AND GOVERNANCE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ออกแบบให้ “ผู้มีสิทธิ์” ตัดสินใจใน “จุดที่ต้องควบคุม”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ลดการแก้ไขข้ามบทบาท และสร้างหลักฐานตัดสินใจที่ตรวจสอบได้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591056"/>
            <a:ext cx="3401568" cy="11887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8096" y="1810512"/>
            <a:ext cx="384048" cy="384048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8096" y="19110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16736" y="180136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Sales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16736" y="21214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สร้าง / แก้ DRAFT</a:t>
            </a:r>
            <a:endParaRPr lang="en-US" sz="1200" dirty="0">
              <a:latin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ดู Pool / Claim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34256" y="1591056"/>
            <a:ext cx="3401568" cy="11887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35424" y="1810512"/>
            <a:ext cx="384048" cy="38404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35424" y="19110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84064" y="180136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Counter Sales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84064" y="21214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Verify order</a:t>
            </a:r>
            <a:endParaRPr lang="en-US" sz="1200" dirty="0">
              <a:latin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พิมพ์ 4 สี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01584" y="1591056"/>
            <a:ext cx="3401568" cy="11887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02752" y="1810512"/>
            <a:ext cx="384048" cy="384048"/>
          </a:xfrm>
          <a:prstGeom prst="ellipse">
            <a:avLst/>
          </a:prstGeom>
          <a:solidFill>
            <a:srgbClr val="00A6B8"/>
          </a:solidFill>
          <a:ln w="12700">
            <a:solidFill>
              <a:srgbClr val="00A6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02752" y="19110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51392" y="180136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Warehouse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51392" y="21214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Picking / load sequence</a:t>
            </a:r>
            <a:endParaRPr lang="en-US" sz="1200" dirty="0">
              <a:latin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ขอ unlock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6928" y="3090672"/>
            <a:ext cx="3401568" cy="11887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68096" y="3310128"/>
            <a:ext cx="384048" cy="38404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8096" y="34107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16736" y="330098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Weighbridge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16736" y="362102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ยืนยันน้ำหนัก</a:t>
            </a:r>
            <a:endParaRPr lang="en-US" sz="1200" dirty="0">
              <a:latin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Ship evidence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34256" y="3090672"/>
            <a:ext cx="3401568" cy="11887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35424" y="3310128"/>
            <a:ext cx="384048" cy="384048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35424" y="34107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5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84064" y="330098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Accounting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84064" y="362102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Approve Claim</a:t>
            </a:r>
            <a:endParaRPr lang="en-US" sz="1200" dirty="0">
              <a:latin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ตรวจ CN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101584" y="3090672"/>
            <a:ext cx="3401568" cy="11887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302752" y="3310128"/>
            <a:ext cx="384048" cy="38404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302752" y="34107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6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851392" y="330098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Approver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851392" y="362102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Override / Unlock</a:t>
            </a:r>
            <a:endParaRPr lang="en-US" sz="1200" dirty="0">
              <a:latin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ตาม policy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66928" y="4736592"/>
            <a:ext cx="10972800" cy="960120"/>
          </a:xfrm>
          <a:prstGeom prst="roundRect">
            <a:avLst/>
          </a:prstGeom>
          <a:solidFill>
            <a:srgbClr val="0C447C"/>
          </a:solidFill>
          <a:ln w="762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77824" y="5147451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DRAFT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965960" y="5220603"/>
            <a:ext cx="886968" cy="0"/>
          </a:xfrm>
          <a:prstGeom prst="line">
            <a:avLst/>
          </a:prstGeom>
          <a:noFill/>
          <a:ln w="15240">
            <a:solidFill>
              <a:srgbClr val="AFC8D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980944" y="5147451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E9B4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VERIFIED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407408" y="5220603"/>
            <a:ext cx="886968" cy="0"/>
          </a:xfrm>
          <a:prstGeom prst="line">
            <a:avLst/>
          </a:prstGeom>
          <a:noFill/>
          <a:ln w="15240">
            <a:solidFill>
              <a:srgbClr val="AFC8D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431536" y="5147451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CONFIRMED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013448" y="5220603"/>
            <a:ext cx="886968" cy="0"/>
          </a:xfrm>
          <a:prstGeom prst="line">
            <a:avLst/>
          </a:prstGeom>
          <a:noFill/>
          <a:ln w="15240">
            <a:solidFill>
              <a:srgbClr val="AFC8D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028432" y="5147451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E9B4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PICKING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400032" y="5220603"/>
            <a:ext cx="886968" cy="0"/>
          </a:xfrm>
          <a:prstGeom prst="line">
            <a:avLst/>
          </a:prstGeom>
          <a:noFill/>
          <a:ln w="15240">
            <a:solidFill>
              <a:srgbClr val="AFC8D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0405872" y="5147451"/>
            <a:ext cx="97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F5CD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SHIPPED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75488" y="6181344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Every transition is auditable; exceptions use an approval / unlock route instead of deleting history.</a:t>
            </a:r>
            <a:endParaRPr lang="en-US" sz="680" dirty="0">
              <a:latin typeface="Prompt" panose="00000500000000000000" pitchFamily="2" charset="-34"/>
            </a:endParaRPr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10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10 · INTEGRATION POSTURE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เชื่อมต่อแบบ “ชัดเจนเรื่องเจ้าของข้อมูล” ลดความเสี่ยงต่อ Legacy ERP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Architecture ที่ขายได้ ต้องตอบได้ว่าอะไรอ่านได้ อะไรเขียนได้ และใครเป็นเจ้าของผลทางบัญชี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09344"/>
            <a:ext cx="2468880" cy="420624"/>
          </a:xfrm>
          <a:prstGeom prst="rect">
            <a:avLst/>
          </a:prstGeom>
          <a:solidFill>
            <a:srgbClr val="0C447C"/>
          </a:solidFill>
          <a:ln w="762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746504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Domain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154680" y="1609344"/>
            <a:ext cx="2788920" cy="420624"/>
          </a:xfrm>
          <a:prstGeom prst="rect">
            <a:avLst/>
          </a:prstGeom>
          <a:solidFill>
            <a:srgbClr val="0C447C"/>
          </a:solidFill>
          <a:ln w="762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46120" y="1746504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Source of truth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80760" y="1609344"/>
            <a:ext cx="2487168" cy="420624"/>
          </a:xfrm>
          <a:prstGeom prst="rect">
            <a:avLst/>
          </a:prstGeom>
          <a:solidFill>
            <a:srgbClr val="0C447C"/>
          </a:solidFill>
          <a:ln w="762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72200" y="1746504"/>
            <a:ext cx="2304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App responsibility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86800" y="1609344"/>
            <a:ext cx="2852928" cy="420624"/>
          </a:xfrm>
          <a:prstGeom prst="rect">
            <a:avLst/>
          </a:prstGeom>
          <a:solidFill>
            <a:srgbClr val="0C447C"/>
          </a:solidFill>
          <a:ln w="762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78240" y="1746504"/>
            <a:ext cx="2670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Control rule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6928" y="2029968"/>
            <a:ext cx="24688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7512" y="218541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Customer / Product / Price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154680" y="2029968"/>
            <a:ext cx="278892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55264" y="21854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WINSpeed dbo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80760" y="2029968"/>
            <a:ext cx="2487168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81344" y="21854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Read through controlled views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86800" y="2029968"/>
            <a:ext cx="2852928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787384" y="21854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Master remains in WINSpeed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66928" y="2761488"/>
            <a:ext cx="2468880" cy="731520"/>
          </a:xfrm>
          <a:prstGeom prst="rect">
            <a:avLst/>
          </a:prstGeom>
          <a:solidFill>
            <a:srgbClr val="FBFCFE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7512" y="29169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Sales workflow / audit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154680" y="2761488"/>
            <a:ext cx="2788920" cy="731520"/>
          </a:xfrm>
          <a:prstGeom prst="rect">
            <a:avLst/>
          </a:prstGeom>
          <a:solidFill>
            <a:srgbClr val="FBFCFE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55264" y="291693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wf schema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80760" y="2761488"/>
            <a:ext cx="2487168" cy="731520"/>
          </a:xfrm>
          <a:prstGeom prst="rect">
            <a:avLst/>
          </a:prstGeom>
          <a:solidFill>
            <a:srgbClr val="FBFCFE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81344" y="29169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Create + state + audit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686800" y="2761488"/>
            <a:ext cx="2852928" cy="731520"/>
          </a:xfrm>
          <a:prstGeom prst="rect">
            <a:avLst/>
          </a:prstGeom>
          <a:solidFill>
            <a:srgbClr val="FBFCFE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787384" y="29169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Immutable audit / approval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66928" y="3493008"/>
            <a:ext cx="24688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7512" y="364845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Weight evidence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154680" y="3493008"/>
            <a:ext cx="278892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255264" y="364845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TruckScale MySQL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080760" y="3493008"/>
            <a:ext cx="2487168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81344" y="36484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Lookup + snapshot to WeighTicket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686800" y="3493008"/>
            <a:ext cx="2852928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787384" y="36484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Read-only source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66928" y="4224528"/>
            <a:ext cx="2468880" cy="731520"/>
          </a:xfrm>
          <a:prstGeom prst="rect">
            <a:avLst/>
          </a:prstGeom>
          <a:solidFill>
            <a:srgbClr val="FBFCFE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67512" y="437997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Invoice / CN / GL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154680" y="4224528"/>
            <a:ext cx="2788920" cy="731520"/>
          </a:xfrm>
          <a:prstGeom prst="rect">
            <a:avLst/>
          </a:prstGeom>
          <a:solidFill>
            <a:srgbClr val="FBFCFE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255264" y="437997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WINSpeed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080760" y="4224528"/>
            <a:ext cx="2487168" cy="731520"/>
          </a:xfrm>
          <a:prstGeom prst="rect">
            <a:avLst/>
          </a:prstGeom>
          <a:solidFill>
            <a:srgbClr val="FBFCFE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181344" y="43799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Export/import + status sync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686800" y="4224528"/>
            <a:ext cx="2852928" cy="731520"/>
          </a:xfrm>
          <a:prstGeom prst="rect">
            <a:avLst/>
          </a:prstGeom>
          <a:solidFill>
            <a:srgbClr val="FBFCFE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787384" y="43799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WINSpeed posts accounting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66928" y="5431536"/>
            <a:ext cx="10972800" cy="566928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1520" y="5596128"/>
            <a:ext cx="219456" cy="219456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1520" y="561441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900" dirty="0">
              <a:latin typeface="Prompt" panose="00000500000000000000" pitchFamily="2" charset="-3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42416" y="5577840"/>
            <a:ext cx="10369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0C447C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Key commercial assurance: ระบบใหม่ไม่สร้าง GL เอง และไม่ควร bypass ขั้นตอนการ post ที่องค์กรควบคุมอยู่ใน WINSpeed</a:t>
            </a:r>
            <a:endParaRPr lang="en-US" sz="970" dirty="0">
              <a:latin typeface="Prompt" panose="00000500000000000000" pitchFamily="2" charset="-34"/>
            </a:endParaRPr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11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11 · EXPECTED BUSINESS OUTCOMES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ผลลัพธ์ที่ควรวัดใน Pilot ก่อนให้คำมั่นเชิงพาณิชย์เต็มรูปแบบ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เป้าหมายไม่ใช่เพียง “ทำหน้าจอใหม่” แต่ทำให้ cycle time, traceability และ quality ดีขึ้น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2523744" cy="279806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444752" y="1901952"/>
            <a:ext cx="768096" cy="768096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44752" y="2203704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096" y="2907792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เร็วขึ้น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8096" y="334670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ลดการคีย์ซ้ำ</a:t>
            </a:r>
            <a:endParaRPr lang="en-US" sz="1200" dirty="0">
              <a:solidFill>
                <a:srgbClr val="334155"/>
              </a:solidFill>
              <a:latin typeface="Prompt" panose="00000500000000000000" pitchFamily="2" charset="-34"/>
              <a:ea typeface="Noto Sans Thai" pitchFamily="34" charset="-122"/>
              <a:cs typeface="Prompt" panose="00000500000000000000" pitchFamily="2" charset="-34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และการสอบถามข้ามฝ่าย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8096" y="4050792"/>
            <a:ext cx="2121408" cy="18288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E6F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41248" y="4087368"/>
            <a:ext cx="19751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วัด: เวลาสร้าง/ตรวจ SO ต่อใบ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64992" y="1664208"/>
            <a:ext cx="2523744" cy="279806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42816" y="1901952"/>
            <a:ext cx="768096" cy="768096"/>
          </a:xfrm>
          <a:prstGeom prst="ellipse">
            <a:avLst/>
          </a:prstGeom>
          <a:solidFill>
            <a:srgbClr val="00A6B8"/>
          </a:solidFill>
          <a:ln w="12700">
            <a:solidFill>
              <a:srgbClr val="00A6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42816" y="2203704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66160" y="2907792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ชัดขึ้น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66160" y="334670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ยอด rebate,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ตั๋วคุม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  <a:b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และสถานะรถอยู่ใน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view เดียว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566160" y="4050792"/>
            <a:ext cx="2121408" cy="18288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E0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39312" y="4087368"/>
            <a:ext cx="19751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วัด: เวลาตอบคำถามหน้างาน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1664208"/>
            <a:ext cx="2523744" cy="279806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040880" y="1901952"/>
            <a:ext cx="768096" cy="768096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040880" y="2203704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64224" y="2907792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ตรวจสอบได้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64224" y="334670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ทุก transition, claim </a:t>
            </a:r>
            <a:b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document handoff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มี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audit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64224" y="4050792"/>
            <a:ext cx="2121408" cy="182880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37376" y="4087368"/>
            <a:ext cx="19751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วัด: อัตราเอกสารตามรอยได้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961120" y="1664208"/>
            <a:ext cx="2523744" cy="279806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838944" y="1901952"/>
            <a:ext cx="768096" cy="76809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838944" y="2203704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162288" y="2907792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เสี่ยงน้อยลง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162288" y="334670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ใช้ approval / unlock /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fallback </a:t>
            </a:r>
            <a:b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แทนการแก้ไขแบบไร้หลักฐาน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162288" y="4050792"/>
            <a:ext cx="2121408" cy="18288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235440" y="4087368"/>
            <a:ext cx="19751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วัด: จำนวนข้อผิดพลาดหลัง confirm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66928" y="5093208"/>
            <a:ext cx="10972800" cy="566928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E6F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31520" y="5257800"/>
            <a:ext cx="219456" cy="219456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31520" y="527608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90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42416" y="5239512"/>
            <a:ext cx="10369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0C447C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ข้อเสนอ: ตั้ง Baseline 2 สัปดาห์ก่อน Pilot และวัดผลเทียบหลังใช้งาน 4-6 สัปดาห์</a:t>
            </a:r>
            <a:endParaRPr lang="en-US" sz="970" dirty="0">
              <a:latin typeface="Prompt" panose="00000500000000000000" pitchFamily="2" charset="-34"/>
            </a:endParaRPr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12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12 · DELIVERY PLAN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นำระบบขึ้นใช้งานแบบมีจุดตัดสินใจ ไม่ใช่ “ติดตั้งแล้วหวังว่าจะใช้ได้”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เริ่มเล็กเพื่อพิสูจน์ workflow แล้วขยายด้วยหลักฐานจาก UAT และ reconciliation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350008" cy="12252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58952" y="2084832"/>
            <a:ext cx="310896" cy="310896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8952" y="216712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01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8952" y="243230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Align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798064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Scope / owner / data access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8992" y="3328416"/>
            <a:ext cx="1325880" cy="25603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E6F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52144" y="3374136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 สัปดาห์</a:t>
            </a:r>
            <a:endParaRPr lang="en-US" sz="720" dirty="0">
              <a:latin typeface="Prompt" panose="00000500000000000000" pitchFamily="2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44368" y="2523744"/>
            <a:ext cx="283464" cy="0"/>
          </a:xfrm>
          <a:prstGeom prst="line">
            <a:avLst/>
          </a:prstGeom>
          <a:noFill/>
          <a:ln w="15240">
            <a:solidFill>
              <a:srgbClr val="8EA6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310128" y="1920240"/>
            <a:ext cx="2350008" cy="12252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502152" y="2084832"/>
            <a:ext cx="310896" cy="310896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02152" y="216712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02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02152" y="243230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Configure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74720" y="2798064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Master mapping / rule / roles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822192" y="3328416"/>
            <a:ext cx="1325880" cy="25603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E6F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95344" y="3374136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767A6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1-2 สัปดาห์</a:t>
            </a:r>
            <a:endParaRPr lang="en-US" sz="72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87568" y="2523744"/>
            <a:ext cx="283464" cy="0"/>
          </a:xfrm>
          <a:prstGeom prst="line">
            <a:avLst/>
          </a:prstGeom>
          <a:noFill/>
          <a:ln w="15240">
            <a:solidFill>
              <a:srgbClr val="8EA6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53328" y="1920240"/>
            <a:ext cx="2350008" cy="12252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45352" y="2084832"/>
            <a:ext cx="310896" cy="31089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45352" y="216712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03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45352" y="243230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Pilot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17920" y="2798064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Training / UAT / dual-run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65392" y="3328416"/>
            <a:ext cx="1325880" cy="256032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38544" y="3374136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2-4 สัปดาห์</a:t>
            </a:r>
            <a:endParaRPr lang="en-US" sz="720" dirty="0">
              <a:latin typeface="Prompt" panose="00000500000000000000" pitchFamily="2" charset="-3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430768" y="2523744"/>
            <a:ext cx="283464" cy="0"/>
          </a:xfrm>
          <a:prstGeom prst="line">
            <a:avLst/>
          </a:prstGeom>
          <a:noFill/>
          <a:ln w="15240">
            <a:solidFill>
              <a:srgbClr val="8EA6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796528" y="1920240"/>
            <a:ext cx="2350008" cy="12252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988552" y="2084832"/>
            <a:ext cx="310896" cy="310896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988552" y="216712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04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988552" y="243230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Go-live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961120" y="2798064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Readiness gate / hypercare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308592" y="3328416"/>
            <a:ext cx="1325880" cy="256032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381744" y="3374136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B6D11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1-2 สัปดาห์</a:t>
            </a:r>
            <a:endParaRPr lang="en-US" sz="72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66928" y="424281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6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KEY DELIVERABLES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66928" y="4517136"/>
            <a:ext cx="3456432" cy="96926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66928" y="4517136"/>
            <a:ext cx="64008" cy="969264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95528" y="471830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Pilot scope pack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95528" y="5047488"/>
            <a:ext cx="3063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Target users, roles, workflow, success measures</a:t>
            </a:r>
            <a:endParaRPr lang="en-US" sz="1030" dirty="0">
              <a:latin typeface="Prompt" panose="00000500000000000000" pitchFamily="2" charset="-3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361688" y="4517136"/>
            <a:ext cx="3456432" cy="96926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361688" y="4517136"/>
            <a:ext cx="64008" cy="9692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90288" y="471830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UAT &amp; reconciliation pack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590288" y="5047488"/>
            <a:ext cx="3063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Test cases, evidence, App ↔ WINSpeed checks</a:t>
            </a:r>
            <a:endParaRPr lang="en-US" sz="1030" dirty="0">
              <a:latin typeface="Prompt" panose="00000500000000000000" pitchFamily="2" charset="-3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156448" y="4517136"/>
            <a:ext cx="3456432" cy="96926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156448" y="4517136"/>
            <a:ext cx="64008" cy="969264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385048" y="471830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Production release pack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385048" y="5047488"/>
            <a:ext cx="3063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Runbook, backup, monitoring, user adoption</a:t>
            </a:r>
            <a:endParaRPr lang="en-US" sz="1030" dirty="0">
              <a:latin typeface="Prompt" panose="00000500000000000000" pitchFamily="2" charset="-34"/>
            </a:endParaRPr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13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13 · PRODUCTION GATE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เอกสารและฟีเจอร์พร้อม ไม่ได้แปลว่า Full Production พร้อมทันที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ก่อน Go-Live ต้องปิด P0 ที่กระทบความปลอดภัยและความถูกต้องของบัญชี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591056"/>
            <a:ext cx="10972800" cy="7132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86384" y="1819656"/>
            <a:ext cx="749808" cy="256032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9536" y="1865376"/>
            <a:ext cx="603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2D2D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P0.1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83080" y="182880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Secrets &amp; DB access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69080" y="1810512"/>
            <a:ext cx="7059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Rotate credentials, JWT และใช้ least-privilege user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6928" y="2551176"/>
            <a:ext cx="10972800" cy="7132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86384" y="2779776"/>
            <a:ext cx="749808" cy="256032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9536" y="2825496"/>
            <a:ext cx="603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2D2D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P0.2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83080" y="2788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Accounting boundary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69080" y="2770632"/>
            <a:ext cx="7059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Dual-run: App → WINSpeed invoice/GL ถูกต้อง 100%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6928" y="3511296"/>
            <a:ext cx="10972800" cy="7132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86384" y="3739896"/>
            <a:ext cx="749808" cy="256032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9536" y="3785616"/>
            <a:ext cx="603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P0.3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83080" y="37490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Reconciliation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69080" y="3730752"/>
            <a:ext cx="7059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ตรวจเลขเอกสาร, ยอด, VAT policy และ CN trail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6928" y="4471416"/>
            <a:ext cx="10972800" cy="7132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86384" y="4700016"/>
            <a:ext cx="749808" cy="25603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E6F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9536" y="4745736"/>
            <a:ext cx="603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67A6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P1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783080" y="47091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Operations hardening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069080" y="4690872"/>
            <a:ext cx="7059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Backup/restore drill, monitoring, alert, health check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66928" y="5577840"/>
            <a:ext cx="1097280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31520" y="574243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1520" y="576072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9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42416" y="5724144"/>
            <a:ext cx="10369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0C447C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Recommendation: เริ่ม Soft Launch / Pilot ได้เมื่อ workflow หลักพร้อม แต่ไม่ควรประกาศ Full Production จนกว่าจะปิด P0 ครบ</a:t>
            </a:r>
            <a:endParaRPr lang="en-US" sz="970" dirty="0">
              <a:latin typeface="Prompt" panose="00000500000000000000" pitchFamily="2" charset="-34"/>
            </a:endParaRPr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14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14 · COMMERCIAL FRAMING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จัดขายเป็น package ที่ลูกค้าเข้าใจง่าย และตั้งความคาดหวังได้ตรงกัน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แยก “Core workflow” ออกจาก “Enterprise hardening” เพื่อบริหารงบและความเสี่ยง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3401568" cy="36393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3401568" cy="512064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8096" y="1901952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Pilot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86384" y="2514600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พิสูจน์ workflow สำคัญ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86968" y="3026664"/>
            <a:ext cx="2761488" cy="0"/>
          </a:xfrm>
          <a:prstGeom prst="line">
            <a:avLst/>
          </a:prstGeom>
          <a:noFill/>
          <a:ln w="10160">
            <a:solidFill>
              <a:srgbClr val="E6EA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41248" y="33375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SO + Verification + Rebate view + TruckScale lookup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41248" y="4224528"/>
            <a:ext cx="2852928" cy="64008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E6F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32688" y="4416552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จำกัด user / ยืนยัน success criteria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34256" y="1719072"/>
            <a:ext cx="3401568" cy="36393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34256" y="1719072"/>
            <a:ext cx="3401568" cy="5120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35424" y="1901952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Production Core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53712" y="2514600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นำกระบวนการหลักขึ้นใช้จริง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54296" y="3026664"/>
            <a:ext cx="2761488" cy="0"/>
          </a:xfrm>
          <a:prstGeom prst="line">
            <a:avLst/>
          </a:prstGeom>
          <a:noFill/>
          <a:ln w="10160">
            <a:solidFill>
              <a:srgbClr val="E6EA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08576" y="33375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Paper trail + Control ticket + FIFO Claim + reports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08576" y="4224528"/>
            <a:ext cx="2852928" cy="64008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00016" y="4416552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UAT + training + reconciliation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101584" y="1719072"/>
            <a:ext cx="3401568" cy="36393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101584" y="1719072"/>
            <a:ext cx="3401568" cy="512064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02752" y="1901952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Enterprise Assurance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21040" y="2514600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พร้อมขยายและดูแลระยะยาว</a:t>
            </a:r>
            <a:endParaRPr lang="en-US" sz="125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421624" y="3026664"/>
            <a:ext cx="2761488" cy="0"/>
          </a:xfrm>
          <a:prstGeom prst="line">
            <a:avLst/>
          </a:prstGeom>
          <a:noFill/>
          <a:ln w="10160">
            <a:solidFill>
              <a:srgbClr val="E6EA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375904" y="33375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Security hardening + DR + monitoring + CI/CD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375904" y="4224528"/>
            <a:ext cx="2852928" cy="640080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67344" y="4416552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SLA / support / governance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66928" y="5678424"/>
            <a:ext cx="10972800" cy="566928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E6F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31520" y="5843016"/>
            <a:ext cx="219456" cy="219456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31520" y="5861304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9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42416" y="5824728"/>
            <a:ext cx="10369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0C447C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Commercial price, timeline และ SLA ควรแนบท้ายด้วย Statement of Work ที่ระบุ assumptions ด้าน data access, roles และ dependency ของ WINSpeed/TruckScale</a:t>
            </a:r>
            <a:endParaRPr lang="en-US" sz="970" dirty="0">
              <a:latin typeface="Prompt" panose="00000500000000000000" pitchFamily="2" charset="-34"/>
            </a:endParaRPr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15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65653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READY TO MOVE FROM</a:t>
            </a:r>
            <a:endParaRPr lang="en-US" sz="2500" dirty="0">
              <a:latin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MANUAL TRACE TO CONTROLLED EXECUTION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2304288"/>
            <a:ext cx="128016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2633472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เริ่มจาก Pilot ที่วัดผลได้ แล้วขยายสู่ Production ด้วย Governance ที่ชัดเจน</a:t>
            </a:r>
            <a:endParaRPr lang="en-US" sz="13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4944" y="3730752"/>
            <a:ext cx="310896" cy="31089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4944" y="38313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3803904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ยืนยัน scope ของ Pilot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94944" y="4315968"/>
            <a:ext cx="310896" cy="310896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94944" y="44165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4389120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เตรียม data access + owner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94944" y="4901184"/>
            <a:ext cx="310896" cy="310896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4944" y="50017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3000" y="4974336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ตั้ง success criteria และ go/no-go gate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99248" y="1005840"/>
            <a:ext cx="3749040" cy="4453128"/>
          </a:xfrm>
          <a:prstGeom prst="roundRect">
            <a:avLst/>
          </a:prstGeom>
          <a:solidFill>
            <a:srgbClr val="153F68"/>
          </a:solidFill>
          <a:ln w="7620">
            <a:solidFill>
              <a:srgbClr val="153F6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028432" y="13898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6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THE PROPOSAL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028432" y="180136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ระบบที่รักษาวินัย</a:t>
            </a:r>
            <a:endParaRPr lang="en-US" sz="2000" dirty="0">
              <a:latin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ของกระบวนการ</a:t>
            </a:r>
            <a:endParaRPr lang="en-US" sz="2000" dirty="0">
              <a:latin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ก่อนจะถึงบัญชี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28432" y="3072384"/>
            <a:ext cx="2999232" cy="0"/>
          </a:xfrm>
          <a:prstGeom prst="line">
            <a:avLst/>
          </a:prstGeom>
          <a:noFill/>
          <a:ln w="10160">
            <a:solidFill>
              <a:srgbClr val="5A8CB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28432" y="3277899"/>
            <a:ext cx="3063240" cy="76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Sales · Counter Sales · </a:t>
            </a:r>
            <a:br>
              <a:rPr lang="en-US" sz="100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00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Warehouse · Weighbridge · </a:t>
            </a:r>
            <a:br>
              <a:rPr lang="en-US" sz="100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00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Accounting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38160" y="4169664"/>
            <a:ext cx="2688336" cy="256032"/>
          </a:xfrm>
          <a:prstGeom prst="round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11312" y="4215384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NEXT: PILOT SCOPE WORKSHOP</a:t>
            </a:r>
            <a:endParaRPr lang="en-US" sz="78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8368" y="612648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AFC8DE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World Fert Co., Ltd. · WS-Sale-App</a:t>
            </a:r>
            <a:endParaRPr lang="en-US" sz="83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869680" y="61264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80" dirty="0">
                <a:solidFill>
                  <a:srgbClr val="AFC8DE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PROPOSAL</a:t>
            </a:r>
            <a:endParaRPr lang="en-US" sz="780" dirty="0">
              <a:latin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2050</Words>
  <Application>Microsoft Office PowerPoint</Application>
  <PresentationFormat>Widescreen</PresentationFormat>
  <Paragraphs>398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Prompt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World Fert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WS-Sale-App v7 | Sales Proposal</dc:title>
  <dc:subject>WS-Sale-App v7 Sales Proposal</dc:subject>
  <dc:creator>World Fert Co., Ltd. / Thirayu Meererksom</dc:creator>
  <cp:lastModifiedBy>Thirayu Meererksom</cp:lastModifiedBy>
  <cp:revision>21</cp:revision>
  <dcterms:created xsi:type="dcterms:W3CDTF">2026-06-28T02:58:37Z</dcterms:created>
  <dcterms:modified xsi:type="dcterms:W3CDTF">2026-07-02T02:27:10Z</dcterms:modified>
</cp:coreProperties>
</file>