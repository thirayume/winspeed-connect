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4677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38912" y="65105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WORLD FERT  |  WS-SALE-APP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55280" y="651052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64748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CONFIDENTIAL · USER TRAINING</a:t>
            </a:r>
            <a:endParaRPr lang="en-US" sz="65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99475" y="648958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Prompt" panose="00000500000000000000" pitchFamily="2" charset="-34"/>
                <a:ea typeface="Prompt" panose="00000500000000000000" pitchFamily="2" charset="-34"/>
                <a:cs typeface="Prompt" panose="00000500000000000000" pitchFamily="2" charset="-34"/>
              </a:defRPr>
            </a:lvl1pPr>
          </a:lstStyle>
          <a:p>
            <a:fld id="{F7021451-1387-4CA6-816F-3879F97B5CB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818120" y="0"/>
            <a:ext cx="4370832" cy="6858000"/>
          </a:xfrm>
          <a:prstGeom prst="rect">
            <a:avLst/>
          </a:prstGeom>
          <a:solidFill>
            <a:srgbClr val="082E55"/>
          </a:solidFill>
          <a:ln w="12700">
            <a:solidFill>
              <a:srgbClr val="082E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21792" y="566928"/>
            <a:ext cx="2697480" cy="265176"/>
          </a:xfrm>
          <a:prstGeom prst="roundRect">
            <a:avLst/>
          </a:prstGeom>
          <a:solidFill>
            <a:srgbClr val="153F68"/>
          </a:solidFill>
          <a:ln w="12700">
            <a:solidFill>
              <a:srgbClr val="153F6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5" name="Text 3"/>
          <p:cNvSpPr/>
          <p:nvPr/>
        </p:nvSpPr>
        <p:spPr>
          <a:xfrm>
            <a:off x="694944" y="621792"/>
            <a:ext cx="25511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USER TRAINING · SALES REP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6537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Representative Training</a:t>
            </a:r>
            <a:endParaRPr lang="en-US" sz="3100" dirty="0">
              <a:latin typeface="Prompt" panose="00000500000000000000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3054096"/>
            <a:ext cx="1508760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6355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CEBFA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วิธีสร้างคำสั่งขาย ตรวจ Rebate ดูสถานะ และติดตามงานหลังส่งโรงงาน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58368" y="583387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C7D9EB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Training · Sales Representative</a:t>
            </a:r>
            <a:endParaRPr lang="en-US" sz="105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973568" y="1280160"/>
            <a:ext cx="548640" cy="548640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73568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577072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827264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QUOTE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781544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Offer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942832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42832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546336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96528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ORDER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750808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Create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912096" y="1280160"/>
            <a:ext cx="548640" cy="548640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12096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515600" y="1554480"/>
            <a:ext cx="292608" cy="0"/>
          </a:xfrm>
          <a:prstGeom prst="line">
            <a:avLst/>
          </a:prstGeom>
          <a:noFill/>
          <a:ln w="13970">
            <a:solidFill>
              <a:srgbClr val="7CAF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765792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TRACK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720072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Follow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881360" y="1280160"/>
            <a:ext cx="548640" cy="548640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881360" y="14904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0735056" y="1965960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CEBFA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689336" y="2176272"/>
            <a:ext cx="9326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8DE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</a:t>
            </a:r>
            <a:endParaRPr lang="en-US" sz="1400" dirty="0">
              <a:latin typeface="Prompt" panose="00000500000000000000" pitchFamily="2" charset="-34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651BBC4-4F12-F79D-0F71-148ACF7D8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5215" y="2734055"/>
            <a:ext cx="3616642" cy="36166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01 · SALES ROLE IN THE NEW PROCESS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เป็นเจ้าของข้อมูลลูกค้าและเงื่อนไขขายตั้งแต่ต้นทาง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ระบบช่วยให้คำสั่งซื้อไม่หาย ไม่ตีความผิด และตาม Rebate ได้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554480"/>
            <a:ext cx="3383280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554480"/>
            <a:ext cx="64008" cy="123444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คุณต้องทำ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2066544"/>
            <a:ext cx="29900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สร้าง Draft, ระบุสินค้า/ตัน/ทะเบียน,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เลือกของแถม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/ตั๋วคุม, ดู Rebate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34840" y="1554480"/>
            <a:ext cx="3383280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64008" cy="123444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Counter Sales ทำ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2066544"/>
            <a:ext cx="29900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ตรวจซ้ำ, confirm, print paper trail, ประสานโรงงาน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83880" y="1554480"/>
            <a:ext cx="3383280" cy="123444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64008" cy="123444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12480" y="1737360"/>
            <a:ext cx="2990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Accounting ทำ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12480" y="2066544"/>
            <a:ext cx="299008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 Claim, ออก CN,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reconcile กับ WINSpeed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" y="3840480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0392" y="400507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0392" y="40233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61288" y="398678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หลักคิด: Sales ใส่ข้อมูลให้ครบตั้งแต่แรก เพื่อให้ Counter และ Warehouse ไม่ต้องถามซ้ำ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02 · SALES DAILY WORKFLOW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จากลูกค้าขอสั่งซื้อ → ติดตามส่งออก → เคลม Rebate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flow นี้ช่วยให้ Sales เห็นงานของตนเองแบบ end-to-end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627632"/>
            <a:ext cx="2064715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627632"/>
            <a:ext cx="2064715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95528" y="1828800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ลูกค้าสั่งซื้อ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95528" y="2139696"/>
            <a:ext cx="18452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รับสูตร/ตัน/วันส่ง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68803" y="221284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78531" y="1627632"/>
            <a:ext cx="2064715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78531" y="1627632"/>
            <a:ext cx="2064715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88259" y="1828800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สร้าง Draft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88259" y="2139696"/>
            <a:ext cx="18452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กรอกข้อมูลในระบบ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61534" y="221284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71262" y="1627632"/>
            <a:ext cx="2064715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71262" y="1627632"/>
            <a:ext cx="2064715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80990" y="1828800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ติดตามสถานะ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80990" y="2139696"/>
            <a:ext cx="18452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Verified / Confirmed / Picking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54266" y="221284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63994" y="1627632"/>
            <a:ext cx="2064715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63994" y="1627632"/>
            <a:ext cx="2064715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3722" y="1828800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ดูส่งออก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3722" y="2139696"/>
            <a:ext cx="18452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Shipped + น้ำหนัก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46997" y="2212848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56725" y="1627632"/>
            <a:ext cx="2064715" cy="1170432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56725" y="1627632"/>
            <a:ext cx="2064715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66453" y="1828800"/>
            <a:ext cx="184525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เคลม Rebate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66453" y="2139696"/>
            <a:ext cx="184525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ตัด FIFO ตามสิทธิ์</a:t>
            </a:r>
            <a:endParaRPr lang="en-US" sz="1400" dirty="0">
              <a:latin typeface="Prompt" panose="00000500000000000000" pitchFamily="2" charset="-34"/>
            </a:endParaRPr>
          </a:p>
        </p:txBody>
      </p:sp>
      <p:pic>
        <p:nvPicPr>
          <p:cNvPr id="30" name="Image 0" descr="/mnt/data/WorldFert_WSSaleApp_v7_Winable_Package/05-UI-SCREENSHOTS/02-sales-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182112"/>
            <a:ext cx="4919472" cy="277063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143000" y="5568696"/>
            <a:ext cx="4919472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271016" y="5660136"/>
            <a:ext cx="4663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order entry</a:t>
            </a:r>
            <a:endParaRPr lang="en-US" sz="800" dirty="0">
              <a:latin typeface="Prompt" panose="00000500000000000000" pitchFamily="2" charset="-34"/>
            </a:endParaRPr>
          </a:p>
        </p:txBody>
      </p:sp>
      <p:pic>
        <p:nvPicPr>
          <p:cNvPr id="34" name="Image 1" descr="/mnt/data/WorldFert_WSSaleApp_v7_Winable_Package/05-UI-SCREENSHOTS/03-rebate-po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182112"/>
            <a:ext cx="4919472" cy="277063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6437376" y="5568696"/>
            <a:ext cx="4919472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Text 32"/>
          <p:cNvSpPr/>
          <p:nvPr/>
        </p:nvSpPr>
        <p:spPr>
          <a:xfrm>
            <a:off x="6565392" y="5660136"/>
            <a:ext cx="4663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pool and ledger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3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03 · BEFORE CREATING AN ORDER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ข้อมูลที่ควรถามลูกค้าให้ครบก่อนเปิด SO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ลดการแก้หลัง confirm และลด unlock request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08760"/>
            <a:ext cx="315468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673352"/>
            <a:ext cx="384048" cy="384048"/>
          </a:xfrm>
          <a:prstGeom prst="ellipse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18105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35024" y="176479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ลูกค้า / สาขา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9" name="Text 7"/>
          <p:cNvSpPr/>
          <p:nvPr/>
        </p:nvSpPr>
        <p:spPr>
          <a:xfrm>
            <a:off x="841248" y="2148840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ชื่อลูกค้า รหัส หรือประวัติเดิม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61688" y="1508760"/>
            <a:ext cx="315468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26280" y="167335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26280" y="18105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038344" y="176479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สินค้า / สูตร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44568" y="2148840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สูตร ปริมาณ และหน่วยตัน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065008" y="1508760"/>
            <a:ext cx="315468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0" y="1673352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29600" y="181051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741664" y="176479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ทะเบียนรถ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47888" y="2148840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ทะเบียนหัวลาก/พ่วงตามจริง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" y="3154680"/>
            <a:ext cx="315468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3319272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2960" y="3456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35024" y="341071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วันส่ง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" y="3794760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วันที่ลูกค้าต้องการรับสินค้า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361688" y="3154680"/>
            <a:ext cx="3154680" cy="114300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526280" y="3319272"/>
            <a:ext cx="384048" cy="384048"/>
          </a:xfrm>
          <a:prstGeom prst="ellipse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26280" y="34564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5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038344" y="3410712"/>
            <a:ext cx="2313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เงื่อนไขพิเศษ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544568" y="3794760"/>
            <a:ext cx="278892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แม่/ลูก, ของแถม, ตั๋วคุม, </a:t>
            </a:r>
          </a:p>
          <a:p>
            <a:pPr marL="0" indent="0">
              <a:buNone/>
            </a:pPr>
            <a:r>
              <a:rPr lang="en-US" sz="14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รับพร้อมอะไร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58368" y="5120640"/>
            <a:ext cx="108813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2960" y="52852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53035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33856" y="526694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ถ้าลูกค้ายังไม่ยืนยันข้อมูล ให้บันทึกเป็น DRAFT ไม่ควรผลัก order ไปโรงงาน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4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04 · CREATE ORDER IN POS MODE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ใช้หน้า POS เพื่อคีย์ order อย่างรวดเร็ว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ระบบแสดงราคาและ rebate โดยไม่ต้องคำนวณเอง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6035040" cy="3282696"/>
          </a:xfrm>
          <a:prstGeom prst="roundRect">
            <a:avLst>
              <a:gd name="adj" fmla="val 6430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2-sales-p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5669280" cy="3191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224528"/>
            <a:ext cx="566928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384" y="4315968"/>
            <a:ext cx="5413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POS mode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675120" y="1554480"/>
            <a:ext cx="470916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75120" y="1554480"/>
            <a:ext cx="64008" cy="74980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903720" y="1737360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1. เลือกลูกค้า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903720" y="2066544"/>
            <a:ext cx="4315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search/autocomplete ไม่พิมพ์ชื่อเองถ้ามี master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675120" y="2542032"/>
            <a:ext cx="470916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75120" y="2542032"/>
            <a:ext cx="64008" cy="749808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903720" y="2724912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2. เพิ่มสินค้า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03720" y="3054096"/>
            <a:ext cx="4315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แตะการ์ดสินค้า ระบุจำนวนตัน ตรวจราคาขาย/NET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675120" y="3529584"/>
            <a:ext cx="470916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675120" y="3529584"/>
            <a:ext cx="64008" cy="74980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903720" y="3712464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3. ตรวจ Rebate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903720" y="4041648"/>
            <a:ext cx="4315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 Reb/ตัน และยอดรวมก่อนบันทึก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675120" y="4517136"/>
            <a:ext cx="4709160" cy="74980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6675120" y="4517136"/>
            <a:ext cx="64008" cy="7498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903720" y="4700016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4. Save Draft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903720" y="5029200"/>
            <a:ext cx="4315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ส่งให้ Counter ตรวจซ้ำ ไม่ confirm ถ้าข้อมูลยังไม่ครบ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5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05 · REBATE BALANCE AND CLAIM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เห็นยอดที่ใช้ได้และที่เคลมแล้วแบบ FIFO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ไม่ต้องค้นบิลย้อนหลังเอง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5989320" cy="3282696"/>
          </a:xfrm>
          <a:prstGeom prst="roundRect">
            <a:avLst>
              <a:gd name="adj" fmla="val 5477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3-rebate-po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5669280" cy="319125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224528"/>
            <a:ext cx="566928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384" y="4315968"/>
            <a:ext cx="54132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Pool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629400" y="1572768"/>
            <a:ext cx="830275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29400" y="1572768"/>
            <a:ext cx="830275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39128" y="1773936"/>
            <a:ext cx="6108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Plan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39128" y="2084832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โปรโมชั่น</a:t>
            </a: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/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NET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7477963" y="203911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7587691" y="1572768"/>
            <a:ext cx="830275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87691" y="1572768"/>
            <a:ext cx="830275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697419" y="1773936"/>
            <a:ext cx="6108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Accrual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697419" y="2084832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ตั้งต่อรายการ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8436254" y="203911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8545982" y="1572768"/>
            <a:ext cx="830275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8545982" y="1572768"/>
            <a:ext cx="830275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655710" y="1773936"/>
            <a:ext cx="6108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Pool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655710" y="2084832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กองตาม Sales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9394546" y="203911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9504274" y="1572768"/>
            <a:ext cx="830275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504274" y="1572768"/>
            <a:ext cx="830275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9614002" y="1773936"/>
            <a:ext cx="6108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Claim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614002" y="2084832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ตัด FIFO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10352837" y="2039112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10462565" y="1572768"/>
            <a:ext cx="830275" cy="932688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10462565" y="1572768"/>
            <a:ext cx="830275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572293" y="1773936"/>
            <a:ext cx="61081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572293" y="2084832"/>
            <a:ext cx="610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บัญชีออกลดหนี้</a:t>
            </a:r>
            <a:endParaRPr lang="en-US" sz="1000" dirty="0">
              <a:latin typeface="Prompt" panose="00000500000000000000" pitchFamily="2" charset="-34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629400" y="2971800"/>
            <a:ext cx="4663440" cy="7680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629400" y="2971800"/>
            <a:ext cx="64008" cy="76809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858000" y="3081528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ดูอะไร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858000" y="3316614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Allocated, Accrual, Claimed, Remaining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และรายการ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FIFO ledger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629400" y="3959352"/>
            <a:ext cx="4663440" cy="76809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629400" y="3959352"/>
            <a:ext cx="64008" cy="768096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858000" y="4142232"/>
            <a:ext cx="42702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ข้อควรระวัง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858000" y="4379663"/>
            <a:ext cx="4270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เคลมเกินยอดคงเหลือไม่ได้ และต้องมีหลักฐานรองรับ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6629400" y="4983480"/>
            <a:ext cx="466344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6793992" y="514807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793992" y="516636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7104888" y="5129784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Rebate ไม่ใช่ส่วนลดหน้างานทั่วไป แต่เป็นกองสิทธิ์ที่ต้อง trace ได้กลับถึง SO/Invoice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6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06 · CONTROL TICKETS AND SPECIAL ORDERS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กรณีลูกค้ารับชุดตั๋วคุมหรือรับพร้อมใบสั่งจอง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ต้องเลือกข้อมูลให้ชัดเพื่อให้คลังเห็นยอดคงเหลือ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91056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91056"/>
            <a:ext cx="207385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768096" y="1792224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เลือกตั๋วคุม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8096" y="2103120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AI number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50515" y="213969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860243" y="1591056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860243" y="1591056"/>
            <a:ext cx="207385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69971" y="1792224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ระบุสินค้า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969971" y="2103120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สูตร/ตัน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52390" y="213969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62118" y="1591056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62118" y="1591056"/>
            <a:ext cx="207385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71846" y="1792224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เลือก mode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71846" y="2103120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SET_ONLY / WITH_ORDER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54266" y="213969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63994" y="1591056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63994" y="1591056"/>
            <a:ext cx="207385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73722" y="1792224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ตรวจคงเหลือ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73722" y="2103120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Remaining tons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356141" y="2139696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465869" y="1591056"/>
            <a:ext cx="207385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465869" y="1591056"/>
            <a:ext cx="2073859" cy="73152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75597" y="1792224"/>
            <a:ext cx="18544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บันทึก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575597" y="2103120"/>
            <a:ext cx="185440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ผูกกับ SO line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37846" y="3017520"/>
            <a:ext cx="5158154" cy="2770632"/>
          </a:xfrm>
          <a:prstGeom prst="roundRect">
            <a:avLst>
              <a:gd name="adj" fmla="val 5666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30" name="Image 0" descr="/mnt/data/WorldFert_WSSaleApp_v7_Winable_Package/05-UI-SCREEN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063240"/>
            <a:ext cx="4754880" cy="2679192"/>
          </a:xfrm>
          <a:prstGeom prst="rect">
            <a:avLst/>
          </a:prstGeom>
        </p:spPr>
      </p:pic>
      <p:sp>
        <p:nvSpPr>
          <p:cNvPr id="31" name="Shape 28"/>
          <p:cNvSpPr/>
          <p:nvPr/>
        </p:nvSpPr>
        <p:spPr>
          <a:xfrm>
            <a:off x="1097280" y="5358384"/>
            <a:ext cx="475488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225296" y="5449824"/>
            <a:ext cx="4498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Aging and pending tickets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446520" y="3154680"/>
            <a:ext cx="47091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6446520" y="3154680"/>
            <a:ext cx="64008" cy="96012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675120" y="3337560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responsibility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675120" y="3666744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หากลูกค้าแจ้งรับพร้อมรายการใด </a:t>
            </a: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ต้องระบุในระบบ</a:t>
            </a: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 </a:t>
            </a:r>
          </a:p>
          <a:p>
            <a:pPr marL="0" indent="0">
              <a:buNone/>
            </a:pPr>
            <a:r>
              <a:rPr lang="en-US" sz="12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ไม่ใช่เขียนปะปนกับทะเบียนรถ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446520" y="4434840"/>
            <a:ext cx="4709160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6446520" y="4434840"/>
            <a:ext cx="64008" cy="9601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675120" y="4617720"/>
            <a:ext cx="4315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System result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675120" y="4946904"/>
            <a:ext cx="43159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รายงานเฉพาะตั๋วคุมและประวัติตัดดูได้ทันที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7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07 · GIVEAWAY REQUEST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เลือกของแถมพร้อมเห็นยอดคงเหลือ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รายการของแถมต้องอยู่ในระบบเพื่อให้รายงานและงบไม่หลุด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380744"/>
            <a:ext cx="6016752" cy="3255264"/>
          </a:xfrm>
          <a:prstGeom prst="roundRect">
            <a:avLst>
              <a:gd name="adj" fmla="val 5383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5-giveaway-un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26464"/>
            <a:ext cx="5623560" cy="31638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206240"/>
            <a:ext cx="562356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384" y="4297680"/>
            <a:ext cx="53675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Giveaway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620256" y="1645920"/>
            <a:ext cx="461772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784848" y="1810512"/>
            <a:ext cx="384048" cy="38404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84848" y="194767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296912" y="190195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เลือก item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03136" y="2286000"/>
            <a:ext cx="4251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เสื้อ กระเป๋า กระสอบเปล่า หรือรายการ promotion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20256" y="2743200"/>
            <a:ext cx="461772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784848" y="2907792"/>
            <a:ext cx="384048" cy="38404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784848" y="304495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2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296912" y="299923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ตรวจ budget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803136" y="3383280"/>
            <a:ext cx="4251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ดูตามภาค / Sales / brand ก่อนบันทึก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6620256" y="3840480"/>
            <a:ext cx="4617720" cy="8686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784848" y="4005072"/>
            <a:ext cx="384048" cy="384048"/>
          </a:xfrm>
          <a:prstGeom prst="ellipse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84848" y="41422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3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7296912" y="409651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ยืนยันกับลูกค้า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803136" y="4480560"/>
            <a:ext cx="42519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ตรวจว่าจะรับพร้อมสินค้า หรือแยกรอบ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620256" y="5074920"/>
            <a:ext cx="4617720" cy="566928"/>
          </a:xfrm>
          <a:prstGeom prst="roundRect">
            <a:avLst/>
          </a:prstGeom>
          <a:solidFill>
            <a:srgbClr val="FCE8E8"/>
          </a:solidFill>
          <a:ln w="12700">
            <a:solidFill>
              <a:srgbClr val="FCE8E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784848" y="5239512"/>
            <a:ext cx="219456" cy="219456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84848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95744" y="5221224"/>
            <a:ext cx="4014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A32D2D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การใช้หมายเหตุแทนของแถมทำให้ยอดคงเหลือและรายงานผิด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8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08 · TRACK ORDER STATUS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Sales ไม่ต้องโทรถามทุกจุด ถ้าสถานะถูกอัปเดตในระบบ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 dashboard และ paper trail เพื่อติดตามงาน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75488" y="1371600"/>
            <a:ext cx="5907024" cy="3209544"/>
          </a:xfrm>
          <a:prstGeom prst="roundRect">
            <a:avLst>
              <a:gd name="adj" fmla="val 6683"/>
            </a:avLst>
          </a:prstGeom>
          <a:solidFill>
            <a:srgbClr val="FFFFFF"/>
          </a:solidFill>
          <a:ln w="7620">
            <a:solidFill>
              <a:srgbClr val="C7D2E0"/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pic>
        <p:nvPicPr>
          <p:cNvPr id="6" name="Image 0" descr="/mnt/data/WorldFert_WSSaleApp_v7_Winable_Package/05-UI-SCREENSHOTS/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17320"/>
            <a:ext cx="5532120" cy="31181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58368" y="4151376"/>
            <a:ext cx="5532120" cy="384048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5"/>
          <p:cNvSpPr/>
          <p:nvPr/>
        </p:nvSpPr>
        <p:spPr>
          <a:xfrm>
            <a:off x="786384" y="4242816"/>
            <a:ext cx="5276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Dashboard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537960" y="1572768"/>
            <a:ext cx="4343400" cy="4023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748272" y="171907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DRAFT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46720" y="1709928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ยังแก้ได้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6537960" y="2194560"/>
            <a:ext cx="4343400" cy="402336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748272" y="2340864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VERIFIED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46720" y="2331720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Counter ตรวจแล้ว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537960" y="2816352"/>
            <a:ext cx="4343400" cy="402336"/>
          </a:xfrm>
          <a:prstGeom prst="roundRect">
            <a:avLst/>
          </a:prstGeom>
          <a:solidFill>
            <a:srgbClr val="EAF3D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748272" y="2962656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CONFIRMED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8046720" y="2953512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ส่งโรงงาน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537960" y="3438144"/>
            <a:ext cx="4343400" cy="402336"/>
          </a:xfrm>
          <a:prstGeom prst="roundRect">
            <a:avLst/>
          </a:prstGeom>
          <a:solidFill>
            <a:srgbClr val="FAEEDA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748272" y="3584448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PICKING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46720" y="3575304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คลังกำลังรับ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537960" y="4059936"/>
            <a:ext cx="4343400" cy="402336"/>
          </a:xfrm>
          <a:prstGeom prst="roundRect">
            <a:avLst/>
          </a:prstGeom>
          <a:solidFill>
            <a:srgbClr val="EAF3DE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48272" y="420624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SHIPPED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046720" y="4197096"/>
            <a:ext cx="2286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ส่งออกแล้ว</a:t>
            </a:r>
            <a:endParaRPr lang="en-US" sz="1400" dirty="0">
              <a:latin typeface="Prompt" panose="00000500000000000000" pitchFamily="2" charset="-34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6537960" y="4892040"/>
            <a:ext cx="434340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6702552" y="50566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702552" y="50749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013448" y="5038344"/>
            <a:ext cx="3739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หากต้องแก้ order หลัง Picking ให้ใช้ Unlock Request เท่านั้น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9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09 · REQUEST UNLOCK CORRECTLY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การแก้หลังยืนยันต้องมีเหตุผลและผู้อนุมัติ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เพื่อให้ audit และ Rebate ledger ไม่ขาด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202813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49808" y="1691640"/>
            <a:ext cx="2028139" cy="73152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59536" y="1892808"/>
            <a:ext cx="18086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พบปัญหา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9536" y="2203704"/>
            <a:ext cx="18086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ข้อมูลผิดหรือเปลี่ยน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96235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05963" y="1691640"/>
            <a:ext cx="202813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05963" y="1691640"/>
            <a:ext cx="2028139" cy="7315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15691" y="1892808"/>
            <a:ext cx="18086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เขียนเหตุผล</a:t>
            </a:r>
            <a:endParaRPr lang="en-US" sz="1600" dirty="0">
              <a:latin typeface="Prompt" panose="00000500000000000000" pitchFamily="2" charset="-3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5691" y="2203704"/>
            <a:ext cx="18086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≥10 ตัวอักษร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52390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062118" y="1691640"/>
            <a:ext cx="202813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62118" y="1691640"/>
            <a:ext cx="2028139" cy="73152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171846" y="1892808"/>
            <a:ext cx="18086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รออนุมัติ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171846" y="2203704"/>
            <a:ext cx="18086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Pending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08546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218274" y="1691640"/>
            <a:ext cx="202813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218274" y="1691640"/>
            <a:ext cx="2028139" cy="7315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328002" y="1892808"/>
            <a:ext cx="18086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แก้ไข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28002" y="2203704"/>
            <a:ext cx="18086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หลังกลับ status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264701" y="2240280"/>
            <a:ext cx="64008" cy="0"/>
          </a:xfrm>
          <a:prstGeom prst="line">
            <a:avLst/>
          </a:prstGeom>
          <a:noFill/>
          <a:ln w="12700">
            <a:solidFill>
              <a:srgbClr val="AAB8C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374429" y="1691640"/>
            <a:ext cx="2028139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374429" y="1691640"/>
            <a:ext cx="2028139" cy="73152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40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84157" y="1892808"/>
            <a:ext cx="18086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ส่งใหม่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484157" y="2203704"/>
            <a:ext cx="180868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ตาม process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49808" y="3182112"/>
            <a:ext cx="32735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9808" y="3182112"/>
            <a:ext cx="64008" cy="96012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78408" y="33649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เหตุผลที่ดี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78408" y="36941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ระบุว่าผิดอะไร, ข้อมูลใหม่คืออะไร, กระทบใครบ้าง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443984" y="3182112"/>
            <a:ext cx="32735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443984" y="3182112"/>
            <a:ext cx="64008" cy="960120"/>
          </a:xfrm>
          <a:prstGeom prst="rect">
            <a:avLst/>
          </a:prstGeom>
          <a:solidFill>
            <a:srgbClr val="A32D2D"/>
          </a:solidFill>
          <a:ln w="12700">
            <a:solidFill>
              <a:srgbClr val="A32D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672584" y="33649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เหตุผลที่ไม่ดี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72584" y="36941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“แก้ให้หน่อย”, “ลูกค้าเปลี่ยน”, “ผิด”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โดยไม่บอกรายละเอียด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38160" y="3182112"/>
            <a:ext cx="3273552" cy="96012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38160" y="3182112"/>
            <a:ext cx="64008" cy="96012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2800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66760" y="3364992"/>
            <a:ext cx="2880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ผลหลังอนุมัติ</a:t>
            </a:r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66760" y="36941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ระบบ reverse accrual และบันทึก audit </a:t>
            </a:r>
          </a:p>
          <a:p>
            <a:pPr marL="0" indent="0">
              <a:buNone/>
            </a:pPr>
            <a:r>
              <a:rPr lang="en-US" sz="1100" dirty="0" err="1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ไม่ลบประวัติเดิม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49808" y="4892040"/>
            <a:ext cx="106527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14400" y="505663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14400" y="507492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25296" y="5038344"/>
            <a:ext cx="10049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อย่าขอซ้ำถ้ายังมีคำขอ PENDING ระบบควร block เพื่อป้องกัน approval ซ้อน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10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10 · REPORTS SALES SHOULD USE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รายงานที่ Sales ใช้ติดตามงานของตนเอง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เป้าหมายคือเห็นยอดคงเหลือและสถานะก่อนลูกค้าถาม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58368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1554480"/>
            <a:ext cx="64008" cy="1097280"/>
          </a:xfrm>
          <a:prstGeom prst="rect">
            <a:avLst/>
          </a:prstGeom>
          <a:solidFill>
            <a:srgbClr val="0C447C"/>
          </a:solidFill>
          <a:ln w="12700">
            <a:solidFill>
              <a:srgbClr val="0C447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886968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SO status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886968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ดู order ของตนเองว่าอยู่สถานะใด และค้างจุดไหน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425696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425696" y="1554480"/>
            <a:ext cx="64008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54296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Rebate pools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54296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ยอดตั้งไว้ ใช้ไป เคลมแล้ว และคงเหลือ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193024" y="1554480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93024" y="1554480"/>
            <a:ext cx="64008" cy="109728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421624" y="1737360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Control tickets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421624" y="2066544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ตั๋วคุมคงเหลือและประวัติตัด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58368" y="3090672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58368" y="3090672"/>
            <a:ext cx="64008" cy="1097280"/>
          </a:xfrm>
          <a:prstGeom prst="rect">
            <a:avLst/>
          </a:prstGeom>
          <a:solidFill>
            <a:srgbClr val="1767A6"/>
          </a:solidFill>
          <a:ln w="12700">
            <a:solidFill>
              <a:srgbClr val="1767A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6968" y="327355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Giveaway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86968" y="3602736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งบ/สต็อกของแถมตามภาคและ Sales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25696" y="3090672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425696" y="3090672"/>
            <a:ext cx="64008" cy="1097280"/>
          </a:xfrm>
          <a:prstGeom prst="rect">
            <a:avLst/>
          </a:prstGeom>
          <a:solidFill>
            <a:srgbClr val="6D4C9B"/>
          </a:solidFill>
          <a:ln w="12700">
            <a:solidFill>
              <a:srgbClr val="6D4C9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654296" y="327355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Paper status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54296" y="3602736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เอกสารพิมพ์แล้ว อยู่ระหว่างส่ง เซ็นรับ หรือหาย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193024" y="3090672"/>
            <a:ext cx="3337560" cy="10972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193024" y="3090672"/>
            <a:ext cx="64008" cy="109728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3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421624" y="3273552"/>
            <a:ext cx="2944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F293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CN rebate</a:t>
            </a:r>
            <a:endParaRPr lang="en-US" sz="20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3602736"/>
            <a:ext cx="29443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ประวัติคืนรีเบทที่บัญชีอนุมัติแล้ว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8368" y="5074920"/>
            <a:ext cx="10881360" cy="566928"/>
          </a:xfrm>
          <a:prstGeom prst="roundRect">
            <a:avLst/>
          </a:prstGeom>
          <a:solidFill>
            <a:srgbClr val="EAF3DE"/>
          </a:solidFill>
          <a:ln w="12700">
            <a:solidFill>
              <a:srgbClr val="EAF3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2960" y="5239512"/>
            <a:ext cx="219456" cy="219456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33856" y="5221224"/>
            <a:ext cx="10277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3B6D11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Sales Rep ควรเปิด dashboard ก่อนเริ่มวัน และเช็คงานค้างก่อนจบวัน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11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5603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b="1" kern="0" spc="130" dirty="0">
                <a:solidFill>
                  <a:srgbClr val="BA7517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11 · SALES CHECKLIST</a:t>
            </a:r>
            <a:endParaRPr lang="en-US" sz="750" dirty="0">
              <a:latin typeface="Prompt" panose="00000500000000000000" pitchFamily="2" charset="-34"/>
            </a:endParaRPr>
          </a:p>
        </p:txBody>
      </p:sp>
      <p:sp>
        <p:nvSpPr>
          <p:cNvPr id="3" name="Text 1"/>
          <p:cNvSpPr/>
          <p:nvPr/>
        </p:nvSpPr>
        <p:spPr>
          <a:xfrm>
            <a:off x="475488" y="530352"/>
            <a:ext cx="10835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0C447C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Checklist ก่อนส่ง order ให้ Counter Sales</a:t>
            </a:r>
            <a:endParaRPr lang="en-US" sz="2500" dirty="0">
              <a:latin typeface="Prompt" panose="00000500000000000000" pitchFamily="2" charset="-34"/>
            </a:endParaRPr>
          </a:p>
        </p:txBody>
      </p:sp>
      <p:sp>
        <p:nvSpPr>
          <p:cNvPr id="4" name="Text 2"/>
          <p:cNvSpPr/>
          <p:nvPr/>
        </p:nvSpPr>
        <p:spPr>
          <a:xfrm>
            <a:off x="475488" y="106070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ใช้เป็น habit ประจำวัน</a:t>
            </a:r>
            <a:endParaRPr lang="en-US" sz="1100" dirty="0">
              <a:latin typeface="Prompt" panose="00000500000000000000" pitchFamily="2" charset="-3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77240" y="150876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923544" y="161391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7" name="Text 5"/>
          <p:cNvSpPr/>
          <p:nvPr/>
        </p:nvSpPr>
        <p:spPr>
          <a:xfrm>
            <a:off x="923544" y="166878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52728" y="16504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ลูกค้าถูกต้อง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309360" y="150876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55664" y="161391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55664" y="166878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84848" y="165049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สินค้าและจำนวนตันครบ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77240" y="214884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544" y="225399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3544" y="230886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252728" y="229057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ราคาขาย/NET/Rebate ถูกต้อง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09360" y="214884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55664" y="225399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55664" y="230886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848" y="229057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ทะเบียนรถและวันส่งครบ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77240" y="278892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23544" y="289407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3544" y="294894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52728" y="29306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ของแถม/ตั๋วคุมระบุเป็นข้อมูล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278892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455664" y="289407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55664" y="294894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848" y="293065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ลำดับแม่/ลูกชัดเจน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" y="342900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23544" y="353415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23544" y="358902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252728" y="357073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หมายเหตุไม่ทดแทน field สำคัญ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309360" y="3429000"/>
            <a:ext cx="4892040" cy="411480"/>
          </a:xfrm>
          <a:prstGeom prst="roundRect">
            <a:avLst/>
          </a:prstGeom>
          <a:solidFill>
            <a:srgbClr val="FFFFFF"/>
          </a:solidFill>
          <a:ln w="762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55664" y="3534156"/>
            <a:ext cx="201168" cy="201168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455664" y="358902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✓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784848" y="3570732"/>
            <a:ext cx="4114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order อยู่สถานะ DRAFT ก่อนส่งตรวจ</a:t>
            </a:r>
            <a:endParaRPr lang="en-US" sz="1200" dirty="0">
              <a:latin typeface="Prompt" panose="00000500000000000000" pitchFamily="2" charset="-3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77240" y="5394960"/>
            <a:ext cx="10424160" cy="566928"/>
          </a:xfrm>
          <a:prstGeom prst="roundRect">
            <a:avLst/>
          </a:prstGeom>
          <a:solidFill>
            <a:srgbClr val="FAEEDA"/>
          </a:solidFill>
          <a:ln w="12700">
            <a:solidFill>
              <a:srgbClr val="FAEED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41832" y="5559552"/>
            <a:ext cx="219456" cy="219456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>
              <a:latin typeface="Prompt" panose="00000500000000000000" pitchFamily="2" charset="-3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941832" y="5577840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Prompt" panose="00000500000000000000" pitchFamily="2" charset="-34"/>
                <a:ea typeface="Noto Sans Thai UI" pitchFamily="34" charset="-122"/>
                <a:cs typeface="Prompt" panose="00000500000000000000" pitchFamily="2" charset="-34"/>
              </a:rPr>
              <a:t>i</a:t>
            </a:r>
            <a:endParaRPr lang="en-US" sz="800" dirty="0">
              <a:latin typeface="Prompt" panose="00000500000000000000" pitchFamily="2" charset="-3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252728" y="5541264"/>
            <a:ext cx="9820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dirty="0">
                <a:solidFill>
                  <a:srgbClr val="7A4A00"/>
                </a:solidFill>
                <a:latin typeface="Prompt" panose="00000500000000000000" pitchFamily="2" charset="-34"/>
                <a:ea typeface="Noto Sans Thai" pitchFamily="34" charset="-122"/>
                <a:cs typeface="Prompt" panose="00000500000000000000" pitchFamily="2" charset="-34"/>
              </a:rPr>
              <a:t>ถ้า checklist ไม่ผ่าน ให้แก้ Draft ก่อน ไม่ใช้ Unlock เป็นงานปกติ</a:t>
            </a:r>
            <a:endParaRPr lang="en-US" sz="940" dirty="0">
              <a:latin typeface="Prompt" panose="00000500000000000000" pitchFamily="2" charset="-34"/>
            </a:endParaRPr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32336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650">
                <a:solidFill>
                  <a:srgbClr val="64748B"/>
                </a:solidFill>
                <a:latin typeface="Noto Sans Thai UI"/>
                <a:ea typeface="Noto Sans Thai UI"/>
                <a:cs typeface="Noto Sans Thai UI"/>
              </a:defRPr>
            </a:lvl1pPr>
          </a:lstStyle>
          <a:p>
            <a:pPr algn="l"/>
            <a:fld id="{F7021451-1387-4CA6-816F-3879F97B5CBC}" type="slidenum">
              <a:rPr lang="en-US" b="0">
                <a:latin typeface="Prompt" panose="00000500000000000000" pitchFamily="2" charset="-34"/>
                <a:cs typeface="Prompt" panose="00000500000000000000" pitchFamily="2" charset="-34"/>
              </a:rPr>
              <a:t>12</a:t>
            </a:fld>
            <a:endParaRPr lang="en-US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7D27B7-83FD-AF2E-F850-DF7C81619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0" y="2095500"/>
            <a:ext cx="2667000" cy="2667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E9EA51-9561-1A29-2D06-1A82342596E5}"/>
              </a:ext>
            </a:extLst>
          </p:cNvPr>
          <p:cNvSpPr txBox="1"/>
          <p:nvPr/>
        </p:nvSpPr>
        <p:spPr>
          <a:xfrm>
            <a:off x="3044093" y="1616780"/>
            <a:ext cx="610381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Prompt" panose="00000500000000000000" pitchFamily="2" charset="-34"/>
                <a:cs typeface="Prompt" panose="00000500000000000000" pitchFamily="2" charset="-34"/>
              </a:rPr>
              <a:t>https://winspeed-connect.vercel.app/</a:t>
            </a:r>
          </a:p>
        </p:txBody>
      </p:sp>
    </p:spTree>
    <p:extLst>
      <p:ext uri="{BB962C8B-B14F-4D97-AF65-F5344CB8AC3E}">
        <p14:creationId xmlns:p14="http://schemas.microsoft.com/office/powerpoint/2010/main" val="2981786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Tha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Th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549</TotalTime>
  <Words>1028</Words>
  <Application>Microsoft Office PowerPoint</Application>
  <PresentationFormat>Widescreen</PresentationFormat>
  <Paragraphs>234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World Fert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WS-Sale-App v7 | Sales Representative Training</dc:title>
  <dc:subject>Training</dc:subject>
  <dc:creator>World Fert Co., Ltd. / Thirayu Meererksom</dc:creator>
  <cp:lastModifiedBy>Thirayu Meererksom</cp:lastModifiedBy>
  <cp:revision>10</cp:revision>
  <dcterms:created xsi:type="dcterms:W3CDTF">2026-06-28T03:10:39Z</dcterms:created>
  <dcterms:modified xsi:type="dcterms:W3CDTF">2026-07-02T02:03:11Z</dcterms:modified>
</cp:coreProperties>
</file>