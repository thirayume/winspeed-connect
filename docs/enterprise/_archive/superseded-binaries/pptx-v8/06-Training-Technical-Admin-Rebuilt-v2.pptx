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4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6331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WORLD FERT  |  WS-SALE-APP</a:t>
            </a:r>
            <a:endParaRPr lang="en-US" sz="65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55280" y="651052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CONFIDENTIAL · TECHNICAL TRAINING</a:t>
            </a:r>
            <a:endParaRPr lang="en-US" sz="650" dirty="0">
              <a:latin typeface="Prompt" panose="00000500000000000000" pitchFamily="2" charset="-34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8352" y="64894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Prompt" panose="00000500000000000000" pitchFamily="2" charset="-34"/>
                <a:ea typeface="Prompt" panose="00000500000000000000" pitchFamily="2" charset="-34"/>
                <a:cs typeface="Prompt" panose="00000500000000000000" pitchFamily="2" charset="-34"/>
              </a:defRPr>
            </a:lvl1pPr>
          </a:lstStyle>
          <a:p>
            <a:fld id="{F7021451-1387-4CA6-816F-3879F97B5CB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Prompt" panose="00000500000000000000" pitchFamily="2" charset="-34"/>
                <a:ea typeface="Prompt" panose="00000500000000000000" pitchFamily="2" charset="-34"/>
                <a:cs typeface="Prompt" panose="00000500000000000000" pitchFamily="2" charset="-34"/>
              </a:defRPr>
            </a:lvl1pPr>
          </a:lstStyle>
          <a:p>
            <a:fld id="{F7021451-1387-4CA6-816F-3879F97B5CB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082E55"/>
          </a:solidFill>
          <a:ln w="12700">
            <a:solidFill>
              <a:srgbClr val="082E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21792" y="566928"/>
            <a:ext cx="2697480" cy="265176"/>
          </a:xfrm>
          <a:prstGeom prst="roundRect">
            <a:avLst/>
          </a:prstGeom>
          <a:solidFill>
            <a:srgbClr val="153F68"/>
          </a:solidFill>
          <a:ln w="12700">
            <a:solidFill>
              <a:srgbClr val="153F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94944" y="621792"/>
            <a:ext cx="2551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USER TRAINING · TECH ADMIN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537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Technical Admin Training</a:t>
            </a:r>
            <a:endParaRPr lang="en-US" sz="3100" dirty="0">
              <a:latin typeface="Prompt" panose="00000500000000000000" pitchFamily="2" charset="-3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3054096"/>
            <a:ext cx="1508760" cy="548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" y="3346704"/>
            <a:ext cx="7123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CEBFA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ดูแลระบบ ฐานข้อมูล สิทธิ์ Deploy Security Backup และ Incident Runbook</a:t>
            </a:r>
            <a:endParaRPr lang="en-US" sz="1600" dirty="0">
              <a:latin typeface="Prompt" panose="00000500000000000000" pitchFamily="2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58338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C7D9E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Training · Technical Admin</a:t>
            </a:r>
            <a:endParaRPr lang="en-US" sz="105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73568" y="1280160"/>
            <a:ext cx="548640" cy="54864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73568" y="14904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577072" y="1554480"/>
            <a:ext cx="292608" cy="0"/>
          </a:xfrm>
          <a:prstGeom prst="line">
            <a:avLst/>
          </a:prstGeom>
          <a:noFill/>
          <a:ln w="13970">
            <a:solidFill>
              <a:srgbClr val="7CAF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827264" y="196596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ENV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81544" y="2176272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8DE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Config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942832" y="1280160"/>
            <a:ext cx="548640" cy="548640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942832" y="14904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2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546336" y="1554480"/>
            <a:ext cx="292608" cy="0"/>
          </a:xfrm>
          <a:prstGeom prst="line">
            <a:avLst/>
          </a:prstGeom>
          <a:noFill/>
          <a:ln w="13970">
            <a:solidFill>
              <a:srgbClr val="7CAF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796528" y="196596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SECURE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750808" y="2176272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8DE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Secrets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912096" y="1280160"/>
            <a:ext cx="548640" cy="548640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912096" y="14904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515600" y="1554480"/>
            <a:ext cx="292608" cy="0"/>
          </a:xfrm>
          <a:prstGeom prst="line">
            <a:avLst/>
          </a:prstGeom>
          <a:noFill/>
          <a:ln w="13970">
            <a:solidFill>
              <a:srgbClr val="7CAF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765792" y="196596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DEPLOY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720072" y="2176272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8DE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Release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0881360" y="1280160"/>
            <a:ext cx="548640" cy="54864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881360" y="14904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4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735056" y="196596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RUN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689336" y="2176272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8DE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Operate</a:t>
            </a:r>
            <a:endParaRPr lang="en-US" sz="1400" dirty="0">
              <a:latin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01 · ADMIN MISSION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Technical Admin ต้องทำให้ระบบเสถียร ปลอดภัย และตรวจสอบได้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งานหลักคือรักษา boundary ระหว่าง App, WINSpeed และ TruckScale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554480"/>
            <a:ext cx="3337560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554480"/>
            <a:ext cx="64008" cy="109728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86968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Environment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6968" y="2066544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LOCAL / REMOTE, Railway/Vercel, </a:t>
            </a:r>
            <a:b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</a:b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SQL Server, MySQL TruckScale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25696" y="1554480"/>
            <a:ext cx="3337560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25696" y="1554480"/>
            <a:ext cx="64008" cy="109728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54296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Security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54296" y="2066544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Secrets rotation, DB least privilege, JWT, RBAC, audit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93024" y="1554480"/>
            <a:ext cx="3337560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93024" y="1554480"/>
            <a:ext cx="64008" cy="109728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21624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Operations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21624" y="2066544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Backup/restore, health check, monitoring, incident response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3730752"/>
            <a:ext cx="10881360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2960" y="3895344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" y="3913632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33856" y="3877056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Admin action must be documented: migration, deploy, user changes, incident, data fix.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2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02 · SYSTEM TOPOLOGY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ระบบประกอบด้วย 3 data sources และ 2 deployment surfaces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เข้าใจ topology ก่อนแก้ปัญหา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10972800" cy="960120"/>
          </a:xfrm>
          <a:prstGeom prst="roundRect">
            <a:avLst/>
          </a:prstGeom>
          <a:solidFill>
            <a:srgbClr val="0C447C"/>
          </a:solidFill>
          <a:ln w="762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Frontend: Vercel / Browser / Tablet-first UI</a:t>
            </a:r>
            <a:endParaRPr lang="en-US" sz="1300" dirty="0">
              <a:latin typeface="Prompt" panose="00000500000000000000" pitchFamily="2" charset="-3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1097280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840" y="315468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Backend: Railway / Express API / JWT / Socket.IO / DB pools</a:t>
            </a:r>
            <a:endParaRPr lang="en-US" sz="13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4224528"/>
            <a:ext cx="3337560" cy="8686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600" dirty="0">
              <a:latin typeface="Prompt" panose="00000500000000000000" pitchFamily="2" charset="-3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0120" y="45079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dbo WINSpeed</a:t>
            </a:r>
            <a:endParaRPr lang="en-US" sz="1600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07408" y="4224528"/>
            <a:ext cx="3337560" cy="8686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6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45152" y="45079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6D11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wf schema</a:t>
            </a:r>
            <a:endParaRPr lang="en-US" sz="16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92440" y="4224528"/>
            <a:ext cx="3337560" cy="8686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600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321040" y="45079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TruckScale MySQL</a:t>
            </a:r>
            <a:endParaRPr lang="en-US" sz="16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99632" y="2468880"/>
            <a:ext cx="0" cy="365760"/>
          </a:xfrm>
          <a:prstGeom prst="line">
            <a:avLst/>
          </a:prstGeom>
          <a:noFill/>
          <a:ln w="16510">
            <a:solidFill>
              <a:srgbClr val="1767A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395728" y="3803904"/>
            <a:ext cx="0" cy="420624"/>
          </a:xfrm>
          <a:prstGeom prst="line">
            <a:avLst/>
          </a:prstGeom>
          <a:noFill/>
          <a:ln w="16510">
            <a:solidFill>
              <a:srgbClr val="0C447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80760" y="3803904"/>
            <a:ext cx="0" cy="420624"/>
          </a:xfrm>
          <a:prstGeom prst="line">
            <a:avLst/>
          </a:prstGeom>
          <a:noFill/>
          <a:ln w="16510">
            <a:solidFill>
              <a:srgbClr val="3B6D1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765792" y="3803904"/>
            <a:ext cx="0" cy="420624"/>
          </a:xfrm>
          <a:prstGeom prst="line">
            <a:avLst/>
          </a:prstGeom>
          <a:noFill/>
          <a:ln w="16510">
            <a:solidFill>
              <a:srgbClr val="BA751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31520" y="5623560"/>
            <a:ext cx="10972800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96112" y="5788152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96112" y="580644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207008" y="5769864"/>
            <a:ext cx="10369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DB_MODE controls SQL Server only; TruckScale is a separate MySQL pool and must not be selected via DB_MODE=mysql.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3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03 · ENVIRONMENT CONFIGURATION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LOCAL / REMOTE ต้องไม่ปนกัน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ปุ่มสลับ DB สำหรับ Admin ต้องสะท้อน datasource ทุกหน้า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554480"/>
            <a:ext cx="3337560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554480"/>
            <a:ext cx="64008" cy="1143000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86968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LOCAL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6968" y="2066544"/>
            <a:ext cx="29443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ใช้ dev SQL Server / local testing / migration validation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25696" y="1554480"/>
            <a:ext cx="3337560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25696" y="1554480"/>
            <a:ext cx="64008" cy="11430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54296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REMOTE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54296" y="2066544"/>
            <a:ext cx="29443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ใช้ production-like WINSpeed + wf data; จำกัดสิทธิ์สูงสุด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93024" y="1554480"/>
            <a:ext cx="3337560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93024" y="1554480"/>
            <a:ext cx="64008" cy="11430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21624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MYSQL_*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21624" y="2066544"/>
            <a:ext cx="29443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TruckScale connection แยก pool;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read-only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3401568"/>
            <a:ext cx="2073859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8368" y="3401568"/>
            <a:ext cx="2073859" cy="73152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8096" y="3602736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Request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8096" y="3913632"/>
            <a:ext cx="18544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X-DB-Target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50515" y="3904488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860243" y="3401568"/>
            <a:ext cx="2073859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860243" y="3401568"/>
            <a:ext cx="2073859" cy="73152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969971" y="3602736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Async context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969971" y="3913632"/>
            <a:ext cx="18544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select pool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952390" y="3904488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062118" y="3401568"/>
            <a:ext cx="2073859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62118" y="3401568"/>
            <a:ext cx="2073859" cy="7315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171846" y="3602736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query()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171846" y="3913632"/>
            <a:ext cx="18544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reader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154266" y="3904488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263994" y="3401568"/>
            <a:ext cx="2073859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263994" y="3401568"/>
            <a:ext cx="2073859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373722" y="3602736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wfQuery()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373722" y="3913632"/>
            <a:ext cx="18544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owner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356141" y="3904488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465869" y="3401568"/>
            <a:ext cx="2073859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465869" y="3401568"/>
            <a:ext cx="2073859" cy="73152"/>
          </a:xfrm>
          <a:prstGeom prst="rect">
            <a:avLst/>
          </a:prstGeom>
          <a:solidFill>
            <a:srgbClr val="6D4C9B"/>
          </a:solidFill>
          <a:ln w="12700">
            <a:solidFill>
              <a:srgbClr val="6D4C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575597" y="3602736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tsQuery()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575597" y="3913632"/>
            <a:ext cx="18544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TruckScale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58368" y="5166360"/>
            <a:ext cx="10881360" cy="566928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FCE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22960" y="5330952"/>
            <a:ext cx="219456" cy="219456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22960" y="534924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133856" y="5312664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A32D2D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Test case P01: สลับ LOCAL/REMOTE แล้วทุกหน้าต้องใช้แหล่งข้อมูลเดียวกัน ไม่ปนกัน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4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04 · USER &amp; RBAC ADMINISTRATION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สิทธิ์ต้องตรวจทั้ง frontend และ backend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Role ไม่ใช่แค่เมนู แต่คือการจำกัด action สำคัญ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21792" y="1508760"/>
            <a:ext cx="2359152" cy="6583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86384" y="1691640"/>
            <a:ext cx="256032" cy="256032"/>
          </a:xfrm>
          <a:prstGeom prst="ellipse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33856" y="1673352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SALES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33856" y="194767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สร้าง order / claim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364992" y="1508760"/>
            <a:ext cx="2359152" cy="6583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529584" y="1691640"/>
            <a:ext cx="256032" cy="256032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877056" y="1673352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COUNTER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77056" y="194767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verify / print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08192" y="1508760"/>
            <a:ext cx="2359152" cy="6583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72784" y="1691640"/>
            <a:ext cx="256032" cy="256032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20256" y="1673352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WAREHOUSE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620256" y="1947672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picking / unlock request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851392" y="1508760"/>
            <a:ext cx="2359152" cy="6583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015984" y="1691640"/>
            <a:ext cx="256032" cy="256032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363456" y="1673352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WEIGH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363456" y="194767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weigh / ship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1792" y="2560320"/>
            <a:ext cx="2359152" cy="6583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86384" y="2743200"/>
            <a:ext cx="256032" cy="256032"/>
          </a:xfrm>
          <a:prstGeom prst="ellipse">
            <a:avLst/>
          </a:prstGeom>
          <a:solidFill>
            <a:srgbClr val="6D4C9B"/>
          </a:solidFill>
          <a:ln w="12700">
            <a:solidFill>
              <a:srgbClr val="6D4C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33856" y="2724912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APPROVER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33856" y="299923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approve plan/unlock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364992" y="2560320"/>
            <a:ext cx="2359152" cy="6583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529584" y="2743200"/>
            <a:ext cx="256032" cy="256032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877056" y="2724912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ACCOUNTING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877056" y="299923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claim / CN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108192" y="2560320"/>
            <a:ext cx="2359152" cy="6583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272784" y="2743200"/>
            <a:ext cx="256032" cy="256032"/>
          </a:xfrm>
          <a:prstGeom prst="ellipse">
            <a:avLst/>
          </a:prstGeom>
          <a:solidFill>
            <a:srgbClr val="00A6B8"/>
          </a:solidFill>
          <a:ln w="12700">
            <a:solidFill>
              <a:srgbClr val="00A6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620256" y="2724912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ADMIN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620256" y="2999232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users / master / deploy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21792" y="4800600"/>
            <a:ext cx="10972800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86384" y="4965192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86384" y="498348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97280" y="4946904"/>
            <a:ext cx="10369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User offboarding: deactivate IsActive=0, rotate shared/test credentials, review audit.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5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05 · SECRET ROTATION CHECKLIST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P0: ต้องเปลี่ยน secret ก่อน Full Production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สิ่งที่ถูกพิมพ์ในแชตหรือใช้ default ถือว่าหลุดแล้ว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444752"/>
            <a:ext cx="4800600" cy="74980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1609344"/>
            <a:ext cx="384048" cy="384048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174650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35024" y="1700784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SQL Server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35024" y="1901952"/>
            <a:ext cx="4434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เลิกใช้ sa สำหรับ App; สร้าง least-privilege user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9048" y="1444752"/>
            <a:ext cx="4800600" cy="74980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63640" y="1609344"/>
            <a:ext cx="384048" cy="384048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63640" y="174650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2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75704" y="1700784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MySQL TruckScale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775704" y="1901952"/>
            <a:ext cx="4434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เลิกใช้ root; read-only เฉพาะ db_truckscale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58368" y="2450592"/>
            <a:ext cx="4800600" cy="74980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2960" y="2615184"/>
            <a:ext cx="384048" cy="384048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275234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35024" y="2706624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JWT_SECRET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35024" y="2907792"/>
            <a:ext cx="4434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random ≥64 chars; ไม่มี placeholder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99048" y="2450592"/>
            <a:ext cx="4800600" cy="74980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63640" y="2615184"/>
            <a:ext cx="384048" cy="384048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63640" y="275234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4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775704" y="2706624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Seed users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775704" y="2907792"/>
            <a:ext cx="4434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เปลี่ยนรหัส Sales@2026 หรือ user ทดสอบ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58368" y="3456432"/>
            <a:ext cx="4800600" cy="74980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22960" y="3621024"/>
            <a:ext cx="384048" cy="384048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22960" y="375818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5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335024" y="3712464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Environment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335024" y="3913632"/>
            <a:ext cx="4434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เก็บใน Railway/Vercel env vars; ห้าม commit .env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58368" y="5413248"/>
            <a:ext cx="10881360" cy="566928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FCE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22960" y="5577840"/>
            <a:ext cx="219456" cy="219456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2960" y="5596128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33856" y="5559552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A32D2D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Verification: git ls-files ต้องไม่พบ .env จริง และ /api/health ต้องผ่านหลัง rotation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6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06 · DATABASE WRITE BOUNDARY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dbo ต้องเป็น read-only โดยหลัก ยกเว้นที่อนุญาตชัดเจน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GL ยังเป็นของ WINSpeed เสมอ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55448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554480"/>
            <a:ext cx="64008" cy="105156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86968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Allowed wf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6968" y="2066544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App เขียน schema </a:t>
            </a: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wf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ได้</a:t>
            </a:r>
            <a:endParaRPr lang="en-US" sz="1200" dirty="0">
              <a:solidFill>
                <a:srgbClr val="334155"/>
              </a:solidFill>
              <a:latin typeface="Prompt" panose="00000500000000000000" pitchFamily="2" charset="-34"/>
              <a:ea typeface="Noto Sans Thai" pitchFamily="34" charset="-122"/>
              <a:cs typeface="Prompt" panose="00000500000000000000" pitchFamily="2" charset="-34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ผ่าน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migration/endpoint ที่ควบคุม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25696" y="155448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25696" y="1554480"/>
            <a:ext cx="64008" cy="105156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54296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Controlled dbo writes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54296" y="2066544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confirm/picking/ship/cancel/prices 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ตามที่รับไว้และต้อง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audit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93024" y="155448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93024" y="1554480"/>
            <a:ext cx="64008" cy="105156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21624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Forbidden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21624" y="2066544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ห้ามเขียน SOInvHD/GLHD </a:t>
            </a: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โดยตรง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ห้ามแก้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schema WINSpeed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3383280"/>
            <a:ext cx="2073859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8368" y="3383280"/>
            <a:ext cx="2073859" cy="73152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8096" y="358444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App SO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8096" y="3895344"/>
            <a:ext cx="18544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operational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50515" y="388620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860243" y="3383280"/>
            <a:ext cx="2073859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860243" y="3383280"/>
            <a:ext cx="2073859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969971" y="358444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WINSpeed SO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969971" y="3895344"/>
            <a:ext cx="18544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controlled import/write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952390" y="388620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062118" y="3383280"/>
            <a:ext cx="2073859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62118" y="3383280"/>
            <a:ext cx="2073859" cy="7315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171846" y="358444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Post Invoice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171846" y="3895344"/>
            <a:ext cx="18544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WINSpeed UI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154266" y="388620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263994" y="3383280"/>
            <a:ext cx="2073859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263994" y="3383280"/>
            <a:ext cx="2073859" cy="7315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373722" y="358444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Invoice/GL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373722" y="3895344"/>
            <a:ext cx="18544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WINSpeed only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356141" y="388620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465869" y="3383280"/>
            <a:ext cx="2073859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465869" y="3383280"/>
            <a:ext cx="2073859" cy="73152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575597" y="358444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Sync back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575597" y="3895344"/>
            <a:ext cx="18544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read evidence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58368" y="5212080"/>
            <a:ext cx="10881360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22960" y="5376672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22960" y="539496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133856" y="5358384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Test case P04: ตรวจว่าไม่มี code path เขียน dbo นอกเหนือรายการที่ระบุ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7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07 · MIGRATIONS AND RELEASE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การเปลี่ยน schema ต้องผ่าน migration เท่านั้น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หลีกเลี่ยง manual hotfix บน production database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645920"/>
            <a:ext cx="2073859" cy="10241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645920"/>
            <a:ext cx="2073859" cy="73152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8096" y="184708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Create migration</a:t>
            </a:r>
            <a:endParaRPr lang="en-US" sz="16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8096" y="2157984"/>
            <a:ext cx="18544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backend/migrations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50515" y="2157984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860243" y="1645920"/>
            <a:ext cx="2073859" cy="10241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860243" y="1645920"/>
            <a:ext cx="2073859" cy="73152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969971" y="184708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Test local</a:t>
            </a:r>
            <a:endParaRPr lang="en-US" sz="16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969971" y="2157984"/>
            <a:ext cx="18544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migrate:local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952390" y="2157984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62118" y="1645920"/>
            <a:ext cx="2073859" cy="10241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62118" y="1645920"/>
            <a:ext cx="2073859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171846" y="184708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Review</a:t>
            </a:r>
            <a:endParaRPr lang="en-US" sz="16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171846" y="2157984"/>
            <a:ext cx="18544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SQL diff/checksum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154266" y="2157984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263994" y="1645920"/>
            <a:ext cx="2073859" cy="10241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263994" y="1645920"/>
            <a:ext cx="2073859" cy="7315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73722" y="184708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Run remote</a:t>
            </a:r>
            <a:endParaRPr lang="en-US" sz="16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73722" y="2157984"/>
            <a:ext cx="18544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migrate:remote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356141" y="2157984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465869" y="1645920"/>
            <a:ext cx="2073859" cy="10241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465869" y="1645920"/>
            <a:ext cx="2073859" cy="73152"/>
          </a:xfrm>
          <a:prstGeom prst="rect">
            <a:avLst/>
          </a:prstGeom>
          <a:solidFill>
            <a:srgbClr val="6D4C9B"/>
          </a:solidFill>
          <a:ln w="12700">
            <a:solidFill>
              <a:srgbClr val="6D4C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575597" y="184708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Release note</a:t>
            </a:r>
            <a:endParaRPr lang="en-US" sz="16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575597" y="2157984"/>
            <a:ext cx="18544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version + deploy log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58368" y="3154680"/>
            <a:ext cx="516636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58368" y="3154680"/>
            <a:ext cx="64008" cy="9601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86968" y="3337560"/>
            <a:ext cx="4773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Recommended improvement</a:t>
            </a:r>
            <a:endParaRPr lang="en-US" sz="240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86968" y="3666744"/>
            <a:ext cx="4773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เพิ่มตาราง schema_migrations กันรันซ้ำและเก็บ checksum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419088" y="3154680"/>
            <a:ext cx="516636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419088" y="3154680"/>
            <a:ext cx="64008" cy="96012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647688" y="3337560"/>
            <a:ext cx="4773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Release evidence</a:t>
            </a:r>
            <a:endParaRPr lang="en-US" sz="2400" dirty="0">
              <a:latin typeface="Prompt" panose="00000500000000000000" pitchFamily="2" charset="-3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647688" y="3666744"/>
            <a:ext cx="4773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ทุก deploy ต้องมี version, change summary, rollback note, smoke test result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58368" y="4892040"/>
            <a:ext cx="10881360" cy="566928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FCE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22960" y="5056632"/>
            <a:ext cx="219456" cy="219456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22960" y="507492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133856" y="5038344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A32D2D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ห้ามแก้ SQL บน production โดยไม่มี migration file และ approval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8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08 · DEPLOYMENT RUNBOOK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Deploy ต้องตรวจ build, env, health และ logs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อย่าใช้ “เปิดหน้าเว็บได้” เป็นเกณฑ์เดียว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55448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1719072"/>
            <a:ext cx="384048" cy="384048"/>
          </a:xfrm>
          <a:prstGeom prst="ellipse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18562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35024" y="1810512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Prepare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841248" y="2194560"/>
            <a:ext cx="2971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ตรวจ env, secrets, DB connectivity, migration plan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25696" y="155448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90288" y="1719072"/>
            <a:ext cx="384048" cy="384048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90288" y="18562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2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102352" y="1810512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Build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08576" y="2194560"/>
            <a:ext cx="2971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frontend VITE_API_BASE_URL และ backend dependencies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93024" y="155448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357616" y="1719072"/>
            <a:ext cx="384048" cy="384048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57616" y="18562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869680" y="1810512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Deploy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375904" y="2194560"/>
            <a:ext cx="2971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Railway backend + Vercel frontend / docker compose alternative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58368" y="3090672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2960" y="3255264"/>
            <a:ext cx="384048" cy="38404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2960" y="339242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4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35024" y="3346704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Smoke test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41248" y="3730752"/>
            <a:ext cx="2971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/health, login, dashboard, SO draft, TruckScale ping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425696" y="3090672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90288" y="3255264"/>
            <a:ext cx="384048" cy="384048"/>
          </a:xfrm>
          <a:prstGeom prst="ellipse">
            <a:avLst/>
          </a:prstGeom>
          <a:solidFill>
            <a:srgbClr val="6D4C9B"/>
          </a:solidFill>
          <a:ln w="12700">
            <a:solidFill>
              <a:srgbClr val="6D4C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90288" y="339242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5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102352" y="3346704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Monitor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608576" y="3730752"/>
            <a:ext cx="2971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5xx, login failures, DB errors, queue/latency if added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193024" y="3090672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357616" y="3255264"/>
            <a:ext cx="384048" cy="384048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357616" y="339242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6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869680" y="3346704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Rollback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375904" y="3730752"/>
            <a:ext cx="2971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restore previous deploy/env/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database snapshot if needed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58368" y="5138928"/>
            <a:ext cx="10881360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22960" y="5303520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22960" y="5321808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133856" y="5285232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Deploy checklist should be signed or logged every release.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9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09 · BACKUP AND DISASTER RECOVERY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RTO/RPO ต้องถูกทดสอบ ไม่ใช่แค่เขียนไว้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Production readiness ต้องมี restore evidence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2468880" cy="106070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572768"/>
            <a:ext cx="2468880" cy="73152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41248" y="17922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&lt;4h</a:t>
            </a:r>
            <a:endParaRPr lang="en-US" sz="23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1248" y="21762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RTO target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841248" y="23957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restore service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91840" y="1572768"/>
            <a:ext cx="2468880" cy="106070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91840" y="1572768"/>
            <a:ext cx="2468880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74720" y="17922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&lt;1h</a:t>
            </a:r>
            <a:endParaRPr lang="en-US" sz="23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74720" y="21762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RPO target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74720" y="23957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data loss window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25312" y="1572768"/>
            <a:ext cx="2468880" cy="106070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25312" y="1572768"/>
            <a:ext cx="2468880" cy="7315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108192" y="17922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3B6D11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Daily</a:t>
            </a:r>
            <a:endParaRPr lang="en-US" sz="23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08192" y="21762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Full backup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08192" y="23957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SQL Server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558784" y="1572768"/>
            <a:ext cx="2468880" cy="106070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558784" y="1572768"/>
            <a:ext cx="2468880" cy="73152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741664" y="17922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67A6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Hourly</a:t>
            </a:r>
            <a:endParaRPr lang="en-US" sz="23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741664" y="21762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Log/Incremental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741664" y="23957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where possible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58368" y="3218688"/>
            <a:ext cx="51663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58368" y="3218688"/>
            <a:ext cx="64008" cy="105156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86968" y="3401568"/>
            <a:ext cx="4773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Restore drill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86968" y="3730752"/>
            <a:ext cx="4773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ทดสอบ restore ไป staging และเปิด app อ่านข้อมูลได้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19088" y="3218688"/>
            <a:ext cx="51663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19088" y="3218688"/>
            <a:ext cx="64008" cy="105156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647688" y="3401568"/>
            <a:ext cx="4773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TruckScale backup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647688" y="3730752"/>
            <a:ext cx="4773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MySQL provider backup + export schedule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+ charset verification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58368" y="5047488"/>
            <a:ext cx="10881360" cy="566928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FCE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22960" y="5212080"/>
            <a:ext cx="219456" cy="219456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22960" y="5230368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33856" y="5193792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A32D2D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Backup ที่ไม่เคย restore = ยังไม่ถือว่าเป็น backup ที่ใช้งานได้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10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10 · MONITORING AND INCIDENT RESPONSE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ต้องเห็นปัญหาก่อน user โทรหา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ขั้นต่ำควรมี centralized logs, alert และ incident owner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55448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554480"/>
            <a:ext cx="64008" cy="105156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86968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Health checks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6968" y="2066544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SQL + MySQL + API + auth status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25696" y="155448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25696" y="1554480"/>
            <a:ext cx="64008" cy="1051560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54296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Centralized logs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54296" y="2066544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5xx, DB timeout, failed login,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migration error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93024" y="155448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93024" y="1554480"/>
            <a:ext cx="64008" cy="105156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21624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Alerts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21624" y="2066544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LINE/Email/Slack สำหรับ P0/P1 incident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3383280"/>
            <a:ext cx="2073859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8368" y="3383280"/>
            <a:ext cx="2073859" cy="7315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8096" y="358444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Detect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8096" y="3895344"/>
            <a:ext cx="18544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alert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50515" y="388620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860243" y="3383280"/>
            <a:ext cx="2073859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860243" y="3383280"/>
            <a:ext cx="2073859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969971" y="358444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Triage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969971" y="3895344"/>
            <a:ext cx="18544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severity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952390" y="388620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062118" y="3383280"/>
            <a:ext cx="2073859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62118" y="3383280"/>
            <a:ext cx="2073859" cy="73152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171846" y="358444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Contain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171846" y="3895344"/>
            <a:ext cx="18544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rollback/fallback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154266" y="388620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263994" y="3383280"/>
            <a:ext cx="2073859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263994" y="3383280"/>
            <a:ext cx="2073859" cy="7315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373722" y="358444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Fix</a:t>
            </a:r>
            <a:endParaRPr lang="en-US" sz="1600" dirty="0">
              <a:latin typeface="Prompt" panose="00000500000000000000" pitchFamily="2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373722" y="3895344"/>
            <a:ext cx="18544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deploy/data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356141" y="388620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465869" y="3383280"/>
            <a:ext cx="2073859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465869" y="3383280"/>
            <a:ext cx="2073859" cy="73152"/>
          </a:xfrm>
          <a:prstGeom prst="rect">
            <a:avLst/>
          </a:prstGeom>
          <a:solidFill>
            <a:srgbClr val="6D4C9B"/>
          </a:solidFill>
          <a:ln w="12700">
            <a:solidFill>
              <a:srgbClr val="6D4C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575597" y="358444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Review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575597" y="3895344"/>
            <a:ext cx="18544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RCA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58368" y="5166360"/>
            <a:ext cx="10881360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22960" y="5330952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22960" y="534924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133856" y="5312664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Incident record ต้องมีเวลาเริ่ม/จบ, impact, cause, action และ prevention.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11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11 · TRUCKSCALE OPERATIONS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TruckScale เป็น read-only evidence source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ต้องจัดการ network, charset, date conversion และ matching rule</a:t>
            </a:r>
            <a:endParaRPr lang="en-US" sz="1100" dirty="0">
              <a:latin typeface="Prompt" panose="00000500000000000000" pitchFamily="2" charset="-34"/>
            </a:endParaRPr>
          </a:p>
        </p:txBody>
      </p:sp>
      <p:pic>
        <p:nvPicPr>
          <p:cNvPr id="6" name="Image 0" descr="/mnt/data/WorldFert_WSSaleApp_v7_Winable_Package/05-UI-SCREENSHOTS/09-truckscale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26464"/>
            <a:ext cx="5623560" cy="3163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" y="4206240"/>
            <a:ext cx="5623560" cy="38404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8" name="Text 5"/>
          <p:cNvSpPr/>
          <p:nvPr/>
        </p:nvSpPr>
        <p:spPr>
          <a:xfrm>
            <a:off x="786384" y="4297680"/>
            <a:ext cx="5367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TruckScale architecture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629400" y="1554480"/>
            <a:ext cx="4663440" cy="8412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629400" y="1554480"/>
            <a:ext cx="64008" cy="84124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858000" y="1737360"/>
            <a:ext cx="4270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Connectivity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858000" y="2066544"/>
            <a:ext cx="4270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MYSQL_* env, firewall/tunnel/VPN, /truckscale/ping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629400" y="2615184"/>
            <a:ext cx="4663440" cy="8412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629400" y="2615184"/>
            <a:ext cx="64008" cy="84124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858000" y="2798064"/>
            <a:ext cx="4270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Data quality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858000" y="3127248"/>
            <a:ext cx="4270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date string + Excel serial, utf8/tis620, duplicate truck plates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629400" y="3675888"/>
            <a:ext cx="4663440" cy="8412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629400" y="3675888"/>
            <a:ext cx="64008" cy="84124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858000" y="3858768"/>
            <a:ext cx="4270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Matching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858000" y="4187952"/>
            <a:ext cx="4270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ทะเบียนรถเป็น key หลัก; movebill เป็นหลักฐานเสริม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629400" y="4956048"/>
            <a:ext cx="4663440" cy="566928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FCE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793992" y="5120640"/>
            <a:ext cx="219456" cy="219456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793992" y="5138928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104888" y="5102352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A32D2D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ห้ามเขียนกลับ TruckScale จาก App ใน phase นี้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12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12 · TECHNICAL ADMIN CHECKLIST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Checklist ประจำสัปดาห์และก่อน release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ใช้เป็น operational control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49808" y="1481328"/>
            <a:ext cx="4892040" cy="4297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96112" y="1591056"/>
            <a:ext cx="210312" cy="210312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96112" y="1650492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43584" y="1623060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ตรวจ /api/health และ TruckScale ping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90488" y="1481328"/>
            <a:ext cx="4892040" cy="4297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36792" y="1591056"/>
            <a:ext cx="210312" cy="210312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36792" y="1650492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84264" y="1623060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review failed login / 5xx / DB timeout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9808" y="2139696"/>
            <a:ext cx="4892040" cy="4297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96112" y="2249424"/>
            <a:ext cx="210312" cy="210312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96112" y="2308860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43584" y="2281428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backup completed + restore drill schedule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90488" y="2139696"/>
            <a:ext cx="4892040" cy="4297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36792" y="2249424"/>
            <a:ext cx="210312" cy="210312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36792" y="2308860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84264" y="2281428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review new migrations and checksum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49808" y="2798064"/>
            <a:ext cx="4892040" cy="4297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96112" y="2907792"/>
            <a:ext cx="210312" cy="210312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96112" y="2967228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43584" y="2939796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review users and inactive accounts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190488" y="2798064"/>
            <a:ext cx="4892040" cy="4297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36792" y="2907792"/>
            <a:ext cx="210312" cy="210312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36792" y="2967228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84264" y="2939796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confirm secrets rotation status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49808" y="3456432"/>
            <a:ext cx="4892040" cy="4297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96112" y="3566160"/>
            <a:ext cx="210312" cy="210312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96112" y="3625596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243584" y="3598164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export critical reports for audit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190488" y="3456432"/>
            <a:ext cx="4892040" cy="4297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36792" y="3566160"/>
            <a:ext cx="210312" cy="210312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336792" y="3625596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684264" y="3598164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update release notes and known issues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49808" y="5321808"/>
            <a:ext cx="10378440" cy="566928"/>
          </a:xfrm>
          <a:prstGeom prst="roundRect">
            <a:avLst/>
          </a:prstGeom>
          <a:solidFill>
            <a:srgbClr val="EAF3DE"/>
          </a:solidFill>
          <a:ln w="12700">
            <a:solidFill>
              <a:srgbClr val="EAF3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14400" y="5486400"/>
            <a:ext cx="219456" cy="219456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14400" y="5504688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225296" y="5468112"/>
            <a:ext cx="9774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3B6D11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Admin checklist ควรถูกเก็บเป็นหลักฐาน ISO/Operations ไม่ใช่ทำแบบไม่บันทึก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13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1120</Words>
  <Application>Microsoft Office PowerPoint</Application>
  <PresentationFormat>Widescreen</PresentationFormat>
  <Paragraphs>267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Prompt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World Fert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WS-Sale-App v7 | Technical Admin Training</dc:title>
  <dc:subject>Training</dc:subject>
  <dc:creator>World Fert Co., Ltd. / Thirayu Meererksom</dc:creator>
  <cp:lastModifiedBy>Thirayu Meererksom</cp:lastModifiedBy>
  <cp:revision>8</cp:revision>
  <dcterms:created xsi:type="dcterms:W3CDTF">2026-06-28T03:10:39Z</dcterms:created>
  <dcterms:modified xsi:type="dcterms:W3CDTF">2026-06-29T16:48:37Z</dcterms:modified>
</cp:coreProperties>
</file>