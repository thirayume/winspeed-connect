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07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CONFIDENTIAL · PROGRESS REPORT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5104" y="648945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" y="566928"/>
            <a:ext cx="2697480" cy="265176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944" y="621792"/>
            <a:ext cx="2551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PROGRESS REPORT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37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รายงานความก้าวหน้าโครงการ</a:t>
            </a: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 </a:t>
            </a:r>
            <a:b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</a:b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WS-Sale-App</a:t>
            </a:r>
            <a:endParaRPr lang="en-US" sz="31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สถานะล่าสุดของ Scope · Build · Quality Gate · Go-Live Readiness</a:t>
            </a:r>
            <a:endParaRPr lang="en-US" sz="132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5833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Progress Report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3568" y="1280160"/>
            <a:ext cx="548640" cy="5486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73568" y="145389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77072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7264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SCOPE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1544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Confirmed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42832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42832" y="145389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96528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BUILD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5080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v4.2.17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12096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12096" y="145389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0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TEST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20072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UAT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881360" y="1280160"/>
            <a:ext cx="548640" cy="5486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81360" y="145389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35056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GATE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89336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Pilot</a:t>
            </a:r>
            <a:endParaRPr lang="en-US" sz="1200" dirty="0">
              <a:latin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EXECUTIVE STATUS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ระบบพร้อม Soft Launch / Pilot แต่ยังไม่ควร Full Production จนปิด P0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ฟีเจอร์หลักครบตาม SRS แต่ต้อง hardening ด้าน Security, Operations และ Accounting Control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468880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7739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90%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1579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Feature readiness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17 หน้า/โมดูลหลัก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18688" y="1554480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18688" y="1554480"/>
            <a:ext cx="2468880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01568" y="17739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55%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01568" y="21579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Operations / Security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01568" y="237744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ต้องปิด P0/P1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888736" y="1554480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888736" y="1554480"/>
            <a:ext cx="2468880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71616" y="17739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1767A6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19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71616" y="21579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Migrations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71616" y="237744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wf schema + views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558784" y="1554480"/>
            <a:ext cx="2468880" cy="1060704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58784" y="1554480"/>
            <a:ext cx="2468880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741664" y="17739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23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741664" y="21579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Data sources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741664" y="237744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WINSpeed · wf · TruckScale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48640" y="3063240"/>
            <a:ext cx="3401568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64008" cy="12344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324612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Green: Delivered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77240" y="3575304"/>
            <a:ext cx="3008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SO lifecycle, Rebate Plan, FIFO Ledger, Paper Trail, Giveaway, Control Ticket, TruckScale lookup, Reports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389120" y="3063240"/>
            <a:ext cx="3401568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389120" y="3063240"/>
            <a:ext cx="64008" cy="1234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17720" y="324612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Amber: Pilot controls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17720" y="3575304"/>
            <a:ext cx="3008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Manual UAT, dual-run, reconciliation, backup/restore test, user training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29600" y="3063240"/>
            <a:ext cx="3401568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0" y="3063240"/>
            <a:ext cx="64008" cy="123444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58200" y="3246120"/>
            <a:ext cx="3008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Red: P0 before Full Prod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58200" y="3575304"/>
            <a:ext cx="3008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Secret rotation, least privilege DB users, dbo write boundary validation, GL reconciliation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11082528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13232" y="514807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13232" y="51663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24128" y="5129784"/>
            <a:ext cx="10479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Recommended decision: อนุมัติ Pilot แบบควบคุมวงแคบ พร้อม Go/No-Go Gate หลัง dual-run 2–4 สัปดาห์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5488" y="6181344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80" i="1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Status is based on documentation pack and production readiness assessment.</a:t>
            </a:r>
            <a:endParaRPr lang="en-US" sz="680" dirty="0">
              <a:latin typeface="Prompt" panose="00000500000000000000" pitchFamily="2" charset="-34"/>
            </a:endParaRPr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DELIVERY TIMELINE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จาก Requirement กระจัดกระจาย → Build ที่ตรวจสอบกับฐานข้อมูลจริง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ทุก phase ขยับจาก assumption ไปสู่ verified implementation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26464"/>
            <a:ext cx="160020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58952" y="1591056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71016" y="168714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Initial scope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2066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เก็บความต้องการจากโรงงาน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21992" y="2103120"/>
            <a:ext cx="228600" cy="0"/>
          </a:xfrm>
          <a:prstGeom prst="line">
            <a:avLst/>
          </a:prstGeom>
          <a:noFill/>
          <a:ln w="1397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468880" y="1426464"/>
            <a:ext cx="160020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633472" y="1591056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633472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145536" y="168714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Field evidence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51760" y="2066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Rebate, price book, giveaway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096512" y="2103120"/>
            <a:ext cx="228600" cy="0"/>
          </a:xfrm>
          <a:prstGeom prst="line">
            <a:avLst/>
          </a:prstGeom>
          <a:noFill/>
          <a:ln w="1397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343400" y="1426464"/>
            <a:ext cx="160020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07992" y="1591056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07992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020056" y="168714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Design pack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526280" y="2066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SRS + diagrams + UI/UX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71032" y="2103120"/>
            <a:ext cx="228600" cy="0"/>
          </a:xfrm>
          <a:prstGeom prst="line">
            <a:avLst/>
          </a:prstGeom>
          <a:noFill/>
          <a:ln w="1397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17920" y="1426464"/>
            <a:ext cx="160020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382512" y="1591056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82512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03136" y="1687144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Production build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0" y="2066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Express + SQL Server + JWT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45552" y="2103120"/>
            <a:ext cx="228600" cy="0"/>
          </a:xfrm>
          <a:prstGeom prst="line">
            <a:avLst/>
          </a:prstGeom>
          <a:noFill/>
          <a:ln w="1397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092440" y="1426464"/>
            <a:ext cx="160020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57032" y="1591056"/>
            <a:ext cx="384048" cy="384048"/>
          </a:xfrm>
          <a:prstGeom prst="ellipse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57032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686800" y="1687144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</a:t>
            </a: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 LIVE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75320" y="2066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MySQL pool + weight lookup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720072" y="2103120"/>
            <a:ext cx="228600" cy="0"/>
          </a:xfrm>
          <a:prstGeom prst="line">
            <a:avLst/>
          </a:prstGeom>
          <a:noFill/>
          <a:ln w="1397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966960" y="1426464"/>
            <a:ext cx="1600200" cy="135331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131552" y="1591056"/>
            <a:ext cx="384048" cy="384048"/>
          </a:xfrm>
          <a:prstGeom prst="ellipse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131552" y="17282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550628" y="1687144"/>
            <a:ext cx="95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Enterprise docs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149840" y="206654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handover + winable package</a:t>
            </a:r>
            <a:endParaRPr lang="en-US" sz="1200" dirty="0">
              <a:latin typeface="Prompt" panose="00000500000000000000" pitchFamily="2" charset="-34"/>
            </a:endParaRPr>
          </a:p>
        </p:txBody>
      </p:sp>
      <p:pic>
        <p:nvPicPr>
          <p:cNvPr id="41" name="Image 0" descr="/mnt/data/WorldFert_WSSaleApp_v7_Winable_Package/05-UI-SCREENSHOTS/10-implementation-up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932" y="2958009"/>
            <a:ext cx="8458200" cy="3899990"/>
          </a:xfrm>
          <a:prstGeom prst="rect">
            <a:avLst/>
          </a:prstGeom>
        </p:spPr>
      </p:pic>
      <p:sp>
        <p:nvSpPr>
          <p:cNvPr id="42" name="Shape 39"/>
          <p:cNvSpPr/>
          <p:nvPr/>
        </p:nvSpPr>
        <p:spPr>
          <a:xfrm>
            <a:off x="1741932" y="5413248"/>
            <a:ext cx="845820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993392" y="5120640"/>
            <a:ext cx="8202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Implementation update evidence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SCOPE DELIVERED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ฟังก์ชันที่ส่งมอบครอบคลุม 6 capability หลักของงานขายและโรงงาน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ชุดนี้เป็น operational platform ไม่ใช่แค่หน้า key order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1792" y="1591056"/>
            <a:ext cx="3310128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1792" y="1591056"/>
            <a:ext cx="64008" cy="1133856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0392" y="17739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SO Lifecycle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0392" y="21031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Draft → Verified → Confirmed → Picking → Shipped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591056"/>
            <a:ext cx="3310128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591056"/>
            <a:ext cx="64008" cy="113385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17739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FIFO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21031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Plan, Pool, Ledger, Claim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  <a:b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</a:b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CN evidence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56448" y="1591056"/>
            <a:ext cx="3310128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56448" y="1591056"/>
            <a:ext cx="64008" cy="113385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85048" y="17739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 Ticket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85048" y="21031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ยอดคงเหลือและประวัติตัดเฉพาะชุด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" y="3191256"/>
            <a:ext cx="3310128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" y="3191256"/>
            <a:ext cx="64008" cy="1133856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039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0392" y="37033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เอกสาร 4 สี + QR scan + lost alert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89120" y="3191256"/>
            <a:ext cx="3310128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89120" y="3191256"/>
            <a:ext cx="64008" cy="1133856"/>
          </a:xfrm>
          <a:prstGeom prst="rect">
            <a:avLst/>
          </a:prstGeom>
          <a:solidFill>
            <a:srgbClr val="00A6B8"/>
          </a:solidFill>
          <a:ln w="12700">
            <a:solidFill>
              <a:srgbClr val="00A6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17720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17720" y="37033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Lookup น้ำหนักด้วยทะเบียน / movebill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56448" y="3191256"/>
            <a:ext cx="3310128" cy="113385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56448" y="3191256"/>
            <a:ext cx="64008" cy="1133856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385048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Admin &amp; Reports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385048" y="3703320"/>
            <a:ext cx="29169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RBAC, price book, Excel, dashboard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" y="5047488"/>
            <a:ext cx="1097280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86384" y="5212080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86384" y="523036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97280" y="5193792"/>
            <a:ext cx="10369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Scope coverage now maps to pages, endpoints, SQL sources, migrations and UAT cases.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ARCHITECTURE STATUS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โครงสร้างระบบจริง: React + Express + SQL Server + MySQL TruckScale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ออกแบบให้ App เป็น operational layer ที่มี data boundary ชัด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572768"/>
            <a:ext cx="10991088" cy="1024128"/>
          </a:xfrm>
          <a:prstGeom prst="roundRect">
            <a:avLst/>
          </a:prstGeom>
          <a:solidFill>
            <a:srgbClr val="0C447C"/>
          </a:solidFill>
          <a:ln w="762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911096"/>
            <a:ext cx="4663440" cy="42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Frontend: React 19 + Vite + Tablet-first UI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94360" y="2944368"/>
            <a:ext cx="10991088" cy="10058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28416"/>
            <a:ext cx="91594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Backend: Express API · JWT · Socket.IO · SQL Server dual pool · MySQL pool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4360" y="4352544"/>
            <a:ext cx="507492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536" y="4663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 SQL Server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9536" y="495604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dbo read + controlled writes / wf read-write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10528" y="4352544"/>
            <a:ext cx="507492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84848" y="46634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TruckScale MySQL</a:t>
            </a:r>
            <a:endParaRPr lang="en-US" sz="13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84848" y="4956048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read-only weight evidence / separate pool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9904" y="2596896"/>
            <a:ext cx="0" cy="329184"/>
          </a:xfrm>
          <a:prstGeom prst="line">
            <a:avLst/>
          </a:prstGeom>
          <a:noFill/>
          <a:ln w="17780">
            <a:solidFill>
              <a:srgbClr val="1767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0" y="3950208"/>
            <a:ext cx="0" cy="393192"/>
          </a:xfrm>
          <a:prstGeom prst="line">
            <a:avLst/>
          </a:prstGeom>
          <a:noFill/>
          <a:ln w="17780">
            <a:solidFill>
              <a:srgbClr val="1767A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42832" y="3950208"/>
            <a:ext cx="0" cy="393192"/>
          </a:xfrm>
          <a:prstGeom prst="line">
            <a:avLst/>
          </a:prstGeom>
          <a:noFill/>
          <a:ln w="17780">
            <a:solidFill>
              <a:srgbClr val="3B6D1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4360" y="5687568"/>
            <a:ext cx="10991088" cy="566928"/>
          </a:xfrm>
          <a:prstGeom prst="roundRect">
            <a:avLst/>
          </a:prstGeom>
          <a:solidFill>
            <a:srgbClr val="E6F1FB"/>
          </a:solidFill>
          <a:ln w="12700">
            <a:solidFill>
              <a:srgbClr val="E6F1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8952" y="5852160"/>
            <a:ext cx="219456" cy="219456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952" y="587044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69848" y="5833872"/>
            <a:ext cx="10387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0C447C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Known improvement: add centralized logging, Sentry/Logtail, CI/CD checks, schema migration tracking and health dashboard.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UI AND MODULE EVIDENCE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หน้าจอหลักพร้อมใช้งานสำหรับ Pilot และ Training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UI ควรใช้เป็น guide สำหรับ demo flow ไม่ใช่ภาพตกแต่ง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94960" cy="3081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5303520" cy="29900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4114800"/>
            <a:ext cx="530352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22376" y="4206240"/>
            <a:ext cx="5047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Dashboard: daily control room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394960" cy="30815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10" name="Image 1" descr="/mnt/data/WorldFert_WSSaleApp_v7_Winable_Package/05-UI-SCREENSHOTS/02-sales-p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1508760"/>
            <a:ext cx="5303520" cy="29900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91072" y="4114800"/>
            <a:ext cx="530352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19088" y="4206240"/>
            <a:ext cx="5047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POS: create and confirm SO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4360" y="4800600"/>
            <a:ext cx="3438144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94360" y="4800600"/>
            <a:ext cx="64008" cy="82296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2960" y="49834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Operational visibility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22960" y="5227425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ตั๋วคงค้าง, รถในโรงงาน, Rebate pool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</a:t>
            </a: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status aging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4370832" y="4800600"/>
            <a:ext cx="3438144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4370832" y="4800600"/>
            <a:ext cx="64008" cy="8229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599432" y="49834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Data entry control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599432" y="5227425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ค้นหาลูกค้า/สินค้า/ราคา/ของแถม/</a:t>
            </a:r>
            <a:r>
              <a:rPr lang="en-US" sz="11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ตั๋วคุม</a:t>
            </a:r>
            <a:endParaRPr lang="en-US" sz="1100" dirty="0">
              <a:solidFill>
                <a:srgbClr val="334155"/>
              </a:solidFill>
              <a:latin typeface="Prompt" panose="00000500000000000000" pitchFamily="2" charset="-34"/>
              <a:ea typeface="Noto Sans Thai" pitchFamily="34" charset="-122"/>
              <a:cs typeface="Prompt" panose="00000500000000000000" pitchFamily="2" charset="-34"/>
            </a:endParaRP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ได้ใน</a:t>
            </a: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flow เดียว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8147304" y="4800600"/>
            <a:ext cx="3438144" cy="82296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47304" y="4800600"/>
            <a:ext cx="64008" cy="8229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8375904" y="498348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Training priority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8375904" y="5227425"/>
            <a:ext cx="3044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Counter Sales และ Sales Rep </a:t>
            </a:r>
            <a:r>
              <a:rPr lang="en-US" sz="11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ต้องเข้าใจ</a:t>
            </a: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Verification Gate ก่อน Confirm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UAT READINESS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Test pack ครอบคลุม critical paths ตั้งแต่ Auth ถึง Integration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เกณฑ์ผ่าน Go-Live กำหนดให้ critical TC ผ่าน 100%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810512"/>
            <a:ext cx="256032" cy="256032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70432" y="179222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TC-A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70432" y="20665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Auth &amp; RBAC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447288" y="162763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11880" y="1810512"/>
            <a:ext cx="256032" cy="256032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959352" y="179222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TC-B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959352" y="20665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/ SO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36208" y="162763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810512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48272" y="179222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TC-C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48272" y="20665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Verification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025128" y="162763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89720" y="1810512"/>
            <a:ext cx="256032" cy="25603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37192" y="179222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TC-D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537192" y="206654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Store + Weigh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295351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3136392"/>
            <a:ext cx="256032" cy="256032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70432" y="311810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TC-E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70432" y="33924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Unlock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447288" y="295351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11880" y="3136392"/>
            <a:ext cx="256032" cy="256032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959352" y="311810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TC-G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959352" y="33924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36208" y="295351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0" y="3136392"/>
            <a:ext cx="256032" cy="25603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748272" y="311810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TC-N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48272" y="33924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TruckScale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025128" y="2953512"/>
            <a:ext cx="233172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189720" y="3136392"/>
            <a:ext cx="256032" cy="25603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537192" y="3118104"/>
            <a:ext cx="1673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TC-P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537192" y="3392424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Integration / NFR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8368" y="4517136"/>
            <a:ext cx="10844784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22960" y="4681728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2960" y="4700016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33856" y="466344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Pilot pass criteria: TC-B/C/D/E/G/N/P critical = 100%, defects logged, owner assigned, evidence attached.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58368" y="5376672"/>
            <a:ext cx="5166360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8368" y="5376672"/>
            <a:ext cx="64008" cy="6400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86968" y="5458815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Current limitation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86968" y="5687262"/>
            <a:ext cx="477316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Manual test coverage exists;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automated regression should be added before scaling.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419088" y="5376672"/>
            <a:ext cx="5084064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19088" y="5376672"/>
            <a:ext cx="64008" cy="6400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647688" y="5458815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Recommended next step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647688" y="5687262"/>
            <a:ext cx="4690872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Create smoke test script for login, SO draft, verification, 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ship, rebate ledger.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PRODUCTION READINESS GATE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P0/P1/P2 ทำให้การขึ้นระบบไม่ใช่แค่ “deploy สำเร็จ”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Full Production ต้องผ่าน security, operations และ accounting evidence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2624328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572768"/>
            <a:ext cx="2624328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1773936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</a:t>
            </a:r>
            <a:endParaRPr lang="en-US" sz="102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2084832"/>
            <a:ext cx="2404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ก่อน Full Production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82696" y="214426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92424" y="1572768"/>
            <a:ext cx="2624328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392424" y="1572768"/>
            <a:ext cx="2624328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02152" y="1773936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P1</a:t>
            </a:r>
            <a:endParaRPr lang="en-US" sz="102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02152" y="2084832"/>
            <a:ext cx="2404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ก่อน/ระหว่าง Pilot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214426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44768" y="1572768"/>
            <a:ext cx="2624328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44768" y="1572768"/>
            <a:ext cx="2624328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54496" y="1773936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P2</a:t>
            </a:r>
            <a:endParaRPr lang="en-US" sz="102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54496" y="2084832"/>
            <a:ext cx="2404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หลัง Stabilize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87384" y="214426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897112" y="1572768"/>
            <a:ext cx="2624328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897112" y="1572768"/>
            <a:ext cx="2624328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006840" y="1773936"/>
            <a:ext cx="2404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Go/No-Go</a:t>
            </a:r>
            <a:endParaRPr lang="en-US" sz="102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06840" y="2084832"/>
            <a:ext cx="24048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อนุมัติขยายผล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3337560" cy="1417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3063240"/>
            <a:ext cx="64008" cy="14173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68680" y="32461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 — Security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68680" y="3575304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Rotate all secrets, replace SA/root, generate strong JWT secret, verify .env is not committed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407408" y="3063240"/>
            <a:ext cx="3337560" cy="1417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407408" y="3063240"/>
            <a:ext cx="64008" cy="14173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636008" y="32461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 — Accounting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636008" y="3575304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Dual-run 2–4 weeks, reconcile SO → Invoice → GL, verify no duplicate or skipped numbering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174736" y="3063240"/>
            <a:ext cx="3337560" cy="14173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174736" y="3063240"/>
            <a:ext cx="64008" cy="14173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03336" y="324612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P1 — Operations</a:t>
            </a:r>
            <a:endParaRPr lang="en-US" sz="123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403336" y="3575304"/>
            <a:ext cx="29443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Backup/restore test, health check, monitoring, CORS lock-down, rate limit/helmet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" y="5084064"/>
            <a:ext cx="1088136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4672" y="5248656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4672" y="5266944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15568" y="5230368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Management ask approve Pilot only after P0 plan owner/date is agreed.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RISK REGISTER SUMMARY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ความเสี่ยงหลักอยู่ที่ boundary กับระบบเดิม ไม่ใช่ UI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ควบคุมด้วย pilot scope, reconciliation และ rollback process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536192"/>
            <a:ext cx="1088136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594360" cy="265176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41832" y="1755648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2D2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19072" y="174193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R1 · Credentials exposure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19088" y="17419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rotate + least privilege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340864"/>
            <a:ext cx="1088136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8680" y="2496312"/>
            <a:ext cx="594360" cy="265176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41832" y="2560320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32D2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P0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19072" y="2546604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R2 · dbo direct-write side effect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19088" y="254660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dual-run + reconciliation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3145536"/>
            <a:ext cx="1088136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3300984"/>
            <a:ext cx="594360" cy="265176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1832" y="3364992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19072" y="3351276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R3 · TruckScale data quality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19088" y="3351276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canonical source + matching rule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" y="3950208"/>
            <a:ext cx="1088136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4105656"/>
            <a:ext cx="594360" cy="265176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41832" y="4169664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19072" y="41559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R4 · User adoption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19088" y="41559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role-based training + checklist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0881360" cy="56692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8680" y="4910328"/>
            <a:ext cx="594360" cy="265176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1832" y="4974336"/>
            <a:ext cx="448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719072" y="496062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R5 · Monitoring gap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19088" y="496062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centralized logs + alert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04672" y="57424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04672" y="57607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15568" y="572414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Risk posture is acceptable for controlled pilot, not for unrestricted production before P0 closure.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NEXT 30 DAYS PLAN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แผนที่ทำให้ Pilot มีหลักฐานเพียงพอสำหรับตัดสินใจ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เน้น stability, security and business acceptance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94944" y="1737360"/>
            <a:ext cx="2423160" cy="19933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9536" y="1901952"/>
            <a:ext cx="384048" cy="38404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20391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71600" y="199339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Security gate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7824" y="2377440"/>
            <a:ext cx="205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rotate secrets, DB least privilege, CORS, health check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83864" y="1737360"/>
            <a:ext cx="2423160" cy="19933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48456" y="1901952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648456" y="20391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60520" y="199339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Pilot UAT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66744" y="2377440"/>
            <a:ext cx="205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train users, run critical test cases, fix defects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72784" y="1737360"/>
            <a:ext cx="2423160" cy="19933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37376" y="190195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37376" y="20391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49440" y="199339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Dual-run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55664" y="2377440"/>
            <a:ext cx="205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compare app orders vs WINSpeed invoice/GL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61704" y="1737360"/>
            <a:ext cx="2423160" cy="199339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26296" y="1901952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26296" y="20391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38360" y="1993392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Go/No-Go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44584" y="2377440"/>
            <a:ext cx="2057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sign-off, release checklist, support model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4944" y="4846320"/>
            <a:ext cx="1083564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59536" y="501091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9536" y="50292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0432" y="4992624"/>
            <a:ext cx="10232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Target output: signed UAT, reconciliation report, release notes, support runbook, pilot closure minutes.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4048" y="155448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แผนการพัฒนา v6 — Timeline 20 พ.ค. – 31 ก.ค. 2569</a:t>
            </a:r>
            <a:endParaRPr lang="en-US" sz="13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คืบหน้า 65% · เกินแผน 20%</a:t>
            </a:r>
            <a:endParaRPr lang="en-US" sz="88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9184" y="749808"/>
            <a:ext cx="27432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912" y="85953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65%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8912" y="118872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คืบหน้าจริง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236976" y="749808"/>
            <a:ext cx="27432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46704" y="85953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32D2D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+20%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46704" y="118872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เกินแผน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44768" y="749808"/>
            <a:ext cx="27432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54496" y="85953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30 มิ.ย.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254496" y="118872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Frontend เสร็จ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52560" y="749808"/>
            <a:ext cx="2743200" cy="658368"/>
          </a:xfrm>
          <a:prstGeom prst="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21824" y="859536"/>
            <a:ext cx="420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79024" y="85953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ก.ค.</a:t>
            </a:r>
            <a:endParaRPr lang="en-US" sz="19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62288" y="1188720"/>
            <a:ext cx="2523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Go-Live</a:t>
            </a:r>
            <a:endParaRPr lang="en-US" sz="85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01568" y="1737360"/>
            <a:ext cx="0" cy="4517136"/>
          </a:xfrm>
          <a:prstGeom prst="line">
            <a:avLst/>
          </a:prstGeom>
          <a:noFill/>
          <a:ln w="7620">
            <a:solidFill>
              <a:srgbClr val="D8DEE8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01568" y="181051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พ.ค. 2569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35068" y="1737360"/>
            <a:ext cx="0" cy="4517136"/>
          </a:xfrm>
          <a:prstGeom prst="line">
            <a:avLst/>
          </a:prstGeom>
          <a:noFill/>
          <a:ln w="7620">
            <a:solidFill>
              <a:srgbClr val="D8DEE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35068" y="181051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มิ.ย. 2569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068818" y="1737360"/>
            <a:ext cx="0" cy="4517136"/>
          </a:xfrm>
          <a:prstGeom prst="line">
            <a:avLst/>
          </a:prstGeom>
          <a:noFill/>
          <a:ln w="7620">
            <a:solidFill>
              <a:srgbClr val="D8DEE8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053261" y="1810512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780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ก.ค. 2569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29184" y="2185416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เก็บ Requirement &amp; SRS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10896" y="2487168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01568" y="2139696"/>
            <a:ext cx="1222375" cy="329184"/>
          </a:xfrm>
          <a:prstGeom prst="round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74720" y="2249424"/>
            <a:ext cx="1076071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9184" y="2715768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DB Schema + Auth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0896" y="3017520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68318" y="2670048"/>
            <a:ext cx="1333500" cy="329184"/>
          </a:xfrm>
          <a:prstGeom prst="round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141470" y="2779776"/>
            <a:ext cx="11871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29184" y="3246120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SO State Machine (Frontend+API)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10896" y="3547872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35068" y="3200400"/>
            <a:ext cx="1666875" cy="329184"/>
          </a:xfrm>
          <a:prstGeom prst="round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08220" y="3310128"/>
            <a:ext cx="1520571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29184" y="3776472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FIFO Engine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10896" y="4078224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24068" y="3730752"/>
            <a:ext cx="1666875" cy="329184"/>
          </a:xfrm>
          <a:prstGeom prst="round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697220" y="3840480"/>
            <a:ext cx="1520571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60%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9184" y="4306824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Trail + Unlock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10896" y="4608576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513068" y="4261104"/>
            <a:ext cx="1000125" cy="329184"/>
          </a:xfrm>
          <a:prstGeom prst="round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586220" y="4370832"/>
            <a:ext cx="853821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40%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9184" y="4837176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Frontend UI (ไม่เชื่อม WS)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10896" y="5138928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735318" y="4791456"/>
            <a:ext cx="1222375" cy="329184"/>
          </a:xfrm>
          <a:prstGeom prst="round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808470" y="4901184"/>
            <a:ext cx="1076071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35%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29184" y="5367528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WINSpeed Integration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10896" y="5669280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068818" y="5321808"/>
            <a:ext cx="1778000" cy="329184"/>
          </a:xfrm>
          <a:prstGeom prst="roundRect">
            <a:avLst/>
          </a:prstGeom>
          <a:solidFill>
            <a:srgbClr val="7DB4EA"/>
          </a:solidFill>
          <a:ln w="12700">
            <a:solidFill>
              <a:srgbClr val="7DB4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141970" y="5431536"/>
            <a:ext cx="1631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แผน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29184" y="5897880"/>
            <a:ext cx="2697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UAT + Go-Live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10896" y="6199632"/>
            <a:ext cx="11256264" cy="0"/>
          </a:xfrm>
          <a:prstGeom prst="line">
            <a:avLst/>
          </a:prstGeom>
          <a:noFill/>
          <a:ln w="5080">
            <a:solidFill>
              <a:srgbClr val="EEEDE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0513568" y="5852160"/>
            <a:ext cx="889000" cy="329184"/>
          </a:xfrm>
          <a:prstGeom prst="roundRect">
            <a:avLst/>
          </a:prstGeom>
          <a:solidFill>
            <a:srgbClr val="7DB4EA"/>
          </a:solidFill>
          <a:ln w="12700">
            <a:solidFill>
              <a:srgbClr val="7DB4E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586720" y="5961888"/>
            <a:ext cx="7426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แผน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066734" y="1572768"/>
            <a:ext cx="0" cy="4142232"/>
          </a:xfrm>
          <a:prstGeom prst="line">
            <a:avLst/>
          </a:prstGeom>
          <a:noFill/>
          <a:ln w="12700">
            <a:solidFill>
              <a:srgbClr val="3B6D11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7957693" y="1508760"/>
            <a:ext cx="19805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Frontend</a:t>
            </a:r>
            <a:r>
              <a:rPr lang="en-US" sz="1400" dirty="0">
                <a:latin typeface="Prompt" panose="00000500000000000000" pitchFamily="2" charset="-34"/>
              </a:rPr>
              <a:t> </a:t>
            </a:r>
            <a:r>
              <a:rPr lang="en-US" sz="1400" b="1" dirty="0">
                <a:solidFill>
                  <a:srgbClr val="3B6D11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Complete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1402568" y="1572768"/>
            <a:ext cx="0" cy="4791456"/>
          </a:xfrm>
          <a:prstGeom prst="line">
            <a:avLst/>
          </a:prstGeom>
          <a:noFill/>
          <a:ln w="12700">
            <a:solidFill>
              <a:srgbClr val="0C447C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0780776" y="1545336"/>
            <a:ext cx="5486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Go-Live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11 · DECISION REQUIRED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ขออนุมัติ 4 เรื่องเพื่อเดินหน้า Pilot อย่างปลอดภัย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การตัดสินใจนี้แยกจาก Full Production approval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72768"/>
            <a:ext cx="51023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72768"/>
            <a:ext cx="64008" cy="9601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5564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1. Pilot scope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84832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เลือกกลุ่ม Sales / Counter / Warehouse / Accounting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ที่จะใช้งานจริงในรอบแรก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45936" y="1572768"/>
            <a:ext cx="51023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45936" y="1572768"/>
            <a:ext cx="64008" cy="9601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74536" y="1755648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2. Production gate owners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574536" y="2084832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มอบหมายเจ้าของ P0/P1 และวันที่ปิดรายการ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2816352"/>
            <a:ext cx="51023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" y="2816352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86968" y="29992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3. Dual-run period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86968" y="3328416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กำหนดช่วงเทียบข้อมูลกับ WINSpeed 2–4 สัปดาห์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45936" y="2816352"/>
            <a:ext cx="51023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345936" y="2816352"/>
            <a:ext cx="64008" cy="9601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74536" y="2999232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4. Support model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74536" y="3328416"/>
            <a:ext cx="4709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กำหนด L1/L2, escalation, incident channel, daily standup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" y="4709160"/>
            <a:ext cx="1078992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22960" y="487375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33856" y="4855464"/>
            <a:ext cx="10186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Recommended decision: approve Pilot with controlled scope and formal P0/P1 gate ownership.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1194</Words>
  <Application>Microsoft Office PowerPoint</Application>
  <PresentationFormat>Widescreen</PresentationFormat>
  <Paragraphs>255</Paragraphs>
  <Slides>12</Slides>
  <Notes>12</Notes>
  <HiddenSlides>5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Progress Report</dc:title>
  <dc:subject>Progress report</dc:subject>
  <dc:creator>World Fert Co., Ltd. / Thirayu Meererksom</dc:creator>
  <cp:lastModifiedBy>Thirayu Meererksom</cp:lastModifiedBy>
  <cp:revision>14</cp:revision>
  <dcterms:created xsi:type="dcterms:W3CDTF">2026-06-28T03:36:14Z</dcterms:created>
  <dcterms:modified xsi:type="dcterms:W3CDTF">2026-07-02T02:25:53Z</dcterms:modified>
</cp:coreProperties>
</file>