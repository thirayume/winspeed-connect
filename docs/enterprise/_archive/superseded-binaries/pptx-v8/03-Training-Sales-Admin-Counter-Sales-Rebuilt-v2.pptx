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903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WORLD FERT  |  WS-SALE-APP</a:t>
            </a:r>
            <a:endParaRPr lang="en-US" sz="65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55280" y="651052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CONFIDENTIAL · USER TRAINING</a:t>
            </a:r>
            <a:endParaRPr lang="en-US" sz="65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7293" y="648958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Prompt" panose="00000500000000000000" pitchFamily="2" charset="-34"/>
                <a:ea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Prompt" panose="00000500000000000000" pitchFamily="2" charset="-34"/>
                <a:ea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082E55"/>
          </a:solidFill>
          <a:ln w="12700">
            <a:solidFill>
              <a:srgbClr val="082E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1792" y="566928"/>
            <a:ext cx="2697480" cy="265176"/>
          </a:xfrm>
          <a:prstGeom prst="roundRect">
            <a:avLst/>
          </a:prstGeom>
          <a:solidFill>
            <a:srgbClr val="153F68"/>
          </a:solidFill>
          <a:ln w="12700">
            <a:solidFill>
              <a:srgbClr val="153F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4944" y="621792"/>
            <a:ext cx="2551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USER TRAINING · COUNTER SALES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537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Admin &amp; Counter Sales Training</a:t>
            </a:r>
            <a:endParaRPr lang="en-US" sz="3100" dirty="0">
              <a:latin typeface="Prompt" panose="00000500000000000000" pitchFamily="2" charset="-3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054096"/>
            <a:ext cx="150876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3346704"/>
            <a:ext cx="6355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วิธีตรวจคำสั่งซื้อ สร้าง SO พิมพ์เอกสาร และส่งงานให้โรงงานอย่างถูกต้อง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58338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7D9E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Training · Sales Admin / Counter Sales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73568" y="1280160"/>
            <a:ext cx="548640" cy="5486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73568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577072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27264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CREATE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81544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SO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942832" y="1280160"/>
            <a:ext cx="548640" cy="548640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942832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546336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96528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VERIFY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50808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Check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912096" y="1280160"/>
            <a:ext cx="548640" cy="548640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912096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515600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65792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PRINT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720072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QR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908792" y="1280160"/>
            <a:ext cx="548640" cy="5486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908792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712196" y="1984248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HANDOFF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716768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Factory</a:t>
            </a:r>
            <a:endParaRPr lang="en-US" sz="1400" dirty="0">
              <a:latin typeface="Prompt" panose="00000500000000000000" pitchFamily="2" charset="-34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BE09857-52C2-6525-8F75-A0047B84C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215" y="2734055"/>
            <a:ext cx="3616642" cy="36166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01 · WHAT YOU WILL LEARN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หลังจบ session นี้ต้องทำ 5 งานหลักได้ด้วยตนเอง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บทบาท Counter Sales คือ gatekeeper ก่อน order เข้าสู่โรงงาน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154680" cy="12984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04672" y="1719072"/>
            <a:ext cx="384048" cy="38404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4672" y="1856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16736" y="181051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สร้าง SO Draft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เลือกลูกค้า สินค้า ราคา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ทะเบียนรถ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  <a:endParaRPr lang="th-TH" sz="1200" dirty="0">
              <a:solidFill>
                <a:srgbClr val="334155"/>
              </a:solidFill>
              <a:latin typeface="Prompt" panose="00000500000000000000" pitchFamily="2" charset="-34"/>
              <a:ea typeface="Noto Sans Thai" pitchFamily="34" charset="-122"/>
              <a:cs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และวันส่ง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154680" cy="12984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07992" y="1719072"/>
            <a:ext cx="384048" cy="38404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07992" y="1856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0056" y="181051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ตรวจซ้ำก่อนยืนยัน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26280" y="219456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 Verification Gate </a:t>
            </a:r>
            <a:endParaRPr lang="th-TH" sz="1200" dirty="0">
              <a:solidFill>
                <a:srgbClr val="334155"/>
              </a:solidFill>
              <a:latin typeface="Prompt" panose="00000500000000000000" pitchFamily="2" charset="-34"/>
              <a:ea typeface="Noto Sans Thai" pitchFamily="34" charset="-122"/>
              <a:cs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และไม่ปล่อย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order ที่ยังไม่ครบ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154680" cy="12984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11312" y="1719072"/>
            <a:ext cx="384048" cy="38404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11312" y="1856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23376" y="181051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พิมพ์เอกสาร 4 สี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0" y="219456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สร้าง QR และ Paper Trail ให้ตามได้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3310128"/>
            <a:ext cx="3154680" cy="12984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4672" y="3474720"/>
            <a:ext cx="384048" cy="3840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4672" y="36118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16736" y="356616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จัดการตั๋วคุม/ของแถม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" y="395020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เลือกจากข้อมูลจริงและเห็นคงเหลือ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43400" y="3310128"/>
            <a:ext cx="3154680" cy="12984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07992" y="3474720"/>
            <a:ext cx="384048" cy="384048"/>
          </a:xfrm>
          <a:prstGeom prst="ellipse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07992" y="36118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5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20056" y="356616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รับมือแก้ไข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26280" y="395020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ขอ Unlock พร้อมเหตุผลและติดตามสถานะ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5376672"/>
            <a:ext cx="1088136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04672" y="5541264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04672" y="5559552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15568" y="5522976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Key rule: DRAFT ยังไม่ใช่ order ที่พร้อมส่งโรงงาน จนกว่าจะ “ตรวจแล้ว” และ Confirm ถูกต้อง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2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02 · DAILY WORKFLOW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ลำดับงานประจำวันของ Sales Admin / Counter Sales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เน้นลดการคีย์ซ้ำและลดความผิดพลาดก่อนโรงงานรับงาน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737360" cy="12252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1737360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6656" y="1828800"/>
            <a:ext cx="1517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รับ Order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" y="213969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จาก Sales / LINE / ลูกค้า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22576" y="224028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32304" y="1627632"/>
            <a:ext cx="1737360" cy="12252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32304" y="1627632"/>
            <a:ext cx="1737360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42032" y="1828800"/>
            <a:ext cx="1517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สร้าง Draft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42032" y="213969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กรอกข้อมูลหลัก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87952" y="224028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97680" y="1627632"/>
            <a:ext cx="1737360" cy="12252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97680" y="1627632"/>
            <a:ext cx="173736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07408" y="1828800"/>
            <a:ext cx="1517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ตรวจซ้ำ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07408" y="213969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กด Verified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53328" y="224028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63056" y="1627632"/>
            <a:ext cx="1737360" cy="12252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63056" y="1627632"/>
            <a:ext cx="1737360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72784" y="1828800"/>
            <a:ext cx="1517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Confirm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72784" y="213969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ตั้ง Rebate accrual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18704" y="224028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28432" y="1627632"/>
            <a:ext cx="1737360" cy="12252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28432" y="1627632"/>
            <a:ext cx="1737360" cy="73152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138160" y="1828800"/>
            <a:ext cx="1517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พิมพ์ 4 สี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138160" y="213969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Paper Trail + QR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784080" y="224028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893808" y="1627632"/>
            <a:ext cx="1737360" cy="12252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893808" y="1627632"/>
            <a:ext cx="1737360" cy="73152"/>
          </a:xfrm>
          <a:prstGeom prst="rect">
            <a:avLst/>
          </a:prstGeom>
          <a:solidFill>
            <a:srgbClr val="00A6B8"/>
          </a:solidFill>
          <a:ln w="12700">
            <a:solidFill>
              <a:srgbClr val="00A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003536" y="1828800"/>
            <a:ext cx="1517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ส่งโรงงาน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003536" y="213969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Warehouse รับงาน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76656" y="3154680"/>
            <a:ext cx="5596128" cy="3054096"/>
          </a:xfrm>
          <a:prstGeom prst="roundRect">
            <a:avLst>
              <a:gd name="adj" fmla="val 5407"/>
            </a:avLst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35" name="Image 0" descr="/mnt/data/WorldFert_WSSaleApp_v7_Winable_Package/05-UI-SCREENSHOTS/02-sales-p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00400"/>
            <a:ext cx="5257800" cy="2962656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868680" y="5779008"/>
            <a:ext cx="525780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96696" y="5870448"/>
            <a:ext cx="5001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หน้าขาย / POS mode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464808" y="3154680"/>
            <a:ext cx="5050536" cy="2715768"/>
          </a:xfrm>
          <a:prstGeom prst="roundRect">
            <a:avLst>
              <a:gd name="adj" fmla="val 4868"/>
            </a:avLst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39" name="Image 1" descr="/mnt/data/WorldFert_WSSaleApp_v7_Winable_Package/05-UI-SCREENSHOTS/04-paper-tr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200400"/>
            <a:ext cx="4663440" cy="2624328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6629400" y="5440680"/>
            <a:ext cx="466344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6757416" y="5532120"/>
            <a:ext cx="4407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Paper Trail board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3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03 · CREATE SO DRAFT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สร้างใบสั่งขายจากข้อมูลที่ครบและค้นหาได้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อย่าใส่ข้อมูลธุรกิจสำคัญในหมายเหตุ หากระบบมีช่องเฉพาะให้ใช้ช่องนั้น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5487" y="1399032"/>
            <a:ext cx="5917497" cy="3255264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6" name="Image 0" descr="/mnt/data/WorldFert_WSSaleApp_v7_Winable_Package/05-UI-SCREENSHOTS/02-sales-p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44752"/>
            <a:ext cx="5623560" cy="3163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224528"/>
            <a:ext cx="562356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8096" y="4315968"/>
            <a:ext cx="5367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POS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629400" y="1508760"/>
            <a:ext cx="4754880" cy="8046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629400" y="1508760"/>
            <a:ext cx="64008" cy="80467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58000" y="1636935"/>
            <a:ext cx="4361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ข้อมูลที่ต้องครบ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0" y="1895784"/>
            <a:ext cx="4361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ลูกค้า · สินค้า · จำนวนตัน · ทะเบียนรถ · วันส่ง · </a:t>
            </a:r>
            <a:endParaRPr lang="th-TH" sz="1200" dirty="0">
              <a:solidFill>
                <a:srgbClr val="334155"/>
              </a:solidFill>
              <a:latin typeface="Prompt" panose="00000500000000000000" pitchFamily="2" charset="-34"/>
              <a:ea typeface="Noto Sans Thai" pitchFamily="34" charset="-122"/>
              <a:cs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ราคา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· ของแถม/ตั๋วคุม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629400" y="2587752"/>
            <a:ext cx="4754880" cy="8046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629400" y="2587752"/>
            <a:ext cx="64008" cy="80467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58000" y="2715927"/>
            <a:ext cx="4361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สิ่งที่ระบบช่วย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58000" y="2974776"/>
            <a:ext cx="4361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Auto-complete, Rebate ต่อรายการ, </a:t>
            </a:r>
            <a:endParaRPr lang="th-TH" sz="1200" dirty="0">
              <a:solidFill>
                <a:srgbClr val="334155"/>
              </a:solidFill>
              <a:latin typeface="Prompt" panose="00000500000000000000" pitchFamily="2" charset="-34"/>
              <a:ea typeface="Noto Sans Thai" pitchFamily="34" charset="-122"/>
              <a:cs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ราคา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NET, ยอดรวม, balance ของตั๋วคุม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629400" y="3675888"/>
            <a:ext cx="4754880" cy="8046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629400" y="3675888"/>
            <a:ext cx="64008" cy="80467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858000" y="3858768"/>
            <a:ext cx="4361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ข้อห้าม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858000" y="4117617"/>
            <a:ext cx="4361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ไม่ confirm order ที่ยังไม่มีทะเบียนรถ/สินค้า/จำนวน/วันส่งที่ชัดเจน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629400" y="4937760"/>
            <a:ext cx="475488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793992" y="510235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793992" y="512064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104888" y="5084064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เมื่อ Save แล้ว SO จะอยู่สถานะ DRAFT และยังต้องผ่าน Verification Gate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4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04 · VERIFICATION GATE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Counter Sales ต้องตรวจซ้ำก่อนส่งโรงงาน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ฟังก์ชันนี้คือ control ที่ฝ่ายขายเสนอให้เพิ่มเพื่อกัน order ผิด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0120" y="1691640"/>
            <a:ext cx="2464308" cy="11704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60120" y="1691640"/>
            <a:ext cx="246430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69848" y="1892808"/>
            <a:ext cx="22448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DRAFT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69848" y="2203704"/>
            <a:ext cx="22448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Sales/Counter สร้าง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42716" y="2276856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52444" y="1691640"/>
            <a:ext cx="2464308" cy="11704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552444" y="1691640"/>
            <a:ext cx="2464308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62172" y="1892808"/>
            <a:ext cx="22448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VERIFY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62172" y="2203704"/>
            <a:ext cx="22448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Counter ตรวจข้อมูล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35040" y="2276856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44768" y="1691640"/>
            <a:ext cx="2464308" cy="11704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44768" y="1691640"/>
            <a:ext cx="2464308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54496" y="1892808"/>
            <a:ext cx="22448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CONFIRM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54496" y="2203704"/>
            <a:ext cx="22448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อนุญาตส่งโรงงาน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27364" y="2276856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737092" y="1691640"/>
            <a:ext cx="2464308" cy="11704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737092" y="1691640"/>
            <a:ext cx="2464308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846820" y="1892808"/>
            <a:ext cx="22448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PICKING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846820" y="2203704"/>
            <a:ext cx="22448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คลังเริ่มรับสินค้า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60120" y="3246120"/>
            <a:ext cx="3154680" cy="12070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60120" y="3246120"/>
            <a:ext cx="64008" cy="1207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88720" y="3429000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ตรวจอะไรบ้าง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88720" y="3758184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ลูกค้า/สาขา/เครดิต, สูตรสินค้า, จำนวนตัน, ราคา, วันส่ง, ทะเบียนรถ, ของแถม, ตั๋วคุม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26280" y="3246120"/>
            <a:ext cx="3154680" cy="12070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26280" y="3246120"/>
            <a:ext cx="64008" cy="120700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754880" y="3429000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ผลหลังตรวจ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54880" y="3758184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ระบบบันทึก VerifiedBy/VerifiedAt และ SO สามารถ Confirm ได้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092440" y="3246120"/>
            <a:ext cx="3154680" cy="12070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092440" y="3246120"/>
            <a:ext cx="64008" cy="120700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21040" y="3429000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ถ้าไม่ตรวจ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321040" y="3758184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ระบบต้อง block การ Confirm </a:t>
            </a:r>
            <a:endParaRPr lang="th-TH" sz="1200" dirty="0">
              <a:solidFill>
                <a:srgbClr val="334155"/>
              </a:solidFill>
              <a:latin typeface="Prompt" panose="00000500000000000000" pitchFamily="2" charset="-34"/>
              <a:ea typeface="Noto Sans Thai" pitchFamily="34" charset="-122"/>
              <a:cs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เพื่อไม่ให้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order เข้าสู่โรงงาน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60120" y="5074920"/>
            <a:ext cx="1024128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124712" y="523951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24712" y="525780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435608" y="5221224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Admin อาจ bypass ได้เฉพาะกรณีจำเป็น แต่ต้องมี audit และเหตุผลชัดเจน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5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05 · PAPER TRAIL 4 สี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เอกสาร 4 สีไม่ใช่แค่ print แต่เป็นหลักฐานที่ตามสถานะได้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แต่ละสำเนามี QR ของตนเองเพื่อสแกนประวัติ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5488" y="1435607"/>
            <a:ext cx="6016752" cy="3706915"/>
          </a:xfrm>
          <a:prstGeom prst="roundRect">
            <a:avLst>
              <a:gd name="adj" fmla="val 4862"/>
            </a:avLst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6" name="Image 0" descr="/mnt/data/WorldFert_WSSaleApp_v7_Winable_Package/05-UI-SCREENSHOTS/04-paper-tr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1328"/>
            <a:ext cx="5715000" cy="32186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700016"/>
            <a:ext cx="571500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8096" y="4791456"/>
            <a:ext cx="5458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Paper Trail Kanban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720840" y="1664208"/>
            <a:ext cx="4434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903720" y="1783080"/>
            <a:ext cx="237744" cy="237744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269480" y="183337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ขาว · บัญชี/เก็บ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372600" y="183337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QR copy = WHITE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720840" y="2359152"/>
            <a:ext cx="4434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903720" y="2478024"/>
            <a:ext cx="237744" cy="237744"/>
          </a:xfrm>
          <a:prstGeom prst="ellipse">
            <a:avLst/>
          </a:prstGeom>
          <a:solidFill>
            <a:schemeClr val="accent5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269480" y="252831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ฟ้า · บริษัทเก็บ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372600" y="2528316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QR copy = BLUE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720840" y="3054096"/>
            <a:ext cx="4434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903720" y="3172968"/>
            <a:ext cx="237744" cy="237744"/>
          </a:xfrm>
          <a:prstGeom prst="ellipse">
            <a:avLst/>
          </a:prstGeom>
          <a:solidFill>
            <a:srgbClr val="FF99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269480" y="32232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ชมพู · ลูกค้า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372600" y="322326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QR copy = PINK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720840" y="3749040"/>
            <a:ext cx="4434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903720" y="3867912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269480" y="3918204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เหลือง · รปภ.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372600" y="3918204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QR copy = YELLOW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720840" y="4663440"/>
            <a:ext cx="4434840" cy="566928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885432" y="4828032"/>
            <a:ext cx="219456" cy="21945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885432" y="484632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196328" y="4809744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Scan ทุกจุดส่งมอบ: printed → in transit → signed → filed/lost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6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06 · CONTROL TICKET &amp; AGING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ตั๋วคุมต้องเห็นคงเหลือและเรียกดูเฉพาะชุดได้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ลดการค้นหาแบบภาพรวมจาก WINSpeed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5488" y="1417320"/>
            <a:ext cx="5532120" cy="2999232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6" name="Image 0" descr="/mnt/data/WorldFert_WSSaleApp_v7_Winable_Package/05-UI-SCREENSHOTS/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5166360" cy="2907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986784"/>
            <a:ext cx="516636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8096" y="4078224"/>
            <a:ext cx="4910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Dashboard aging and tickets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166360" cy="87782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64008" cy="877824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0" y="1737360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ใช้เมื่อไร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00800" y="20665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ลูกค้ารับเฉพาะชุดตั๋วคุม หรือรับพร้อมรายการในใบสั่งจอง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172200" y="2697480"/>
            <a:ext cx="5166360" cy="87782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172200" y="2697480"/>
            <a:ext cx="64008" cy="87782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00800" y="2880360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ต้องดูอะไร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00800" y="32095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Total, Drawn, Remaining, ประวัติการตัด และสถานะ active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72200" y="3840480"/>
            <a:ext cx="5166360" cy="87782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172200" y="3840480"/>
            <a:ext cx="64008" cy="87782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00800" y="4023360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เกณฑ์เตือน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00800" y="43525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Aging &gt;30 วัน = เหลือง, &gt;45 วัน = แดง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172200" y="5074920"/>
            <a:ext cx="516636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336792" y="5239512"/>
            <a:ext cx="219456" cy="219456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336792" y="525780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647688" y="5221224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หากยอดคงเหลือไม่ตรง ให้หยุด confirm และส่งให้ Admin/IT ตรวจ mapping ก่อน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7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07 · GIVEAWAY HANDLING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ของแถมต้องเลือกเป็นรายการ ไม่ใช่เขียนในหมายเหตุ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ระบบต้องเห็นงบ/สต็อกคงเหลือ และอนุญาตติดลบโดยมี warning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5488" y="1399032"/>
            <a:ext cx="5907024" cy="3227832"/>
          </a:xfrm>
          <a:prstGeom prst="roundRect">
            <a:avLst>
              <a:gd name="adj" fmla="val 6256"/>
            </a:avLst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6" name="Image 0" descr="/mnt/data/WorldFert_WSSaleApp_v7_Winable_Package/05-UI-SCREENSHOTS/05-giveaway-un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44752"/>
            <a:ext cx="5577840" cy="31363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197096"/>
            <a:ext cx="557784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8096" y="4288536"/>
            <a:ext cx="5321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Giveaway &amp; Unlock screen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565392" y="1554480"/>
            <a:ext cx="452628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729984" y="1719072"/>
            <a:ext cx="384048" cy="3840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729984" y="1856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242048" y="1810512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เลือกของแถม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748272" y="2148840"/>
            <a:ext cx="41605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เสื้อ กระเป๋า กระสอบเปล่า หรือรายการ promotion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565392" y="2615184"/>
            <a:ext cx="452628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729984" y="2779776"/>
            <a:ext cx="384048" cy="38404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729984" y="29169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242048" y="2871216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ตรวจคงเหลือ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748272" y="3169217"/>
            <a:ext cx="41605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ดูงบ/สต็อกตามภาคและ Sales ก่อนบันทึก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565392" y="3675888"/>
            <a:ext cx="452628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729984" y="3840480"/>
            <a:ext cx="384048" cy="38404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729984" y="397764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242048" y="3931920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บันทึกใน SO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748272" y="4220503"/>
            <a:ext cx="41605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ของแถมต้องเป็น line ราคา 0 เพื่อมี audit และรายงานได้</a:t>
            </a:r>
            <a:endParaRPr lang="en-US" sz="1350" dirty="0">
              <a:latin typeface="Prompt" panose="00000500000000000000" pitchFamily="2" charset="-34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565392" y="4956048"/>
            <a:ext cx="452628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729984" y="5120640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729984" y="513892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040880" y="5102352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การเบิกเกินงบทำได้ตามพฤติกรรมจริง แต่ต้องเตือนและแสดงในรายงาน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8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08 · UNLOCK REQUEST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เมื่อ order เข้าสู่ Picking แล้ว การแก้ไขต้องผ่านอนุมัติ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ห้ามลบสร้างใหม่จน audit หาย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2037283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9808" y="1737360"/>
            <a:ext cx="2037283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9536" y="1938528"/>
            <a:ext cx="181782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PICKING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9536" y="2249424"/>
            <a:ext cx="18178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พบข้อมูลผิด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805379" y="228600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15107" y="1737360"/>
            <a:ext cx="2037283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15107" y="1737360"/>
            <a:ext cx="2037283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24835" y="1938528"/>
            <a:ext cx="181782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REQUEST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24835" y="2249424"/>
            <a:ext cx="18178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ระบุเหตุผล ≥10 ตัว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70678" y="228600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80406" y="1737360"/>
            <a:ext cx="2037283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80406" y="1737360"/>
            <a:ext cx="2037283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90134" y="1938528"/>
            <a:ext cx="181782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APPROVE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90134" y="2249424"/>
            <a:ext cx="18178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ผู้มีสิทธิ์พิจารณา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35978" y="228600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245706" y="1737360"/>
            <a:ext cx="2037283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245706" y="1737360"/>
            <a:ext cx="2037283" cy="73152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55434" y="1938528"/>
            <a:ext cx="181782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REVERSE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55434" y="2249424"/>
            <a:ext cx="18178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คืน status + reverse accrual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01277" y="228600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411005" y="1737360"/>
            <a:ext cx="2037283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411005" y="1737360"/>
            <a:ext cx="2037283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20733" y="1938528"/>
            <a:ext cx="181782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CONFIRMED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520733" y="2249424"/>
            <a:ext cx="18178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แก้ไขและส่งใหม่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9808" y="3246120"/>
            <a:ext cx="3246120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49808" y="3246120"/>
            <a:ext cx="64008" cy="102412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78408" y="342900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ผู้ขอ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78408" y="3758184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Sales / Counter / Warehouse ระบุเหตุผลและหลักฐาน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434840" y="3246120"/>
            <a:ext cx="3246120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434840" y="3246120"/>
            <a:ext cx="64008" cy="102412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663440" y="342900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ผู้อนุมัติ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663440" y="3758184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Approver เฉพาะกรณี เช่น Picking, ราคาสูง/ต่ำ, ผู้บริหาร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19872" y="3246120"/>
            <a:ext cx="3246120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119872" y="3246120"/>
            <a:ext cx="64008" cy="10241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348472" y="342900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ระบบต้องบันทึก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348472" y="3758184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UnlockRequest + SalesOrderAudit + RebateLedger.ReversedFlag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49808" y="4892040"/>
            <a:ext cx="1069848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14400" y="505663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14400" y="507492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25296" y="5038344"/>
            <a:ext cx="10094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1 SO มี Pending Unlock ได้ครั้งเดียว เพื่อกันการอนุมัติซ้อน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9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09 · HANDOFF TO WAREHOUSE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ก่อนส่งโรงงานต้องทำให้ Warehouse ไม่ต้องตีความเอง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ข้อมูลลำดับโหลดแม่/ลูกและจุดรับของต้องชัด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447728"/>
            <a:ext cx="2064715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447728"/>
            <a:ext cx="2064715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5528" y="1648896"/>
            <a:ext cx="184525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Verified SO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5528" y="1959792"/>
            <a:ext cx="184525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ตรวจครบ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68803" y="201922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78531" y="1447728"/>
            <a:ext cx="2064715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78531" y="1447728"/>
            <a:ext cx="2064715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88259" y="1648896"/>
            <a:ext cx="184525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Load sequence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88259" y="1959792"/>
            <a:ext cx="184525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แม่/ลูก + ลำดับ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61534" y="201922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71262" y="1447728"/>
            <a:ext cx="2064715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71262" y="1447728"/>
            <a:ext cx="2064715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80990" y="1648896"/>
            <a:ext cx="184525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Pickup point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80990" y="1959792"/>
            <a:ext cx="184525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สายพาน/คลัง/Bulk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54266" y="201922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263994" y="1447728"/>
            <a:ext cx="2064715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263994" y="1447728"/>
            <a:ext cx="2064715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73722" y="1648896"/>
            <a:ext cx="184525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Paper set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73722" y="1959792"/>
            <a:ext cx="184525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4 สี + QR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46997" y="201922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456725" y="1447728"/>
            <a:ext cx="2064715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456725" y="1447728"/>
            <a:ext cx="2064715" cy="73152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66453" y="1648896"/>
            <a:ext cx="184525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Factory handoff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566453" y="1959792"/>
            <a:ext cx="184525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คลังเริ่มงาน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pic>
        <p:nvPicPr>
          <p:cNvPr id="30" name="Image 0" descr="/mnt/data/WorldFert_WSSaleApp_v7_Winable_Package/05-UI-SCREENSHOTS/08-truckscale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16351"/>
            <a:ext cx="8540496" cy="3957599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1828800" y="5334621"/>
            <a:ext cx="8540496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956816" y="5462637"/>
            <a:ext cx="8284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Warehouse and TruckScale flow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50392" y="5833872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498DA4D-450B-440C-C603-4F2B27EB5260}"/>
              </a:ext>
            </a:extLst>
          </p:cNvPr>
          <p:cNvGrpSpPr/>
          <p:nvPr/>
        </p:nvGrpSpPr>
        <p:grpSpPr>
          <a:xfrm>
            <a:off x="3015957" y="6163209"/>
            <a:ext cx="6160086" cy="384048"/>
            <a:chOff x="685800" y="6217914"/>
            <a:chExt cx="10835640" cy="384048"/>
          </a:xfrm>
        </p:grpSpPr>
        <p:sp>
          <p:nvSpPr>
            <p:cNvPr id="33" name="Shape 30"/>
            <p:cNvSpPr/>
            <p:nvPr/>
          </p:nvSpPr>
          <p:spPr>
            <a:xfrm>
              <a:off x="685800" y="6217914"/>
              <a:ext cx="10835640" cy="384048"/>
            </a:xfrm>
            <a:prstGeom prst="roundRect">
              <a:avLst/>
            </a:prstGeom>
            <a:solidFill>
              <a:srgbClr val="FAEEDA"/>
            </a:solidFill>
            <a:ln w="12700">
              <a:solidFill>
                <a:srgbClr val="FAEED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 dirty="0">
                <a:latin typeface="Prompt" panose="00000500000000000000" pitchFamily="2" charset="-34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850392" y="6281922"/>
              <a:ext cx="409221" cy="219456"/>
            </a:xfrm>
            <a:prstGeom prst="ellipse">
              <a:avLst/>
            </a:prstGeom>
            <a:solidFill>
              <a:srgbClr val="BA7517"/>
            </a:solidFill>
            <a:ln w="12700">
              <a:solidFill>
                <a:srgbClr val="BA7517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 dirty="0">
                <a:latin typeface="Prompt" panose="00000500000000000000" pitchFamily="2" charset="-34"/>
              </a:endParaRPr>
            </a:p>
          </p:txBody>
        </p:sp>
        <p:sp>
          <p:nvSpPr>
            <p:cNvPr id="36" name="Text 33"/>
            <p:cNvSpPr/>
            <p:nvPr/>
          </p:nvSpPr>
          <p:spPr>
            <a:xfrm>
              <a:off x="1424205" y="6263634"/>
              <a:ext cx="99692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7A4A00"/>
                  </a:solidFill>
                  <a:latin typeface="Prompt" panose="00000500000000000000" pitchFamily="2" charset="-34"/>
                  <a:ea typeface="Noto Sans Thai" pitchFamily="34" charset="-122"/>
                  <a:cs typeface="Prompt" panose="00000500000000000000" pitchFamily="2" charset="-34"/>
                </a:rPr>
                <a:t>ถ้าข้อมูลลำดับโหลดไม่ชัด ต้องกลับไปแก้ที่ DRAFT/Unlock ไม่ควรส่งต่อด้วยปากเปล่าหรือหมายเหตุคลุมเครือ</a:t>
              </a:r>
              <a:endParaRPr lang="en-US" sz="940" dirty="0">
                <a:latin typeface="Prompt" panose="00000500000000000000" pitchFamily="2" charset="-34"/>
              </a:endParaRPr>
            </a:p>
          </p:txBody>
        </p:sp>
      </p:grp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10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10 · COMMON MISTAKES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ข้อผิดพลาดที่ควรเลี่ยงในงานประจำวัน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ทุกข้อด้านล่างทำให้เกิดงานแก้ย้อนหลัง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463040"/>
            <a:ext cx="33375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64008" cy="96012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64592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Confirm ก่อน Verify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1975104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ทำให้ order หลุด control และโรงงานรับข้อมูลที่ยังไม่ตรวจ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463040"/>
            <a:ext cx="33375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463040"/>
            <a:ext cx="64008" cy="96012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64592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ใส่ของแถมในหมายเหตุ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1975104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รายงานสต็อก/งบไม่ได้ และ audit ไม่ครบ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463040"/>
            <a:ext cx="33375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463040"/>
            <a:ext cx="64008" cy="96012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64592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แก้หลัง Picking โดยไม่ขอ Unlock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1975104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ทำให้สถานะและ Rebate ledger ไม่สอดคล้อง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2816352"/>
            <a:ext cx="33375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2816352"/>
            <a:ext cx="64008" cy="9601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6968" y="299923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ไม่พิมพ์/ไม่สแกน QR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6968" y="3328416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Paper Trail ขาดหลักฐาน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25696" y="2816352"/>
            <a:ext cx="33375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25696" y="2816352"/>
            <a:ext cx="64008" cy="9601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54296" y="299923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ไม่ระบุลำดับแม่/ลูก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54296" y="3328416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Warehouse ต้องตีความเองและเสี่ยงโหลดผิด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93024" y="2816352"/>
            <a:ext cx="33375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93024" y="2816352"/>
            <a:ext cx="64008" cy="9601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21624" y="299923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เลือกตั๋วคุมผิด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21624" y="3328416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ยอดคงเหลือและการตัด history ผิด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8368" y="4864608"/>
            <a:ext cx="10881360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2960" y="5029200"/>
            <a:ext cx="219456" cy="21945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" y="504748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33856" y="5010912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B6D11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Rule of thumb: ถ้าข้อมูลมีช่องเฉพาะในระบบ อย่าใส่ในหมายเหตุ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11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11 · PRACTICE SCENARIOS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แบบฝึกหัดสำหรับ Sales Admin / Counter Sales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ใช้ร่วมกับข้อมูลทดสอบหรือ LOCAL database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38328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0392" y="1764792"/>
            <a:ext cx="384048" cy="38404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0392" y="19019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62456" y="185623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สร้าง SO 1 รายการ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3017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ลูกค้าเดิม, สินค้า 46-0-0, 30 ตัน,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มีทะเบียนรถ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, Save เป็น DRAFT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34840" y="1600200"/>
            <a:ext cx="338328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99432" y="1764792"/>
            <a:ext cx="384048" cy="38404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99432" y="19019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11496" y="185623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ตรวจซ้ำและ Confirm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17720" y="2240280"/>
            <a:ext cx="3017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กดตรวจแล้ว ตรวจ audit แล้ว Confirm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ให้สถานะเป็น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CONFIRMED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83880" y="1600200"/>
            <a:ext cx="338328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48472" y="1764792"/>
            <a:ext cx="384048" cy="38404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48472" y="19019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60536" y="185623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พิมพ์เอกสาร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66760" y="2240280"/>
            <a:ext cx="3017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เปิด Paper Trail แล้วพิมพ์ 4 สี พร้อม QR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" y="3063240"/>
            <a:ext cx="338328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0392" y="3227832"/>
            <a:ext cx="384048" cy="3840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0392" y="33649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62456" y="331927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เลือกของแถม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68680" y="3703320"/>
            <a:ext cx="3017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เพิ่มของแถมและดูคงเหลือก่อนบันทึก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434840" y="3063240"/>
            <a:ext cx="338328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99432" y="3227832"/>
            <a:ext cx="384048" cy="384048"/>
          </a:xfrm>
          <a:prstGeom prst="ellipse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99432" y="33649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5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111496" y="331927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ตัดจากตั๋วคุม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617720" y="3703320"/>
            <a:ext cx="3017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เลือก AI ticket และดูยอดคงเหลือหลังตัด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83880" y="3063240"/>
            <a:ext cx="338328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348472" y="3227832"/>
            <a:ext cx="384048" cy="38404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48472" y="33649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6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860536" y="331927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ขอ Unlock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66760" y="3703320"/>
            <a:ext cx="3017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สร้างเหตุผล ≥10 ตัว และให้ Approver อนุมัติ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85800" y="4983480"/>
            <a:ext cx="10881360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50392" y="5148072"/>
            <a:ext cx="219456" cy="21945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50392" y="516636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61288" y="512978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B6D11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เป้าหมาย training: ผู้เรียนต้องทำได้เองครบ flow โดยไม่ต้องดูคู่มือ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12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7D27B7-83FD-AF2E-F850-DF7C81619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2095500"/>
            <a:ext cx="2667000" cy="266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E9EA51-9561-1A29-2D06-1A82342596E5}"/>
              </a:ext>
            </a:extLst>
          </p:cNvPr>
          <p:cNvSpPr txBox="1"/>
          <p:nvPr/>
        </p:nvSpPr>
        <p:spPr>
          <a:xfrm>
            <a:off x="3044093" y="1616780"/>
            <a:ext cx="610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Prompt" panose="00000500000000000000" pitchFamily="2" charset="-34"/>
                <a:cs typeface="Prompt" panose="00000500000000000000" pitchFamily="2" charset="-34"/>
              </a:rPr>
              <a:t>https://winspeed-connect.vercel.app/</a:t>
            </a:r>
          </a:p>
        </p:txBody>
      </p:sp>
    </p:spTree>
    <p:extLst>
      <p:ext uri="{BB962C8B-B14F-4D97-AF65-F5344CB8AC3E}">
        <p14:creationId xmlns:p14="http://schemas.microsoft.com/office/powerpoint/2010/main" val="2981786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1162</Words>
  <Application>Microsoft Office PowerPoint</Application>
  <PresentationFormat>Widescreen</PresentationFormat>
  <Paragraphs>233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Prompt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World Fert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WS-Sale-App v7 | Sales Admin &amp; Counter Sales Training</dc:title>
  <dc:subject>Training</dc:subject>
  <dc:creator>World Fert Co., Ltd. / Thirayu Meererksom</dc:creator>
  <cp:lastModifiedBy>Thirayu Meererksom</cp:lastModifiedBy>
  <cp:revision>12</cp:revision>
  <dcterms:created xsi:type="dcterms:W3CDTF">2026-06-28T03:10:39Z</dcterms:created>
  <dcterms:modified xsi:type="dcterms:W3CDTF">2026-07-02T02:03:04Z</dcterms:modified>
</cp:coreProperties>
</file>