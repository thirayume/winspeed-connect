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9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4924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WORLD FERT  |  WS-SALE-APP</a:t>
            </a:r>
            <a:endParaRPr lang="en-US" sz="65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55280" y="651052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CONFIDENTIAL · ACCOUNTING TRAINING</a:t>
            </a:r>
            <a:endParaRPr lang="en-US" sz="650" dirty="0">
              <a:latin typeface="Prompt" panose="00000500000000000000" pitchFamily="2" charset="-34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0599" y="64894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Prompt" panose="00000500000000000000" pitchFamily="2" charset="-34"/>
                <a:ea typeface="Prompt" panose="00000500000000000000" pitchFamily="2" charset="-34"/>
                <a:cs typeface="Prompt" panose="00000500000000000000" pitchFamily="2" charset="-34"/>
              </a:defRPr>
            </a:lvl1pPr>
          </a:lstStyle>
          <a:p>
            <a:fld id="{F7021451-1387-4CA6-816F-3879F97B5CB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Prompt" panose="00000500000000000000" pitchFamily="2" charset="-34"/>
                <a:ea typeface="Prompt" panose="00000500000000000000" pitchFamily="2" charset="-34"/>
                <a:cs typeface="Prompt" panose="00000500000000000000" pitchFamily="2" charset="-34"/>
              </a:defRPr>
            </a:lvl1pPr>
          </a:lstStyle>
          <a:p>
            <a:fld id="{F7021451-1387-4CA6-816F-3879F97B5CB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082E55"/>
          </a:solidFill>
          <a:ln w="12700">
            <a:solidFill>
              <a:srgbClr val="082E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21792" y="566928"/>
            <a:ext cx="2697480" cy="265176"/>
          </a:xfrm>
          <a:prstGeom prst="roundRect">
            <a:avLst/>
          </a:prstGeom>
          <a:solidFill>
            <a:srgbClr val="153F68"/>
          </a:solidFill>
          <a:ln w="12700">
            <a:solidFill>
              <a:srgbClr val="153F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94944" y="621792"/>
            <a:ext cx="2551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USER TRAINING · ACCOUNTING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537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Accounting Training</a:t>
            </a:r>
            <a:endParaRPr lang="en-US" sz="3100" dirty="0">
              <a:latin typeface="Prompt" panose="00000500000000000000" pitchFamily="2" charset="-3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3054096"/>
            <a:ext cx="1508760" cy="548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" y="3346704"/>
            <a:ext cx="7123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CEBFA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ตรวจ Rebate, Claim, CN evidence และควบคุม boundary กับ WINSpeed</a:t>
            </a:r>
            <a:endParaRPr lang="en-US" sz="1600" dirty="0">
              <a:latin typeface="Prompt" panose="00000500000000000000" pitchFamily="2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58338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C7D9E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Training · Accounting</a:t>
            </a:r>
            <a:endParaRPr lang="en-US" sz="105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73568" y="1280160"/>
            <a:ext cx="548640" cy="54864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73568" y="14904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577072" y="1554480"/>
            <a:ext cx="292608" cy="0"/>
          </a:xfrm>
          <a:prstGeom prst="line">
            <a:avLst/>
          </a:prstGeom>
          <a:noFill/>
          <a:ln w="13970">
            <a:solidFill>
              <a:srgbClr val="7CAF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827264" y="196596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PLAN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81544" y="2176272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8DE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NET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942832" y="1280160"/>
            <a:ext cx="548640" cy="548640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942832" y="14904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2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546336" y="1554480"/>
            <a:ext cx="292608" cy="0"/>
          </a:xfrm>
          <a:prstGeom prst="line">
            <a:avLst/>
          </a:prstGeom>
          <a:noFill/>
          <a:ln w="13970">
            <a:solidFill>
              <a:srgbClr val="7CAF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796528" y="196596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LEDGER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750808" y="2176272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8DE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FIFO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912096" y="1280160"/>
            <a:ext cx="548640" cy="548640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912096" y="14904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515600" y="1554480"/>
            <a:ext cx="292608" cy="0"/>
          </a:xfrm>
          <a:prstGeom prst="line">
            <a:avLst/>
          </a:prstGeom>
          <a:noFill/>
          <a:ln w="13970">
            <a:solidFill>
              <a:srgbClr val="7CAF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765792" y="196596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CLAIM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720072" y="2176272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8DE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Approve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0881360" y="1280160"/>
            <a:ext cx="548640" cy="54864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881360" y="14904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4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735056" y="196596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CN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689336" y="2176272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8DE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WINSpeed</a:t>
            </a:r>
            <a:endParaRPr lang="en-US" sz="1400" dirty="0">
              <a:latin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01 · ACCOUNTING ROLE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Accounting คือผู้ควบคุมความถูกต้องของ Rebate และเอกสารบัญชี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App ช่วยเตรียมหลักฐาน แต่ WINSpeed ยังคงเป็นเจ้าของ Invoice/CN/GL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3337560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572768"/>
            <a:ext cx="64008" cy="11430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86968" y="1755648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ตรวจ Claim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6968" y="2084832"/>
            <a:ext cx="29443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ตรวจยอดที่ Sales </a:t>
            </a: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เคลม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กับสิทธิ์คงเหลือ</a:t>
            </a:r>
            <a:endParaRPr lang="en-US" sz="1200" dirty="0">
              <a:solidFill>
                <a:srgbClr val="334155"/>
              </a:solidFill>
              <a:latin typeface="Prompt" panose="00000500000000000000" pitchFamily="2" charset="-34"/>
              <a:ea typeface="Noto Sans Thai" pitchFamily="34" charset="-122"/>
              <a:cs typeface="Prompt" panose="00000500000000000000" pitchFamily="2" charset="-34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และหลักฐานต้นทาง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25696" y="1572768"/>
            <a:ext cx="3337560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25696" y="1572768"/>
            <a:ext cx="64008" cy="114300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54296" y="1755648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อนุมัติ CN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54296" y="2084832"/>
            <a:ext cx="29443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อนุมัติและบันทึกเลข CN จาก WINSpeed กลับเข้าระบบ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93024" y="1572768"/>
            <a:ext cx="3337560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93024" y="1572768"/>
            <a:ext cx="64008" cy="11430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21624" y="1755648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Reconcile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21624" y="2084832"/>
            <a:ext cx="29443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เทียบ App ledger กับ WINSpeed Invoice/CN/GL ตามรอบควบคุม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3858768"/>
            <a:ext cx="10881360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2960" y="4023360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" y="4041648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33856" y="4005072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Accounting ไม่ควรใช้ App เป็นแหล่ง post GL — ให้ WINSpeed post บัญชีตามกระบวนการเดิม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2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02 · REBATE CONCEPT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Rebate คือสิทธิ์คืนภายหลัง ไม่ใช่ส่วนลดธรรมดาหน้า order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ต้องตั้ง accrual ต่อรายการและตัด FIFO เพื่อย้อนกลับได้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421511"/>
            <a:ext cx="1714500" cy="87967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421511"/>
            <a:ext cx="1714500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9808" y="1622679"/>
            <a:ext cx="14950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Price Book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9808" y="1933575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NET/ตัน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372868" y="2025015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482596" y="1421511"/>
            <a:ext cx="1714500" cy="87967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482596" y="1421511"/>
            <a:ext cx="1714500" cy="73152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592324" y="1622679"/>
            <a:ext cx="14950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Plan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592324" y="1933575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สูตร/ภาค/เดือน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15384" y="2025015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25112" y="1421511"/>
            <a:ext cx="1714500" cy="87967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25112" y="1421511"/>
            <a:ext cx="1714500" cy="7315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434840" y="1622679"/>
            <a:ext cx="14950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Accrual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434840" y="1933575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ขาย−NET × ตัน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57900" y="2025015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167628" y="1421511"/>
            <a:ext cx="1714500" cy="87967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167628" y="1421511"/>
            <a:ext cx="1714500" cy="73152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77356" y="1622679"/>
            <a:ext cx="14950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Pool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77356" y="1933575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แยก Sales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900416" y="2025015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010144" y="1421511"/>
            <a:ext cx="1714500" cy="87967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010144" y="1421511"/>
            <a:ext cx="1714500" cy="73152"/>
          </a:xfrm>
          <a:prstGeom prst="rect">
            <a:avLst/>
          </a:prstGeom>
          <a:solidFill>
            <a:srgbClr val="6D4C9B"/>
          </a:solidFill>
          <a:ln w="12700">
            <a:solidFill>
              <a:srgbClr val="6D4C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119872" y="1622679"/>
            <a:ext cx="14950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Claim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119872" y="1933575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ตัด FIFO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742932" y="2025015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852660" y="1421511"/>
            <a:ext cx="1714500" cy="87967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852660" y="1421511"/>
            <a:ext cx="1714500" cy="7315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962388" y="1622679"/>
            <a:ext cx="14950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CN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962388" y="1933575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WINSpeed 109</a:t>
            </a:r>
            <a:endParaRPr lang="en-US" sz="1400" dirty="0">
              <a:latin typeface="Prompt" panose="00000500000000000000" pitchFamily="2" charset="-34"/>
            </a:endParaRPr>
          </a:p>
        </p:txBody>
      </p:sp>
      <p:pic>
        <p:nvPicPr>
          <p:cNvPr id="35" name="Image 0" descr="/mnt/data/WorldFert_WSSaleApp_v7_Winable_Package/05-UI-SCREENSHOTS/03-rebate-p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560" y="2387668"/>
            <a:ext cx="9326880" cy="4470332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1432560" y="5065776"/>
            <a:ext cx="9326880" cy="38404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1560576" y="5193792"/>
            <a:ext cx="9070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Rebate Pool / FIFO Ledger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3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03 · PRICE BOOK CONTROL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ราคา NET รายเดือนคือฐานคำนวณ Rebate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ถ้า Price Book ผิด Ledger จะผิดตั้งแต่ต้น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554480"/>
            <a:ext cx="3337560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554480"/>
            <a:ext cx="64008" cy="11430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86968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แหล่งราคา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6968" y="2066544"/>
            <a:ext cx="29443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dbo.EMSetPriceHD/DT เป็นฐานราคา NET ที่ใช้จริง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25696" y="1554480"/>
            <a:ext cx="3337560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25696" y="1554480"/>
            <a:ext cx="64008" cy="11430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54296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การเปลี่ยนราคา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54296" y="2066544"/>
            <a:ext cx="29443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ควรใช้ version </a:t>
            </a: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รายเดือน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clone จากเดือนก่อนและแก้เฉพาะที่เปลี่ยน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93024" y="1554480"/>
            <a:ext cx="3337560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93024" y="1554480"/>
            <a:ext cx="64008" cy="114300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21624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การควบคุม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21624" y="2066544"/>
            <a:ext cx="29443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ทุกการแก้ต้องมี audit และ approval 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ก่อนใช้จริง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3822192"/>
            <a:ext cx="10881360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2960" y="3986784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" y="4005072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33856" y="3968496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ควรปิดรอบราคา NET ก่อนเริ่มขายรอบใหม่ และ lock หลังใช้จริง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4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04 · PLAN AND ALLOCATION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Rebate Plan กำหนดนโยบาย ส่วน Pool กำหนดสิทธิ์ราย Sales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Accounting ควรเห็นทั้งภาพแผนรวมและการใช้จริง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627632"/>
            <a:ext cx="1706880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17068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8096" y="1828800"/>
            <a:ext cx="1487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DRAFT Plan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8096" y="2139696"/>
            <a:ext cx="1487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ตั้งสูตร/ภาค/เดือน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383536" y="2176272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493264" y="1627632"/>
            <a:ext cx="1706880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493264" y="1627632"/>
            <a:ext cx="1706880" cy="7315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602992" y="1828800"/>
            <a:ext cx="1487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ACTIVE</a:t>
            </a:r>
            <a:endParaRPr lang="en-US" sz="16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602992" y="2139696"/>
            <a:ext cx="1487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อนุมัติใช้งาน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18432" y="2176272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28160" y="1627632"/>
            <a:ext cx="1706880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28160" y="1627632"/>
            <a:ext cx="1706880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437888" y="1828800"/>
            <a:ext cx="1487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Allocate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437888" y="2139696"/>
            <a:ext cx="1487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แบ่งให้ Sales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53328" y="2176272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163056" y="1627632"/>
            <a:ext cx="1706880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163056" y="1627632"/>
            <a:ext cx="1706880" cy="73152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72784" y="1828800"/>
            <a:ext cx="1487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Accrual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72784" y="2139696"/>
            <a:ext cx="1487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เกิดจาก SO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888224" y="2176272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997952" y="1627632"/>
            <a:ext cx="1706880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997952" y="1627632"/>
            <a:ext cx="1706880" cy="73152"/>
          </a:xfrm>
          <a:prstGeom prst="rect">
            <a:avLst/>
          </a:prstGeom>
          <a:solidFill>
            <a:srgbClr val="6D4C9B"/>
          </a:solidFill>
          <a:ln w="12700">
            <a:solidFill>
              <a:srgbClr val="6D4C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107680" y="1828800"/>
            <a:ext cx="1487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Claim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107680" y="2139696"/>
            <a:ext cx="1487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ใช้สิทธิ์จริง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723120" y="2176272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832848" y="1627632"/>
            <a:ext cx="1706880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832848" y="1627632"/>
            <a:ext cx="1706880" cy="73152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942576" y="1828800"/>
            <a:ext cx="1487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Close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942576" y="2139696"/>
            <a:ext cx="1487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ปิดแผน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58368" y="3127248"/>
            <a:ext cx="516636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58368" y="3127248"/>
            <a:ext cx="64008" cy="96012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86968" y="3310128"/>
            <a:ext cx="4773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Control point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86968" y="3639312"/>
            <a:ext cx="4773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รวม allocation ห้ามเกินงบ Plan; overlap ต้องใช้ priority ชัดเจน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419088" y="3127248"/>
            <a:ext cx="516636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419088" y="3127248"/>
            <a:ext cx="64008" cy="96012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647688" y="3310128"/>
            <a:ext cx="4773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Evidence point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647688" y="3639312"/>
            <a:ext cx="4773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Ledger ต้อง link กลับ SO Line + Plan + Pool + fifo sequence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58368" y="4864608"/>
            <a:ext cx="10881360" cy="566928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E6F1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22960" y="5029200"/>
            <a:ext cx="219456" cy="219456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22960" y="5047488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133856" y="5010912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0C447C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หาก Plan ปิดแล้วต้องไม่ match accrual ใหม่ แต่ต้องเก็บประวัติเดิม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5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05 · CLAIM APPROVAL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Accounting ตรวจ Claim ก่อนอนุมัติและออก CN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ระบบแยกคืนรีเบทและคืนส่วนต่างเพื่อความชัดเจน</a:t>
            </a:r>
            <a:endParaRPr lang="en-US" sz="1100" dirty="0">
              <a:latin typeface="Prompt" panose="00000500000000000000" pitchFamily="2" charset="-34"/>
            </a:endParaRPr>
          </a:p>
        </p:txBody>
      </p:sp>
      <p:pic>
        <p:nvPicPr>
          <p:cNvPr id="6" name="Image 0" descr="/mnt/data/WorldFert_WSSaleApp_v7_Winable_Package/05-UI-SCREENSHOTS/03-rebate-p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17320"/>
            <a:ext cx="5532120" cy="31181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" y="4151376"/>
            <a:ext cx="5532120" cy="38404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8" name="Text 5"/>
          <p:cNvSpPr/>
          <p:nvPr/>
        </p:nvSpPr>
        <p:spPr>
          <a:xfrm>
            <a:off x="786384" y="4242816"/>
            <a:ext cx="5276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Ledger and claim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510528" y="1554480"/>
            <a:ext cx="4709160" cy="8229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675120" y="1719072"/>
            <a:ext cx="384048" cy="384048"/>
          </a:xfrm>
          <a:prstGeom prst="ellipse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675120" y="18562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187184" y="1810512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Review ledger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693408" y="2194560"/>
            <a:ext cx="434340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ตรวจ FIFO, จำนวนเงิน และ invoice refs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510528" y="2596896"/>
            <a:ext cx="4709160" cy="8229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675120" y="2761488"/>
            <a:ext cx="384048" cy="384048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675120" y="289864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2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187184" y="2852928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Approve claim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693408" y="3236976"/>
            <a:ext cx="434340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อนุมัติถ้าเอกสารครบและยอดถูกต้อง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510528" y="3639312"/>
            <a:ext cx="4709160" cy="8229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675120" y="3803904"/>
            <a:ext cx="384048" cy="384048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675120" y="394106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187184" y="3895344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Create CN in WINSpeed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693408" y="4279392"/>
            <a:ext cx="434340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ออก CN 109 และให้ WINSpeed post เอง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510528" y="4681728"/>
            <a:ext cx="4709160" cy="8229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675120" y="4846320"/>
            <a:ext cx="384048" cy="384048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675120" y="49834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4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187184" y="4937760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Record CN number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693408" y="5321808"/>
            <a:ext cx="434340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กรอกเลข CN กลับเข้า App เพื่อปิด trail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6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06 · CN REBATE EVIDENCE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หน้า CN Rebate ใช้อ่านประวัติจาก WINSpeed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ใช้ตรวจสอบว่าการคืนเงินเชื่อมกับเอกสารจริง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554480"/>
            <a:ext cx="3337560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554480"/>
            <a:ext cx="64008" cy="109728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86968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CN source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6968" y="2066544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dbo.SOInvHD/DT DocuType 109 และ CNRemarkTypeID ที่เกี่ยวข้อง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25696" y="1554480"/>
            <a:ext cx="3337560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25696" y="1554480"/>
            <a:ext cx="64008" cy="109728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54296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Drill down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54296" y="2066544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จาก Sales → CN → invoice detail → rebate/ton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93024" y="1554480"/>
            <a:ext cx="3337560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93024" y="1554480"/>
            <a:ext cx="64008" cy="10972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21624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Reconciliation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21624" y="2066544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เทียบ Claim approved กับ CN ที่มีจริงใน WINSpeed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3383280"/>
            <a:ext cx="2073859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8368" y="3383280"/>
            <a:ext cx="2073859" cy="73152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8096" y="358444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Claim approved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8096" y="3895344"/>
            <a:ext cx="185440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App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50515" y="390906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860243" y="3383280"/>
            <a:ext cx="2073859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860243" y="3383280"/>
            <a:ext cx="2073859" cy="7315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969971" y="358444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CN created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969971" y="3895344"/>
            <a:ext cx="185440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WINSpeed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952390" y="390906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062118" y="3383280"/>
            <a:ext cx="2073859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62118" y="3383280"/>
            <a:ext cx="2073859" cy="73152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171846" y="358444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CN No recorded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171846" y="3895344"/>
            <a:ext cx="185440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App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154266" y="390906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263994" y="3383280"/>
            <a:ext cx="2073859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263994" y="3383280"/>
            <a:ext cx="2073859" cy="7315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373722" y="358444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Report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373722" y="3895344"/>
            <a:ext cx="185440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Accounting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356141" y="390906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465869" y="3383280"/>
            <a:ext cx="2073859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465869" y="3383280"/>
            <a:ext cx="2073859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575597" y="358444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Reconcile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575597" y="3895344"/>
            <a:ext cx="185440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Period close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58368" y="5212080"/>
            <a:ext cx="10881360" cy="566928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FCE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22960" y="5376672"/>
            <a:ext cx="219456" cy="219456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22960" y="539496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133856" y="5358384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A32D2D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ถ้า Claim อนุมัติแล้วแต่ไม่มี CN ใน WINSpeed ต้องถือเป็น exception และติดตามรายวัน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7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07 · WINSPEED ACCOUNTING BOUNDARY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ขอบเขตสำคัญ: App ไม่เขียน GL และไม่แทนระบบบัญชี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หลักฐานต้องไหลกลับมา แต่การลงบัญชีเป็นของ WINSpeed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49808" y="1600200"/>
            <a:ext cx="5074920" cy="19659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2400" dirty="0">
              <a:latin typeface="Prompt" panose="00000500000000000000" pitchFamily="2" charset="-3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4128" y="19202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WS-Sale-App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24128" y="233172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SO operational data</a:t>
            </a:r>
            <a:endParaRPr lang="en-US" sz="1400" dirty="0">
              <a:latin typeface="Prompt" panose="00000500000000000000" pitchFamily="2" charset="-34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Rebate ledger</a:t>
            </a:r>
            <a:endParaRPr lang="en-US" sz="1400" dirty="0">
              <a:latin typeface="Prompt" panose="00000500000000000000" pitchFamily="2" charset="-34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Claim workflow</a:t>
            </a:r>
            <a:endParaRPr lang="en-US" sz="1400" dirty="0">
              <a:latin typeface="Prompt" panose="00000500000000000000" pitchFamily="2" charset="-34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WeighTicket / Paper trail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19088" y="1600200"/>
            <a:ext cx="5074920" cy="19659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2400" dirty="0">
              <a:latin typeface="Prompt" panose="00000500000000000000" pitchFamily="2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93408" y="19202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B6D11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WINSpeed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693408" y="233172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Invoice</a:t>
            </a:r>
            <a:endParaRPr lang="en-US" sz="1400" dirty="0">
              <a:latin typeface="Prompt" panose="00000500000000000000" pitchFamily="2" charset="-34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Credit Note</a:t>
            </a:r>
            <a:endParaRPr lang="en-US" sz="1400" dirty="0">
              <a:latin typeface="Prompt" panose="00000500000000000000" pitchFamily="2" charset="-34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GL Posting</a:t>
            </a:r>
            <a:endParaRPr lang="en-US" sz="1400" dirty="0">
              <a:latin typeface="Prompt" panose="00000500000000000000" pitchFamily="2" charset="-34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Chart of Accounts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870448" y="2331720"/>
            <a:ext cx="484632" cy="0"/>
          </a:xfrm>
          <a:prstGeom prst="line">
            <a:avLst/>
          </a:prstGeom>
          <a:noFill/>
          <a:ln w="19050">
            <a:solidFill>
              <a:srgbClr val="1767A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 dirty="0">
              <a:latin typeface="Prompt" panose="00000500000000000000" pitchFamily="2" charset="-34"/>
            </a:endParaRPr>
          </a:p>
        </p:txBody>
      </p:sp>
      <p:sp>
        <p:nvSpPr>
          <p:cNvPr id="12" name="Shape 10"/>
          <p:cNvSpPr/>
          <p:nvPr/>
        </p:nvSpPr>
        <p:spPr>
          <a:xfrm flipH="1">
            <a:off x="5888736" y="2788920"/>
            <a:ext cx="466344" cy="0"/>
          </a:xfrm>
          <a:prstGeom prst="line">
            <a:avLst/>
          </a:prstGeom>
          <a:noFill/>
          <a:ln w="19050">
            <a:solidFill>
              <a:srgbClr val="3B6D1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9808" y="4251960"/>
            <a:ext cx="10744200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14400" y="4416552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4400" y="443484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25296" y="4398264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Accounting control: WINSpeed remains financial system of record; App is evidence/workflow layer.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8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08 · REPORTS FOR ACCOUNTING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รายงานที่ควรใช้ประจำวันและปิดรอบ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เน้น exception, reconciliation และ traceability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55448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554480"/>
            <a:ext cx="64008" cy="105156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86968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Pending claims</a:t>
            </a:r>
            <a:endParaRPr lang="en-US" sz="24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6968" y="2066544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รายการรออนุมัติและอายุการค้าง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25696" y="155448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25696" y="1554480"/>
            <a:ext cx="64008" cy="105156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54296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CN rebate</a:t>
            </a:r>
            <a:endParaRPr lang="en-US" sz="24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54296" y="2066544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สรุปตาม Sales/ปี/ลูกค้า และ drill detail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93024" y="155448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93024" y="1554480"/>
            <a:ext cx="64008" cy="105156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21624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Rebate pools</a:t>
            </a:r>
            <a:endParaRPr lang="en-US" sz="24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21624" y="2066544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ยอดจัดสรร ใช้ไป คงเหลือ frozen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297180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8368" y="2971800"/>
            <a:ext cx="64008" cy="105156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6968" y="315468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Shipped today</a:t>
            </a:r>
            <a:endParaRPr lang="en-US" sz="2400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86968" y="3483864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รายการที่ส่งออกวันนี้เพื่อเทียบ invoice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425696" y="297180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425696" y="2971800"/>
            <a:ext cx="64008" cy="1051560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54296" y="315468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Paper status</a:t>
            </a:r>
            <a:endParaRPr lang="en-US" sz="24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54296" y="3483864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เอกสารที่ยังไม่เซ็นรับหรือสูญหาย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193024" y="297180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193024" y="2971800"/>
            <a:ext cx="64008" cy="1051560"/>
          </a:xfrm>
          <a:prstGeom prst="rect">
            <a:avLst/>
          </a:prstGeom>
          <a:solidFill>
            <a:srgbClr val="6D4C9B"/>
          </a:solidFill>
          <a:ln w="12700">
            <a:solidFill>
              <a:srgbClr val="6D4C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421624" y="315468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Export Excel</a:t>
            </a:r>
            <a:endParaRPr lang="en-US" sz="24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421624" y="3483864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ส่งออกหลักฐานให้ผู้ตรวจ/ผู้บริหาร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58368" y="5047488"/>
            <a:ext cx="10881360" cy="566928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E6F1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22960" y="5212080"/>
            <a:ext cx="219456" cy="219456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22960" y="5230368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33856" y="5193792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0C447C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แนะนำสร้าง dashboard รายวัน: Claims pending, CN exceptions, SO shipped not invoiced, paper lost.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9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09 · RECONCILIATION CHECKLIST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Checklist ก่อนปิดรอบ Pilot / Production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ใช้ยืนยันว่าระบบใหม่ไม่กระทบบัญชี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49808" y="1481328"/>
            <a:ext cx="4892040" cy="4297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96112" y="1591056"/>
            <a:ext cx="210312" cy="210312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96112" y="1650492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43584" y="1623060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SO ที่ App สร้างมีใน WINSpeed ครบ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90488" y="1481328"/>
            <a:ext cx="4892040" cy="4297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36792" y="1591056"/>
            <a:ext cx="210312" cy="210312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36792" y="1650492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84264" y="1623060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Invoice/CN/GL post โดย WINSpeed ถูกต้อง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9808" y="2139696"/>
            <a:ext cx="4892040" cy="4297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96112" y="2249424"/>
            <a:ext cx="210312" cy="210312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96112" y="2308860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43584" y="2281428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ไม่มีเลขซ้ำหรือเลขกระโดดผิดปกติ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90488" y="2139696"/>
            <a:ext cx="4892040" cy="4297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36792" y="2249424"/>
            <a:ext cx="210312" cy="210312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36792" y="2308860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84264" y="2281428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ยอดตัน/ยอดเงิน/ราคา NET ตรงกัน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49808" y="2798064"/>
            <a:ext cx="4892040" cy="4297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96112" y="2907792"/>
            <a:ext cx="210312" cy="210312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96112" y="2967228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43584" y="2939796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Claim approved มี CN กลับครบ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190488" y="2798064"/>
            <a:ext cx="4892040" cy="4297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36792" y="2907792"/>
            <a:ext cx="210312" cy="210312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36792" y="2967228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84264" y="2939796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Rebate reversed ไม่ถูกลบ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49808" y="3456432"/>
            <a:ext cx="4892040" cy="4297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96112" y="3566160"/>
            <a:ext cx="210312" cy="210312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96112" y="3625596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243584" y="3598164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รายงาน exception เป็นศูนย์หรือมี owner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190488" y="3456432"/>
            <a:ext cx="4892040" cy="4297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36792" y="3566160"/>
            <a:ext cx="210312" cy="210312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336792" y="3625596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684264" y="3598164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เอกสาร evidence แนบครบ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49808" y="5321808"/>
            <a:ext cx="10378440" cy="566928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FCE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14400" y="5486400"/>
            <a:ext cx="219456" cy="219456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14400" y="5504688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225296" y="5468112"/>
            <a:ext cx="9774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A32D2D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เกณฑ์ Go-Live: critical reconciliation ต้องผ่าน 100% ก่อนขยายผล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10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10 · COMMON EXCEPTIONS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กรณีผิดปกติที่ Accounting ต้องรู้จัก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ตรวจเร็ว ลดความเสี่ยงบัญชีและลดงานย้อนกลับ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55448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554480"/>
            <a:ext cx="64008" cy="105156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86968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Claim เกินสิทธิ์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6968" y="2066544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ระบบควร block </a:t>
            </a: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หรือแสดงยอดเกิน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ไม่อนุมัติจนแก้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25696" y="155448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25696" y="1554480"/>
            <a:ext cx="64008" cy="105156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54296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CN ไม่กลับเข้า App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54296" y="2066544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ต้องตรวจ </a:t>
            </a: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WINSpeed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และบันทึก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CN No ให้ครบ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93024" y="155448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93024" y="1554480"/>
            <a:ext cx="64008" cy="105156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21624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Price NET ผิด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21624" y="2066544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หยุด claim รอบนั้นและแก้ master 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พร้อม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audit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297180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8368" y="2971800"/>
            <a:ext cx="64008" cy="105156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6968" y="315468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Unlock หลัง accrual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86968" y="3483864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ต้องมี reversedFlag และไม่ลบ ledger เดิม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425696" y="297180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425696" y="2971800"/>
            <a:ext cx="64008" cy="105156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54296" y="315468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Invoice mismatch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54296" y="3483864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ต้องเข้า reconciliation queue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193024" y="297180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193024" y="2971800"/>
            <a:ext cx="64008" cy="1051560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421624" y="315468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Paper lost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421624" y="3483864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ใช้ Paper Trail alert เพื่อประสานผู้เกี่ยวข้อง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58368" y="5047488"/>
            <a:ext cx="10881360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22960" y="5212080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22960" y="5230368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33856" y="5193792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ทุก exception ต้องมี owner, due date และหลักฐานปิดรายการ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11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894</Words>
  <Application>Microsoft Office PowerPoint</Application>
  <PresentationFormat>Widescreen</PresentationFormat>
  <Paragraphs>209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Prompt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World Fert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WS-Sale-App v7 | Accounting Training</dc:title>
  <dc:subject>Training</dc:subject>
  <dc:creator>World Fert Co., Ltd. / Thirayu Meererksom</dc:creator>
  <cp:lastModifiedBy>Thirayu Meererksom</cp:lastModifiedBy>
  <cp:revision>7</cp:revision>
  <dcterms:created xsi:type="dcterms:W3CDTF">2026-06-28T03:10:39Z</dcterms:created>
  <dcterms:modified xsi:type="dcterms:W3CDTF">2026-06-29T16:31:48Z</dcterms:modified>
</cp:coreProperties>
</file>