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4889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WORLD FERT  |  WS-SALE-APP</a:t>
            </a:r>
            <a:endParaRPr lang="en-US" sz="65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55280" y="651052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CONFIDENTIAL · ARCHITECTURE</a:t>
            </a:r>
            <a:endParaRPr lang="en-US" sz="650" dirty="0">
              <a:latin typeface="Prompt" panose="00000500000000000000" pitchFamily="2" charset="-34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77356" y="64894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Prompt" panose="00000500000000000000" pitchFamily="2" charset="-34"/>
                <a:ea typeface="Prompt" panose="00000500000000000000" pitchFamily="2" charset="-34"/>
                <a:cs typeface="Prompt" panose="00000500000000000000" pitchFamily="2" charset="-34"/>
              </a:defRPr>
            </a:lvl1pPr>
          </a:lstStyle>
          <a:p>
            <a:fld id="{F7021451-1387-4CA6-816F-3879F97B5CB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Prompt" panose="00000500000000000000" pitchFamily="2" charset="-34"/>
                <a:ea typeface="Prompt" panose="00000500000000000000" pitchFamily="2" charset="-34"/>
                <a:cs typeface="Prompt" panose="00000500000000000000" pitchFamily="2" charset="-34"/>
              </a:defRPr>
            </a:lvl1pPr>
          </a:lstStyle>
          <a:p>
            <a:fld id="{F7021451-1387-4CA6-816F-3879F97B5CB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082E55"/>
          </a:solidFill>
          <a:ln w="12700">
            <a:solidFill>
              <a:srgbClr val="082E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21792" y="566928"/>
            <a:ext cx="2697480" cy="265176"/>
          </a:xfrm>
          <a:prstGeom prst="roundRect">
            <a:avLst/>
          </a:prstGeom>
          <a:solidFill>
            <a:srgbClr val="153F68"/>
          </a:solidFill>
          <a:ln w="12700">
            <a:solidFill>
              <a:srgbClr val="153F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94944" y="621792"/>
            <a:ext cx="2551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TECHNICAL ARCHITECTURE · v7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537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WS-Sale-App Technical Architecture</a:t>
            </a:r>
            <a:endParaRPr lang="en-US" sz="3100" dirty="0">
              <a:latin typeface="Prompt" panose="00000500000000000000" pitchFamily="2" charset="-3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3054096"/>
            <a:ext cx="1508760" cy="548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" y="3346704"/>
            <a:ext cx="6780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CEBFA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C4 · Data Topology · Integration Contracts · Security · Operations</a:t>
            </a:r>
            <a:endParaRPr lang="en-US" sz="160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58338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C7D9E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Technical Architecture · v7</a:t>
            </a:r>
            <a:endParaRPr lang="en-US" sz="105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73568" y="1280160"/>
            <a:ext cx="548640" cy="54864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73568" y="14904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577072" y="1554480"/>
            <a:ext cx="292608" cy="0"/>
          </a:xfrm>
          <a:prstGeom prst="line">
            <a:avLst/>
          </a:prstGeom>
          <a:noFill/>
          <a:ln w="13970">
            <a:solidFill>
              <a:srgbClr val="7CAF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827264" y="196596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C4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81544" y="2176272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Context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942832" y="1280160"/>
            <a:ext cx="548640" cy="548640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942832" y="14904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546336" y="1554480"/>
            <a:ext cx="292608" cy="0"/>
          </a:xfrm>
          <a:prstGeom prst="line">
            <a:avLst/>
          </a:prstGeom>
          <a:noFill/>
          <a:ln w="13970">
            <a:solidFill>
              <a:srgbClr val="7CAF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796528" y="196596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DATA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750808" y="2176272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Topology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912096" y="1280160"/>
            <a:ext cx="548640" cy="548640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912096" y="14904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515600" y="1554480"/>
            <a:ext cx="292608" cy="0"/>
          </a:xfrm>
          <a:prstGeom prst="line">
            <a:avLst/>
          </a:prstGeom>
          <a:noFill/>
          <a:ln w="13970">
            <a:solidFill>
              <a:srgbClr val="7CAF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765792" y="196596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FLOW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720072" y="2176272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Contracts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881360" y="1280160"/>
            <a:ext cx="548640" cy="54864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881360" y="14904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4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735056" y="196596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OPS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689336" y="2176272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Run</a:t>
            </a:r>
            <a:endParaRPr lang="en-US" sz="1400" dirty="0">
              <a:latin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01 · ARCHITECTURAL INTENT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ทำระบบใหม่โดยไม่รื้อระบบบัญชีเดิม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WS-Sale-App เป็น operational layer บน WINSpeed ไม่ใช่ ERP replacement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554480"/>
            <a:ext cx="333756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554480"/>
            <a:ext cx="64008" cy="109728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6968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Design driver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2066544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ลด manual handoff และสร้าง traceability ระหว่าง Sales–Warehouse–Accounting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25696" y="1554480"/>
            <a:ext cx="333756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25696" y="1554480"/>
            <a:ext cx="64008" cy="109728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54296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Main constraint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54296" y="2066544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WINSpeed </a:t>
            </a: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เป็นระบบบัญชีหลัก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ห้ามเขียน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GL/Invoice โดยตรง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93024" y="1554480"/>
            <a:ext cx="333756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93024" y="1554480"/>
            <a:ext cx="64008" cy="109728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21624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Integration style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21624" y="2066544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JOIN/read + controlled write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+ import/evidence sync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3794760"/>
            <a:ext cx="10881360" cy="566928"/>
          </a:xfrm>
          <a:prstGeom prst="roundRect">
            <a:avLst/>
          </a:prstGeom>
          <a:solidFill>
            <a:srgbClr val="EAF3DE"/>
          </a:solidFill>
          <a:ln w="12700">
            <a:solidFill>
              <a:srgbClr val="EAF3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2960" y="3959352"/>
            <a:ext cx="219456" cy="219456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" y="397764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33856" y="3941064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B6D11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Core principle: non-invasive, evidence-first, audit-friendly, phaseable.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2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02 · C4 CONTEXT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ใครใช้ระบบและระบบภายนอกที่เกี่ยวข้อง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Context focuses on users, WINSpeed and TruckScale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0" y="2011680"/>
            <a:ext cx="3977640" cy="1298448"/>
          </a:xfrm>
          <a:prstGeom prst="roundRect">
            <a:avLst/>
          </a:prstGeom>
          <a:solidFill>
            <a:srgbClr val="0C447C"/>
          </a:solidFill>
          <a:ln w="762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0" y="2359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WS-Sale-App</a:t>
            </a:r>
            <a:endParaRPr lang="en-US" sz="19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0" y="27614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DCEBFA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Operational workflow layer</a:t>
            </a:r>
            <a:endParaRPr lang="en-US" sz="850" dirty="0">
              <a:latin typeface="Prompt" panose="00000500000000000000" pitchFamily="2" charset="-3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" y="1508760"/>
            <a:ext cx="2606040" cy="78638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1682496"/>
            <a:ext cx="256032" cy="256032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70432" y="1719072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Sales / Counter</a:t>
            </a:r>
            <a:endParaRPr lang="en-US" sz="104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70432" y="194767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user role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58368" y="4160520"/>
            <a:ext cx="2606040" cy="78638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2960" y="4334256"/>
            <a:ext cx="256032" cy="25603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70432" y="4370832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Warehouse / Weighbridge</a:t>
            </a:r>
            <a:endParaRPr lang="en-US" sz="104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70432" y="459943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user role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823960" y="1508760"/>
            <a:ext cx="2606040" cy="78638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988552" y="1682496"/>
            <a:ext cx="256032" cy="256032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336024" y="1719072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Accounting / Approver</a:t>
            </a:r>
            <a:endParaRPr lang="en-US" sz="104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336024" y="194767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user role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823960" y="4160520"/>
            <a:ext cx="2606040" cy="78638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988552" y="4334256"/>
            <a:ext cx="256032" cy="256032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336024" y="4370832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Admin / IT</a:t>
            </a:r>
            <a:endParaRPr lang="en-US" sz="104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336024" y="459943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user role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114800" y="4800600"/>
            <a:ext cx="1874520" cy="78638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279392" y="4974336"/>
            <a:ext cx="256032" cy="256032"/>
          </a:xfrm>
          <a:prstGeom prst="ellipse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626864" y="5010912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WINSpeed</a:t>
            </a:r>
            <a:endParaRPr lang="en-US" sz="104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626864" y="523951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system of record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17920" y="4800600"/>
            <a:ext cx="1874520" cy="78638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382512" y="4974336"/>
            <a:ext cx="256032" cy="256032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729984" y="5010912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TruckScale</a:t>
            </a:r>
            <a:endParaRPr lang="en-US" sz="1040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729984" y="523951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weight evidence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965960" y="2322576"/>
            <a:ext cx="2148840" cy="237744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 flipV="1">
            <a:off x="2005601" y="3310128"/>
            <a:ext cx="2185380" cy="832104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4" name="Shape 32"/>
          <p:cNvSpPr/>
          <p:nvPr/>
        </p:nvSpPr>
        <p:spPr>
          <a:xfrm flipH="1">
            <a:off x="8092440" y="2011680"/>
            <a:ext cx="731520" cy="73152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5" name="Shape 33"/>
          <p:cNvSpPr/>
          <p:nvPr/>
        </p:nvSpPr>
        <p:spPr>
          <a:xfrm flipH="1" flipV="1">
            <a:off x="7946136" y="3273552"/>
            <a:ext cx="877824" cy="1298448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6" name="Shape 34"/>
          <p:cNvSpPr/>
          <p:nvPr/>
        </p:nvSpPr>
        <p:spPr>
          <a:xfrm flipV="1">
            <a:off x="5047488" y="3310128"/>
            <a:ext cx="0" cy="1490472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7" name="Shape 35"/>
          <p:cNvSpPr/>
          <p:nvPr/>
        </p:nvSpPr>
        <p:spPr>
          <a:xfrm flipH="1" flipV="1">
            <a:off x="7144513" y="3310128"/>
            <a:ext cx="6095" cy="1490472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58368" y="5897880"/>
            <a:ext cx="10881360" cy="566928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E6F1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22960" y="6062472"/>
            <a:ext cx="219456" cy="219456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22960" y="608076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133856" y="6044184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0C447C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System context: users collaborate in App; accounting records stay in WINSpeed; weight evidence comes from TruckScale.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3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03 · CONTAINER VIEW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React frontend, Express backend, SQL Server and MySQL pools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The backend is the control point for RBAC, audit, database boundary and integration logic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49808" y="1463040"/>
            <a:ext cx="333756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7552" y="17739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React Frontend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87552" y="203911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Vercel · Tablet-first UI</a:t>
            </a:r>
            <a:endParaRPr lang="en-US" sz="1050" dirty="0">
              <a:latin typeface="Prompt" panose="00000500000000000000" pitchFamily="2" charset="-3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80560" y="1463040"/>
            <a:ext cx="333756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18304" y="17739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67A6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Express API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18304" y="203911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Railway · JWT · Socket.IO</a:t>
            </a:r>
            <a:endParaRPr lang="en-US" sz="1050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49808" y="4023360"/>
            <a:ext cx="333756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87552" y="43342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SQL Server dbo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87552" y="459943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WINSpeed read/controlled write</a:t>
            </a:r>
            <a:endParaRPr lang="en-US" sz="105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480560" y="4023360"/>
            <a:ext cx="333756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18304" y="43342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3B6D11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SQL Server wf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18304" y="459943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App schema read-write</a:t>
            </a:r>
            <a:endParaRPr lang="en-US" sz="105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11312" y="4023360"/>
            <a:ext cx="333756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49056" y="43342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MySQL TruckScale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449056" y="4599432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read-only weight records</a:t>
            </a:r>
            <a:endParaRPr lang="en-US" sz="105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087368" y="1938528"/>
            <a:ext cx="393192" cy="0"/>
          </a:xfrm>
          <a:prstGeom prst="line">
            <a:avLst/>
          </a:prstGeom>
          <a:noFill/>
          <a:ln w="17780">
            <a:solidFill>
              <a:srgbClr val="1767A6"/>
            </a:solidFill>
            <a:prstDash val="solid"/>
            <a:headEnd type="triangle" w="med" len="med"/>
            <a:tailEnd type="triangle" w="med" len="me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44768" y="2432304"/>
            <a:ext cx="0" cy="1591056"/>
          </a:xfrm>
          <a:prstGeom prst="line">
            <a:avLst/>
          </a:prstGeom>
          <a:noFill/>
          <a:ln w="13970">
            <a:solidFill>
              <a:srgbClr val="0C447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44768" y="2432304"/>
            <a:ext cx="0" cy="1591056"/>
          </a:xfrm>
          <a:prstGeom prst="line">
            <a:avLst/>
          </a:prstGeom>
          <a:noFill/>
          <a:ln w="13970">
            <a:solidFill>
              <a:srgbClr val="3B6D11"/>
            </a:solidFill>
            <a:prstDash val="solid"/>
            <a:headEnd type="triangle" w="med" len="med"/>
            <a:tailEnd type="triangle" w="med" len="me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44768" y="2432304"/>
            <a:ext cx="3730752" cy="1591056"/>
          </a:xfrm>
          <a:prstGeom prst="line">
            <a:avLst/>
          </a:prstGeom>
          <a:noFill/>
          <a:ln w="13970">
            <a:solidFill>
              <a:srgbClr val="BA7517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49808" y="5687568"/>
            <a:ext cx="10789920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14400" y="5852160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4400" y="587044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225296" y="5833872"/>
            <a:ext cx="10186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Add planned hardening: centralized logs, CI/CD checks, secret manager, migration tracking.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4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29" name="Shape 20">
            <a:extLst>
              <a:ext uri="{FF2B5EF4-FFF2-40B4-BE49-F238E27FC236}">
                <a16:creationId xmlns:a16="http://schemas.microsoft.com/office/drawing/2014/main" id="{569AA485-7856-FEFB-00A0-74D341A97F1E}"/>
              </a:ext>
            </a:extLst>
          </p:cNvPr>
          <p:cNvSpPr/>
          <p:nvPr/>
        </p:nvSpPr>
        <p:spPr>
          <a:xfrm flipV="1">
            <a:off x="2464237" y="2441448"/>
            <a:ext cx="2254067" cy="1591056"/>
          </a:xfrm>
          <a:prstGeom prst="line">
            <a:avLst/>
          </a:prstGeom>
          <a:noFill/>
          <a:ln w="13970">
            <a:solidFill>
              <a:srgbClr val="7030A0"/>
            </a:solidFill>
            <a:prstDash val="solid"/>
            <a:headEnd type="triangle" w="med" len="med"/>
            <a:tailEnd type="triangle" w="med" len="me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04 · DATA TOPOLOGY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 data domains with clear ownership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Ownership and write authority are more important than physical database location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554480"/>
            <a:ext cx="3337560" cy="12344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554480"/>
            <a:ext cx="64008" cy="123444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6968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WINSpeed dbo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2066544"/>
            <a:ext cx="29443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Master, SO/Invoice/CN/GL, vouchers. Read mostly;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controlled exception writes.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25696" y="1554480"/>
            <a:ext cx="3337560" cy="12344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25696" y="1554480"/>
            <a:ext cx="64008" cy="123444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54296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wf schema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54296" y="2066544"/>
            <a:ext cx="29443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SO state, audit, rebate, paper trail, giveaway, control ticket, weigh ticket.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93024" y="1554480"/>
            <a:ext cx="3337560" cy="12344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93024" y="1554480"/>
            <a:ext cx="64008" cy="12344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21624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TruckScale MySQL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21624" y="2066544"/>
            <a:ext cx="29443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tblscale, tbl_keyone, tblproduct_detail, movebill and weight records.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Read-only.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3703320"/>
            <a:ext cx="2073859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8368" y="3703320"/>
            <a:ext cx="2073859" cy="73152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8096" y="390448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Master read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8096" y="4215384"/>
            <a:ext cx="18544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dbo views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50515" y="420624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860243" y="3703320"/>
            <a:ext cx="2073859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860243" y="3703320"/>
            <a:ext cx="2073859" cy="7315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969971" y="390448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Operational write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969971" y="4215384"/>
            <a:ext cx="18544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wf tables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952390" y="420624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062118" y="3703320"/>
            <a:ext cx="2073859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62118" y="3703320"/>
            <a:ext cx="2073859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71846" y="390448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Controlled write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171846" y="4215384"/>
            <a:ext cx="18544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SOHD/SODT/prices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154266" y="420624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263994" y="3703320"/>
            <a:ext cx="2073859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263994" y="3703320"/>
            <a:ext cx="2073859" cy="73152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373722" y="390448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Evidence read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373722" y="4215384"/>
            <a:ext cx="18544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TruckScale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356141" y="420624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465869" y="3703320"/>
            <a:ext cx="2073859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465869" y="3703320"/>
            <a:ext cx="2073859" cy="7315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575597" y="390448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Financial post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575597" y="4215384"/>
            <a:ext cx="18544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WINSpeed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58368" y="5440680"/>
            <a:ext cx="10881360" cy="566928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FCE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22960" y="5605272"/>
            <a:ext cx="219456" cy="219456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22960" y="562356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133856" y="5586984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A32D2D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Data rule: if it affects accounting, WINSpeed must remain source of financial truth.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5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05 · SALES ORDER STATE MACHINE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สถานะของ SO ควบคุมทั้ง UI, data writes, paper trail and rebate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ทุก transition ต้อง audit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645920"/>
            <a:ext cx="2073859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645920"/>
            <a:ext cx="2073859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8096" y="184708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DRAFT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8096" y="2157984"/>
            <a:ext cx="185440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editable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50515" y="219456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860243" y="1645920"/>
            <a:ext cx="2073859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860243" y="1645920"/>
            <a:ext cx="2073859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969971" y="184708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VERIFIED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969971" y="2157984"/>
            <a:ext cx="185440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counter checked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952390" y="219456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62118" y="1645920"/>
            <a:ext cx="2073859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62118" y="1645920"/>
            <a:ext cx="2073859" cy="7315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171846" y="184708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CONFIRMED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71846" y="2157984"/>
            <a:ext cx="185440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rebate accrual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154266" y="219456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263994" y="1645920"/>
            <a:ext cx="2073859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263994" y="1645920"/>
            <a:ext cx="2073859" cy="73152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73722" y="184708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PICKING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73722" y="2157984"/>
            <a:ext cx="185440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warehouse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356141" y="219456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465869" y="1645920"/>
            <a:ext cx="2073859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465869" y="1645920"/>
            <a:ext cx="2073859" cy="73152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575597" y="1847088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SHIPPED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575597" y="2157984"/>
            <a:ext cx="185440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locked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58368" y="315468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58368" y="3154680"/>
            <a:ext cx="64008" cy="105156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86968" y="33375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Unlock path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86968" y="366674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PICKING → Request → Approve → CONFIRMED + reverse ledger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425696" y="315468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425696" y="3154680"/>
            <a:ext cx="64008" cy="105156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654296" y="33375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Audit data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654296" y="366674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actor, IP, timestamp, before/after JSON, approval result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193024" y="315468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193024" y="3154680"/>
            <a:ext cx="64008" cy="105156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421624" y="33375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Invoice boundary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421624" y="366674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Shipped triggers evidence sync/import; WINSpeed posts invoice/GL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58368" y="5120640"/>
            <a:ext cx="10881360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22960" y="5285232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22960" y="530352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133856" y="5266944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State machine is the core control model; avoid direct DB updates outside API/state transition logic.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6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06 · REBATE FIFO ARCHITECTURE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Rebate is a ledger, not a simple discount field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The design turns a pooled manual process into traceable entries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406316"/>
            <a:ext cx="1706880" cy="78095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406316"/>
            <a:ext cx="1706880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8096" y="1607484"/>
            <a:ext cx="1487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Price Book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8096" y="1918380"/>
            <a:ext cx="1487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NET/month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383536" y="1973244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93264" y="1406316"/>
            <a:ext cx="1706880" cy="78095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493264" y="1406316"/>
            <a:ext cx="1706880" cy="73152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02992" y="1607484"/>
            <a:ext cx="1487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Plan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602992" y="1918380"/>
            <a:ext cx="1487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policy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18432" y="1973244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28160" y="1406316"/>
            <a:ext cx="1706880" cy="78095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28160" y="1406316"/>
            <a:ext cx="1706880" cy="73152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37888" y="1607484"/>
            <a:ext cx="1487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Pool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37888" y="1918380"/>
            <a:ext cx="1487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Sales allocation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53328" y="1973244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163056" y="1406316"/>
            <a:ext cx="1706880" cy="78095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63056" y="1406316"/>
            <a:ext cx="1706880" cy="7315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72784" y="1607484"/>
            <a:ext cx="1487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Ledger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72784" y="1918380"/>
            <a:ext cx="1487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accrual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888224" y="1973244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997952" y="1406316"/>
            <a:ext cx="1706880" cy="78095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997952" y="1406316"/>
            <a:ext cx="1706880" cy="73152"/>
          </a:xfrm>
          <a:prstGeom prst="rect">
            <a:avLst/>
          </a:prstGeom>
          <a:solidFill>
            <a:srgbClr val="6D4C9B"/>
          </a:solidFill>
          <a:ln w="12700">
            <a:solidFill>
              <a:srgbClr val="6D4C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107680" y="1607484"/>
            <a:ext cx="1487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Claim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107680" y="1918380"/>
            <a:ext cx="1487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FIFO cut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723120" y="1973244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832848" y="1406316"/>
            <a:ext cx="1706880" cy="780959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832848" y="1406316"/>
            <a:ext cx="1706880" cy="7315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942576" y="1607484"/>
            <a:ext cx="1487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CN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942576" y="1918380"/>
            <a:ext cx="1487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financial evidence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58368" y="2315291"/>
            <a:ext cx="10881360" cy="919513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600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32688" y="2653619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Ledger invariant</a:t>
            </a:r>
            <a:endParaRPr lang="en-US" sz="2400" dirty="0">
              <a:latin typeface="Prompt" panose="00000500000000000000" pitchFamily="2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743200" y="2671907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ทุกบาทต้อง link กลับ: Plan → Pool → SO Line → Ledger → Claim → CN. Unlock ต้อง reverse ไม่ลบรายการเดิม.</a:t>
            </a:r>
            <a:endParaRPr lang="en-US" sz="1200" dirty="0">
              <a:latin typeface="Prompt" panose="00000500000000000000" pitchFamily="2" charset="-34"/>
            </a:endParaRPr>
          </a:p>
        </p:txBody>
      </p:sp>
      <p:pic>
        <p:nvPicPr>
          <p:cNvPr id="38" name="Image 0" descr="/mnt/data/WorldFert_WSSaleApp_v7_Winable_Package/05-UI-SCREENSHOTS/03-rebate-p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480" y="3362820"/>
            <a:ext cx="8321040" cy="3495180"/>
          </a:xfrm>
          <a:prstGeom prst="rect">
            <a:avLst/>
          </a:prstGeom>
        </p:spPr>
      </p:pic>
      <p:sp>
        <p:nvSpPr>
          <p:cNvPr id="39" name="Shape 36"/>
          <p:cNvSpPr/>
          <p:nvPr/>
        </p:nvSpPr>
        <p:spPr>
          <a:xfrm>
            <a:off x="1935480" y="5451684"/>
            <a:ext cx="8321040" cy="38404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2063496" y="5579700"/>
            <a:ext cx="8065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Rebate pool UI evidence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7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07 · TRUCKSCALE INTEGRATION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TruckScale provides weight evidence and product movement details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Phase current: read-only lookup with matching by truck plate / movebill</a:t>
            </a:r>
            <a:endParaRPr lang="en-US" sz="1100" dirty="0">
              <a:latin typeface="Prompt" panose="00000500000000000000" pitchFamily="2" charset="-34"/>
            </a:endParaRPr>
          </a:p>
        </p:txBody>
      </p:sp>
      <p:pic>
        <p:nvPicPr>
          <p:cNvPr id="6" name="Image 0" descr="/mnt/data/WorldFert_WSSaleApp_v7_Winable_Package/05-UI-SCREENSHOTS/09-truckscale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5623560" cy="3163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197096"/>
            <a:ext cx="5623560" cy="38404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5"/>
          <p:cNvSpPr/>
          <p:nvPr/>
        </p:nvSpPr>
        <p:spPr>
          <a:xfrm>
            <a:off x="768096" y="4288536"/>
            <a:ext cx="5367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TruckScale architecture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629400" y="1536192"/>
            <a:ext cx="4663440" cy="8686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629400" y="1536192"/>
            <a:ext cx="64008" cy="86868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858000" y="1719072"/>
            <a:ext cx="4270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Core tables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858000" y="1963017"/>
            <a:ext cx="4270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tblscale (~403k), tbl_keyone (~408k),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tblproduct_detail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(~550k)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629400" y="2633472"/>
            <a:ext cx="4663440" cy="8686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629400" y="2633472"/>
            <a:ext cx="64008" cy="86868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858000" y="2816352"/>
            <a:ext cx="4270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Key fields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858000" y="3060297"/>
            <a:ext cx="4270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one_car_regis, movebill, weight_in/out/net,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date/time, product detail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629400" y="3730752"/>
            <a:ext cx="4663440" cy="8686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629400" y="3730752"/>
            <a:ext cx="64008" cy="8686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858000" y="3913632"/>
            <a:ext cx="4270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Data quality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858000" y="4157577"/>
            <a:ext cx="4270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Excel serial dates, charset mix, no FK,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duplicate/dirty truck plates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629400" y="5010912"/>
            <a:ext cx="4663440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793992" y="5175504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793992" y="5193792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104888" y="515721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Recommended canonical matching: truck plate + recent date + movebill confirmation; do not trust invoice number alone.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8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08 · API AND PAGE CONTRACT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Every page should have known API, SQL source and migration ownership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This is what makes maintenance possible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508760"/>
            <a:ext cx="3291840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64008" cy="100584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6968" y="1691640"/>
            <a:ext cx="2898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Dashboard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2020824"/>
            <a:ext cx="2898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/so/stats · /master/aging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25696" y="1508760"/>
            <a:ext cx="3291840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25696" y="1508760"/>
            <a:ext cx="64008" cy="1005840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54296" y="1691640"/>
            <a:ext cx="2898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Sales POS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54296" y="2020824"/>
            <a:ext cx="2898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/master/* · POST /so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93024" y="1508760"/>
            <a:ext cx="3291840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93024" y="1508760"/>
            <a:ext cx="64008" cy="10058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21624" y="1691640"/>
            <a:ext cx="2898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Paper Trail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21624" y="2020824"/>
            <a:ext cx="2898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/papertrail/board · scan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2990088"/>
            <a:ext cx="3291840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8368" y="2990088"/>
            <a:ext cx="64008" cy="100584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6968" y="3172968"/>
            <a:ext cx="2898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Rebate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86968" y="3502152"/>
            <a:ext cx="2898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/rebate/pools · claims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425696" y="2990088"/>
            <a:ext cx="3291840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425696" y="2990088"/>
            <a:ext cx="64008" cy="1005840"/>
          </a:xfrm>
          <a:prstGeom prst="rect">
            <a:avLst/>
          </a:prstGeom>
          <a:solidFill>
            <a:srgbClr val="6D4C9B"/>
          </a:solidFill>
          <a:ln w="12700">
            <a:solidFill>
              <a:srgbClr val="6D4C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54296" y="3172968"/>
            <a:ext cx="2898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TruckScale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54296" y="3502152"/>
            <a:ext cx="2898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/truckscale/*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93024" y="2990088"/>
            <a:ext cx="3291840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193024" y="2990088"/>
            <a:ext cx="64008" cy="100584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421624" y="3172968"/>
            <a:ext cx="2898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Admin/Master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421624" y="3502152"/>
            <a:ext cx="2898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/auth/users · /master/prices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58368" y="5074920"/>
            <a:ext cx="10881360" cy="566928"/>
          </a:xfrm>
          <a:prstGeom prst="roundRect">
            <a:avLst/>
          </a:prstGeom>
          <a:solidFill>
            <a:srgbClr val="EAF3DE"/>
          </a:solidFill>
          <a:ln w="12700">
            <a:solidFill>
              <a:srgbClr val="EAF3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22960" y="5239512"/>
            <a:ext cx="219456" cy="219456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2960" y="525780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33856" y="5221224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B6D11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Maintain the Pages → API → SQL → Migration map as part of every release.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9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09 · SECURITY ARCHITECTURE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Security control must protect legacy integration and financial evidence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Minimum posture before Full Production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554480"/>
            <a:ext cx="333756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554480"/>
            <a:ext cx="64008" cy="109728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6968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Authentication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2066544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JWT access + refresh, bcrypt,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token expiry, audit auth events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25696" y="1554480"/>
            <a:ext cx="333756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25696" y="1554480"/>
            <a:ext cx="64008" cy="109728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54296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Authorization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54296" y="2066544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Role-based + backend enforcement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+ field/action constraints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93024" y="1554480"/>
            <a:ext cx="333756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93024" y="1554480"/>
            <a:ext cx="64008" cy="109728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21624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Secrets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21624" y="2066544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No default secrets, no SA/root,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env vars only, rotation log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3090672"/>
            <a:ext cx="333756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8368" y="3090672"/>
            <a:ext cx="64008" cy="1097280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6968" y="3273552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Network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86968" y="3602736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HTTPS, CORS restricted, rate limit, helmet headers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425696" y="3090672"/>
            <a:ext cx="333756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425696" y="3090672"/>
            <a:ext cx="64008" cy="10972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54296" y="3273552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Audit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54296" y="3602736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Append-only, 7-year retention, before/after JSON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93024" y="3090672"/>
            <a:ext cx="333756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193024" y="3090672"/>
            <a:ext cx="64008" cy="1097280"/>
          </a:xfrm>
          <a:prstGeom prst="rect">
            <a:avLst/>
          </a:prstGeom>
          <a:solidFill>
            <a:srgbClr val="6D4C9B"/>
          </a:solidFill>
          <a:ln w="12700">
            <a:solidFill>
              <a:srgbClr val="6D4C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421624" y="3273552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Data protection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421624" y="360273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PDPA, least privilege, backup encryption, sensitive field policy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58368" y="5138928"/>
            <a:ext cx="10881360" cy="566928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FCE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22960" y="5303520"/>
            <a:ext cx="219456" cy="219456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2960" y="532180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33856" y="5285232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A32D2D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Security is currently the primary P0 gate before unrestricted production.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10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10 · DEPLOYMENT ARCHITECTURE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Deployable on cloud or on-prem with the same operational principles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Vercel/Railway is current; Docker Compose supports on-prem packaging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600200"/>
            <a:ext cx="1706880" cy="113385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600200"/>
            <a:ext cx="1706880" cy="73152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8096" y="1801368"/>
            <a:ext cx="1487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Git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8096" y="2112264"/>
            <a:ext cx="1487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source</a:t>
            </a:r>
            <a:endParaRPr lang="en-US" sz="13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383536" y="2167128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93264" y="1600200"/>
            <a:ext cx="1706880" cy="113385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493264" y="1600200"/>
            <a:ext cx="1706880" cy="73152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02992" y="1801368"/>
            <a:ext cx="1487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Build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602992" y="2112264"/>
            <a:ext cx="1487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frontend/backend</a:t>
            </a:r>
            <a:endParaRPr lang="en-US" sz="13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18432" y="2167128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28160" y="1600200"/>
            <a:ext cx="1706880" cy="113385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28160" y="1600200"/>
            <a:ext cx="1706880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37888" y="1801368"/>
            <a:ext cx="1487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Migrate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37888" y="2112264"/>
            <a:ext cx="1487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SQL</a:t>
            </a:r>
            <a:endParaRPr lang="en-US" sz="1300" dirty="0">
              <a:latin typeface="Prompt" panose="00000500000000000000" pitchFamily="2" charset="-3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53328" y="2167128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163056" y="1600200"/>
            <a:ext cx="1706880" cy="113385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63056" y="1600200"/>
            <a:ext cx="1706880" cy="7315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72784" y="1801368"/>
            <a:ext cx="1487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Deploy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72784" y="2112264"/>
            <a:ext cx="1487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Vercel/Railway</a:t>
            </a:r>
            <a:endParaRPr lang="en-US" sz="1300" dirty="0">
              <a:latin typeface="Prompt" panose="00000500000000000000" pitchFamily="2" charset="-3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888224" y="2167128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997952" y="1600200"/>
            <a:ext cx="1706880" cy="113385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997952" y="1600200"/>
            <a:ext cx="1706880" cy="73152"/>
          </a:xfrm>
          <a:prstGeom prst="rect">
            <a:avLst/>
          </a:prstGeom>
          <a:solidFill>
            <a:srgbClr val="6D4C9B"/>
          </a:solidFill>
          <a:ln w="12700">
            <a:solidFill>
              <a:srgbClr val="6D4C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107680" y="1801368"/>
            <a:ext cx="1487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Smoke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107680" y="2112264"/>
            <a:ext cx="1487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health/login/SO</a:t>
            </a:r>
            <a:endParaRPr lang="en-US" sz="13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723120" y="2167128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832848" y="1600200"/>
            <a:ext cx="1706880" cy="113385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832848" y="1600200"/>
            <a:ext cx="1706880" cy="7315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942576" y="1801368"/>
            <a:ext cx="1487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Monitor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942576" y="2112264"/>
            <a:ext cx="1487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logs/alerts</a:t>
            </a:r>
            <a:endParaRPr lang="en-US" sz="1300" dirty="0">
              <a:latin typeface="Prompt" panose="00000500000000000000" pitchFamily="2" charset="-3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58368" y="3200400"/>
            <a:ext cx="333756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58368" y="3200400"/>
            <a:ext cx="64008" cy="96012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86968" y="338328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Cloud path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86968" y="3712464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Vercel frontend + Railway backend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+ SQL/TruckScale connectivity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425696" y="3200400"/>
            <a:ext cx="333756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425696" y="3200400"/>
            <a:ext cx="64008" cy="960120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654296" y="338328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On-prem path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654296" y="3712464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Docker Compose frontend/backend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+ direct LAN/VPN database access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193024" y="3200400"/>
            <a:ext cx="333756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193024" y="3200400"/>
            <a:ext cx="64008" cy="9601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421624" y="338328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Release control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421624" y="3712464"/>
            <a:ext cx="2944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version, changelog, rollback,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health check and evidence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58368" y="5029200"/>
            <a:ext cx="10881360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822960" y="5193792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22960" y="521208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133856" y="5175504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VITE_API_BASE_URL is baked at frontend build time; changing API URL requires rebuild.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11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11 · OBSERVABILITY AND DR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Production architecture is incomplete without operations architecture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Monitoring and backup are part of the system, not optional add-ons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2468880" cy="106070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572768"/>
            <a:ext cx="2468880" cy="73152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41248" y="17922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99.5%</a:t>
            </a:r>
            <a:endParaRPr lang="en-US" sz="23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1248" y="21762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Availability target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841248" y="23957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business hours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91840" y="1572768"/>
            <a:ext cx="2468880" cy="106070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91840" y="1572768"/>
            <a:ext cx="2468880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74720" y="17922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&lt;4h</a:t>
            </a:r>
            <a:endParaRPr lang="en-US" sz="23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74720" y="21762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RTO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74720" y="23957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restore service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25312" y="1572768"/>
            <a:ext cx="2468880" cy="106070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25312" y="1572768"/>
            <a:ext cx="2468880" cy="7315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08192" y="17922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3B6D11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&lt;1h</a:t>
            </a:r>
            <a:endParaRPr lang="en-US" sz="23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08192" y="21762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RPO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08192" y="23957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restore data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558784" y="1572768"/>
            <a:ext cx="2468880" cy="106070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558784" y="1572768"/>
            <a:ext cx="2468880" cy="73152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741664" y="17922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67A6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7y</a:t>
            </a:r>
            <a:endParaRPr lang="en-US" sz="23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741664" y="21762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Audit retention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741664" y="23957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immutability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58368" y="3218688"/>
            <a:ext cx="5166360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58368" y="3218688"/>
            <a:ext cx="64008" cy="100584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86968" y="3401568"/>
            <a:ext cx="4773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Observability backlog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86968" y="3730752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centralized logs, alerting, uptime checks,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error tracing, DB latency dashboard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19088" y="3218688"/>
            <a:ext cx="5166360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19088" y="3218688"/>
            <a:ext cx="64008" cy="100584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647688" y="3401568"/>
            <a:ext cx="4773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DR evidence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647688" y="3730752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backup schedule, restore drill, runbook,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owner and recovery report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58368" y="5074920"/>
            <a:ext cx="10881360" cy="566928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FCE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22960" y="5239512"/>
            <a:ext cx="219456" cy="219456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22960" y="525780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133856" y="5221224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A32D2D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 system is not production grade until restore and incident response have been tested.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12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12 · PERFORMANCE ENGINEERING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Legacy SQL requires deliberate query design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Avoid correlated subqueries and OR conditions that force scans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554480"/>
            <a:ext cx="3337560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554480"/>
            <a:ext cx="64008" cy="114300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6968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Problem pattern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2066544"/>
            <a:ext cx="29443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Correlated subquery per SO row + OR condition on large tables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25696" y="1554480"/>
            <a:ext cx="3337560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25696" y="1554480"/>
            <a:ext cx="64008" cy="114300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54296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Fix pattern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54296" y="2066544"/>
            <a:ext cx="29443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Pre-aggregate, JOIN once, split OR with UNION, add indexes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93024" y="1554480"/>
            <a:ext cx="3337560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93024" y="1554480"/>
            <a:ext cx="64008" cy="11430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21624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Target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21624" y="2066544"/>
            <a:ext cx="29443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API P95 &lt;1s, reports &lt;3s, master lookup &lt;500ms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3566160"/>
            <a:ext cx="2624328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8368" y="3566160"/>
            <a:ext cx="2624328" cy="7315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8096" y="3767328"/>
            <a:ext cx="2404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Scan-heavy query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8096" y="4078224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6 minutes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300984" y="406908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410712" y="3566160"/>
            <a:ext cx="2624328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410712" y="3566160"/>
            <a:ext cx="2624328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520440" y="3767328"/>
            <a:ext cx="2404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Index + rewrite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520440" y="4078224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&lt;5 seconds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053328" y="406908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163056" y="3566160"/>
            <a:ext cx="2624328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163056" y="3566160"/>
            <a:ext cx="2624328" cy="7315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272784" y="3767328"/>
            <a:ext cx="2404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Cache / top limit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272784" y="4078224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UI stable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805672" y="406908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915400" y="3566160"/>
            <a:ext cx="2624328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915400" y="3566160"/>
            <a:ext cx="2624328" cy="73152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400" dirty="0">
              <a:latin typeface="Prompt" panose="00000500000000000000" pitchFamily="2" charset="-3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025128" y="3767328"/>
            <a:ext cx="2404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Measure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025128" y="4078224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P95 + logs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58368" y="5285232"/>
            <a:ext cx="10881360" cy="566928"/>
          </a:xfrm>
          <a:prstGeom prst="roundRect">
            <a:avLst/>
          </a:prstGeom>
          <a:solidFill>
            <a:srgbClr val="EAF3DE"/>
          </a:solidFill>
          <a:ln w="12700">
            <a:solidFill>
              <a:srgbClr val="EAF3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22960" y="5449824"/>
            <a:ext cx="219456" cy="219456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22960" y="5468112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133856" y="5431536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B6D11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Keep SQL performance decisions documented; future developers must know why queries look structured this way.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13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13 · OPEN ARCHITECTURE DECISIONS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ข้อที่ต้องตัดสินใจเพื่อขยายจาก Pilot เป็น Product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ไม่ใช่ blocker ทุกข้อ แต่ควรมี owner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55448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554480"/>
            <a:ext cx="64008" cy="1051560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6968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LINE intake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206654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Phase 2: webhook/LIFF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หรือยังคงใช้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web-first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25696" y="155448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25696" y="1554480"/>
            <a:ext cx="64008" cy="105156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54296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Credit master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54296" y="206654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สร้าง wf Credit Master </a:t>
            </a: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หรือ</a:t>
            </a:r>
            <a:endParaRPr lang="en-US" sz="1200" dirty="0">
              <a:solidFill>
                <a:srgbClr val="334155"/>
              </a:solidFill>
              <a:latin typeface="Prompt" panose="00000500000000000000" pitchFamily="2" charset="-34"/>
              <a:ea typeface="Noto Sans Thai" pitchFamily="34" charset="-122"/>
              <a:cs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ยกเลิก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Credit Hold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93024" y="155448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93024" y="1554480"/>
            <a:ext cx="64008" cy="105156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21624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TruckScale source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21624" y="206654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Railway MySQL vs local tunnel/VPN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vs ETL to SQL Server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297180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8368" y="2971800"/>
            <a:ext cx="64008" cy="1051560"/>
          </a:xfrm>
          <a:prstGeom prst="rect">
            <a:avLst/>
          </a:prstGeom>
          <a:solidFill>
            <a:srgbClr val="6D4C9B"/>
          </a:solidFill>
          <a:ln w="12700">
            <a:solidFill>
              <a:srgbClr val="6D4C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6968" y="315468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CI/CD maturity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86968" y="348386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เพิ่ม automated tests, lint, build gate, migration check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425696" y="297180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425696" y="2971800"/>
            <a:ext cx="64008" cy="105156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54296" y="315468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Monitoring stack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54296" y="348386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เลือก Sentry/Logtail/Grafana/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Prometheus ตามงบ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93024" y="2971800"/>
            <a:ext cx="3337560" cy="1051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193024" y="2971800"/>
            <a:ext cx="64008" cy="105156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421624" y="315468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Commercial packaging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421624" y="348386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Pilot / Production Core / Enterprise Assurance tiers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58368" y="5074920"/>
            <a:ext cx="10881360" cy="566928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E6F1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22960" y="5239512"/>
            <a:ext cx="219456" cy="219456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2960" y="525780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33856" y="5221224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0C447C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Architecture should remain phaseable: solve operational pain now, expand governance and automation as adoption grows.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14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498080" y="0"/>
            <a:ext cx="4690872" cy="6858000"/>
          </a:xfrm>
          <a:prstGeom prst="rect">
            <a:avLst/>
          </a:prstGeom>
          <a:solidFill>
            <a:srgbClr val="082E55"/>
          </a:solidFill>
          <a:ln w="12700">
            <a:solidFill>
              <a:srgbClr val="082E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8046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ARCHITECTURE SUMMARY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64465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Non-invasive operational layer</a:t>
            </a:r>
            <a:endParaRPr lang="en-US" sz="2800" dirty="0">
              <a:latin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that makes sales execution traceable</a:t>
            </a:r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6" name="Text 4"/>
          <p:cNvSpPr/>
          <p:nvPr/>
        </p:nvSpPr>
        <p:spPr>
          <a:xfrm>
            <a:off x="713232" y="2907792"/>
            <a:ext cx="619963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CEBFA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Keep WINSpeed as financial system of record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DCEBFA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· Add wf as operational evidence layer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DCEBFA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· Read TruckScale for weight truth</a:t>
            </a:r>
            <a:endParaRPr lang="en-US" sz="1600" dirty="0">
              <a:latin typeface="Prompt" panose="00000500000000000000" pitchFamily="2" charset="-3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001000" y="1508760"/>
            <a:ext cx="3383280" cy="8412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001000" y="1508760"/>
            <a:ext cx="64008" cy="841248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0" y="1691640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Core invariant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0" y="2020824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No direct GL write from App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001000" y="2633472"/>
            <a:ext cx="3383280" cy="8412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01000" y="2633472"/>
            <a:ext cx="64008" cy="84124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0" y="2816352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Core evidence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0" y="3145536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Every transition has audit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01000" y="3758184"/>
            <a:ext cx="3383280" cy="8412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001000" y="3758184"/>
            <a:ext cx="64008" cy="84124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0" y="3941064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Core gate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0" y="4270248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P0 before Full Production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3232" y="59893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C7D9E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World Fert · WS-Sale-App</a:t>
            </a:r>
            <a:endParaRPr lang="en-US" sz="900" dirty="0">
              <a:latin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1347</Words>
  <Application>Microsoft Office PowerPoint</Application>
  <PresentationFormat>Widescreen</PresentationFormat>
  <Paragraphs>307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Prompt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World Fert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WS-Sale-App v7 | Technical Architecture</dc:title>
  <dc:subject>Architecture</dc:subject>
  <dc:creator>World Fert Co., Ltd. / Thirayu Meererksom</dc:creator>
  <cp:lastModifiedBy>Thirayu Meererksom</cp:lastModifiedBy>
  <cp:revision>11</cp:revision>
  <dcterms:created xsi:type="dcterms:W3CDTF">2026-06-28T03:10:39Z</dcterms:created>
  <dcterms:modified xsi:type="dcterms:W3CDTF">2026-06-29T17:02:27Z</dcterms:modified>
</cp:coreProperties>
</file>