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15d9d2d9d44817" /><Relationship Type="http://schemas.openxmlformats.org/officeDocument/2006/relationships/extended-properties" Target="/docProps/app.xml" Id="R8424b9fc172c484f" /><Relationship Type="http://schemas.openxmlformats.org/officeDocument/2006/relationships/officeDocument" Target="/ppt/presentation.xml" Id="Rc7baee433f774a9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3212ba142ce4d96"/>
  </p:sldMasterIdLst>
  <p:notesMasterIdLst>
    <p:notesMasterId xmlns:r="http://schemas.openxmlformats.org/officeDocument/2006/relationships" r:id="R80588d2cdf454a97"/>
  </p:notesMasterIdLst>
  <p:sldIdLst>
    <p:sldId xmlns:r="http://schemas.openxmlformats.org/officeDocument/2006/relationships" id="256" r:id="R975a7eb3da7d4570"/>
    <p:sldId xmlns:r="http://schemas.openxmlformats.org/officeDocument/2006/relationships" id="257" r:id="Rf635c48630d74e14"/>
    <p:sldId xmlns:r="http://schemas.openxmlformats.org/officeDocument/2006/relationships" id="258" r:id="Ra87f604e93aa49f2"/>
    <p:sldId xmlns:r="http://schemas.openxmlformats.org/officeDocument/2006/relationships" id="259" r:id="R4e39a6a4e0bb4e93"/>
    <p:sldId xmlns:r="http://schemas.openxmlformats.org/officeDocument/2006/relationships" id="260" r:id="R32f1d91f32464601"/>
    <p:sldId xmlns:r="http://schemas.openxmlformats.org/officeDocument/2006/relationships" id="261" r:id="Rb9ab4e57eb8448d6"/>
    <p:sldId xmlns:r="http://schemas.openxmlformats.org/officeDocument/2006/relationships" id="262" r:id="R38c840ad5bf84ffa"/>
    <p:sldId xmlns:r="http://schemas.openxmlformats.org/officeDocument/2006/relationships" id="263" r:id="R492a42948ae946be"/>
    <p:sldId xmlns:r="http://schemas.openxmlformats.org/officeDocument/2006/relationships" id="264" r:id="Rc16a8e2008984e3e"/>
  </p:sldIdLst>
  <p:sldSz cx="12192000" cy="6858000"/>
  <p:notesSz cx="6858000" cy="9144000"/>
  <p:embeddedFontLst>
    <p:embeddedFont>
      <p:font typeface="Inter"/>
      <p:regular xmlns:r="http://schemas.openxmlformats.org/officeDocument/2006/relationships" r:id="R5ca0cd7a17404505"/>
      <p:bold xmlns:r="http://schemas.openxmlformats.org/officeDocument/2006/relationships" r:id="R9d6271fa75ba4564"/>
    </p:embeddedFont>
    <p:embeddedFont>
      <p:font typeface="Inter Medium"/>
      <p:regular xmlns:r="http://schemas.openxmlformats.org/officeDocument/2006/relationships" r:id="Rb49ce91aa58941f7"/>
    </p:embeddedFont>
    <p:embeddedFont>
      <p:font typeface="Inter SemiBold"/>
      <p:regular xmlns:r="http://schemas.openxmlformats.org/officeDocument/2006/relationships" r:id="R24ef4d7906eb4e6d"/>
      <p:bold xmlns:r="http://schemas.openxmlformats.org/officeDocument/2006/relationships" r:id="R1c25abbd39194499"/>
    </p:embeddedFont>
    <p:embeddedFont>
      <p:font typeface="OpenAI Sans"/>
      <p:regular xmlns:r="http://schemas.openxmlformats.org/officeDocument/2006/relationships" r:id="Ra68cd51ca99a43a6"/>
      <p:bold xmlns:r="http://schemas.openxmlformats.org/officeDocument/2006/relationships" r:id="R7c6bd3eed8414d7d"/>
      <p:italic xmlns:r="http://schemas.openxmlformats.org/officeDocument/2006/relationships" r:id="Rd2bf826ae99a486a"/>
      <p:boldItalic xmlns:r="http://schemas.openxmlformats.org/officeDocument/2006/relationships" r:id="R2182336a92574e5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fa0ce8128d4d00" /><Relationship Type="http://schemas.openxmlformats.org/officeDocument/2006/relationships/slideMaster" Target="/ppt/slideMasters/slideMaster1.xml" Id="Rf3212ba142ce4d96" /><Relationship Type="http://schemas.openxmlformats.org/officeDocument/2006/relationships/notesMaster" Target="/ppt/notesMasters/notesMaster1.xml" Id="R80588d2cdf454a97" /><Relationship Type="http://schemas.openxmlformats.org/officeDocument/2006/relationships/presProps" Target="/ppt/presProps.xml" Id="Rfb678831d5ce4fc0" /><Relationship Type="http://schemas.openxmlformats.org/officeDocument/2006/relationships/viewProps" Target="/ppt/viewProps.xml" Id="Rf8344fae4f5848d0" /><Relationship Type="http://schemas.openxmlformats.org/officeDocument/2006/relationships/tableStyles" Target="/ppt/tableStyles.xml" Id="R495c4ba2056f45a7" /><Relationship Type="http://schemas.openxmlformats.org/officeDocument/2006/relationships/font" Target="/ppt/fonts/font.dat" Id="R5ca0cd7a17404505" /><Relationship Type="http://schemas.openxmlformats.org/officeDocument/2006/relationships/font" Target="/ppt/fonts/font2.dat" Id="R9d6271fa75ba4564" /><Relationship Type="http://schemas.openxmlformats.org/officeDocument/2006/relationships/font" Target="/ppt/fonts/font3.dat" Id="Rb49ce91aa58941f7" /><Relationship Type="http://schemas.openxmlformats.org/officeDocument/2006/relationships/font" Target="/ppt/fonts/font4.dat" Id="R24ef4d7906eb4e6d" /><Relationship Type="http://schemas.openxmlformats.org/officeDocument/2006/relationships/font" Target="/ppt/fonts/font5.dat" Id="R1c25abbd39194499" /><Relationship Type="http://schemas.openxmlformats.org/officeDocument/2006/relationships/font" Target="/ppt/fonts/font6.dat" Id="Ra68cd51ca99a43a6" /><Relationship Type="http://schemas.openxmlformats.org/officeDocument/2006/relationships/font" Target="/ppt/fonts/font7.dat" Id="R7c6bd3eed8414d7d" /><Relationship Type="http://schemas.openxmlformats.org/officeDocument/2006/relationships/font" Target="/ppt/fonts/font8.dat" Id="Rd2bf826ae99a486a" /><Relationship Type="http://schemas.openxmlformats.org/officeDocument/2006/relationships/font" Target="/ppt/fonts/font9.dat" Id="R2182336a92574e5c" /><Relationship Type="http://schemas.openxmlformats.org/officeDocument/2006/relationships/slide" Target="/ppt/slides/slide1.xml" Id="R975a7eb3da7d4570" /><Relationship Type="http://schemas.openxmlformats.org/officeDocument/2006/relationships/slide" Target="/ppt/slides/slide2.xml" Id="Rf635c48630d74e14" /><Relationship Type="http://schemas.openxmlformats.org/officeDocument/2006/relationships/slide" Target="/ppt/slides/slide3.xml" Id="Ra87f604e93aa49f2" /><Relationship Type="http://schemas.openxmlformats.org/officeDocument/2006/relationships/slide" Target="/ppt/slides/slide4.xml" Id="R4e39a6a4e0bb4e93" /><Relationship Type="http://schemas.openxmlformats.org/officeDocument/2006/relationships/slide" Target="/ppt/slides/slide5.xml" Id="R32f1d91f32464601" /><Relationship Type="http://schemas.openxmlformats.org/officeDocument/2006/relationships/slide" Target="/ppt/slides/slide6.xml" Id="Rb9ab4e57eb8448d6" /><Relationship Type="http://schemas.openxmlformats.org/officeDocument/2006/relationships/slide" Target="/ppt/slides/slide7.xml" Id="R38c840ad5bf84ffa" /><Relationship Type="http://schemas.openxmlformats.org/officeDocument/2006/relationships/slide" Target="/ppt/slides/slide8.xml" Id="R492a42948ae946be" /><Relationship Type="http://schemas.openxmlformats.org/officeDocument/2006/relationships/slide" Target="/ppt/slides/slide9.xml" Id="Rc16a8e2008984e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e6f1e7a90546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9fba80e65344dc" /><Relationship Type="http://schemas.openxmlformats.org/officeDocument/2006/relationships/notesMaster" Target="/ppt/notesMasters/notesMaster1.xml" Id="Ra8ed8ba1987c4a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02b0a271664dab" /><Relationship Type="http://schemas.openxmlformats.org/officeDocument/2006/relationships/notesMaster" Target="/ppt/notesMasters/notesMaster1.xml" Id="Rcc37042866cf45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5f5159e3214810" /><Relationship Type="http://schemas.openxmlformats.org/officeDocument/2006/relationships/notesMaster" Target="/ppt/notesMasters/notesMaster1.xml" Id="Re8b3c1e57cbc42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4acfab59f74cd7" /><Relationship Type="http://schemas.openxmlformats.org/officeDocument/2006/relationships/notesMaster" Target="/ppt/notesMasters/notesMaster1.xml" Id="R020a6d3e1eb542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2bdc440a5146df" /><Relationship Type="http://schemas.openxmlformats.org/officeDocument/2006/relationships/notesMaster" Target="/ppt/notesMasters/notesMaster1.xml" Id="R441d23aaedfb49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7325830e7c440b" /><Relationship Type="http://schemas.openxmlformats.org/officeDocument/2006/relationships/notesMaster" Target="/ppt/notesMasters/notesMaster1.xml" Id="R9f909eeea67146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384b3348664214" /><Relationship Type="http://schemas.openxmlformats.org/officeDocument/2006/relationships/notesMaster" Target="/ppt/notesMasters/notesMaster1.xml" Id="R03c4e1f75fbb41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73981f568c42c4" /><Relationship Type="http://schemas.openxmlformats.org/officeDocument/2006/relationships/notesMaster" Target="/ppt/notesMasters/notesMaster1.xml" Id="Rb48a129316f144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e75e6006da46e7" /><Relationship Type="http://schemas.openxmlformats.org/officeDocument/2006/relationships/notesMaster" Target="/ppt/notesMasters/notesMaster1.xml" Id="Rdf269dc04d0748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65d2e2942b411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2d28de1b8145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45e0c9bf8a4a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2110fc51774e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5137a3f5bf40a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b9890223fa4a6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1ca73a49834b5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61f4cd945c49e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839ef73584033" /><Relationship Type="http://schemas.openxmlformats.org/officeDocument/2006/relationships/image" Target="/ppt/media/image.png" Id="R2b5d78ec38fb4e0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5812566ab2482e" /><Relationship Type="http://schemas.openxmlformats.org/officeDocument/2006/relationships/image" Target="/ppt/media/image2.png" Id="Rcb97c90e920a47d5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952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2b5d78ec38fb4e0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cb97c90e920a47d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93ba5216964127" /><Relationship Type="http://schemas.openxmlformats.org/officeDocument/2006/relationships/slideLayout" Target="/ppt/slideLayouts/slideLayout1.xml" Id="R428a738cc1564856" /><Relationship Type="http://schemas.openxmlformats.org/officeDocument/2006/relationships/slideLayout" Target="/ppt/slideLayouts/slideLayout2.xml" Id="R690259d8514045ac" /><Relationship Type="http://schemas.openxmlformats.org/officeDocument/2006/relationships/slideLayout" Target="/ppt/slideLayouts/slideLayout3.xml" Id="R31e2adf8c735488d" /><Relationship Type="http://schemas.openxmlformats.org/officeDocument/2006/relationships/slideLayout" Target="/ppt/slideLayouts/slideLayout4.xml" Id="Rb82d493375fe47d7" /><Relationship Type="http://schemas.openxmlformats.org/officeDocument/2006/relationships/slideLayout" Target="/ppt/slideLayouts/slideLayout5.xml" Id="R3042aa31835d4622" /><Relationship Type="http://schemas.openxmlformats.org/officeDocument/2006/relationships/slideLayout" Target="/ppt/slideLayouts/slideLayout6.xml" Id="R9fba505d2d0a4a41" /><Relationship Type="http://schemas.openxmlformats.org/officeDocument/2006/relationships/slideLayout" Target="/ppt/slideLayouts/slideLayout7.xml" Id="Rba36b30fd5ff4fd2" /><Relationship Type="http://schemas.openxmlformats.org/officeDocument/2006/relationships/slideLayout" Target="/ppt/slideLayouts/slideLayout8.xml" Id="Rcb767a1fb59b49ea" /><Relationship Type="http://schemas.openxmlformats.org/officeDocument/2006/relationships/slideLayout" Target="/ppt/slideLayouts/slideLayout9.xml" Id="R3a1370e6f0d641b4" /><Relationship Type="http://schemas.openxmlformats.org/officeDocument/2006/relationships/slideLayout" Target="/ppt/slideLayouts/slideLayout10.xml" Id="Rbc35ed4b7d5f404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8a738cc1564856"/>
    <p:sldLayoutId xmlns:r="http://schemas.openxmlformats.org/officeDocument/2006/relationships" id="2147483650" r:id="R690259d8514045ac"/>
    <p:sldLayoutId xmlns:r="http://schemas.openxmlformats.org/officeDocument/2006/relationships" id="2147483651" r:id="R31e2adf8c735488d"/>
    <p:sldLayoutId xmlns:r="http://schemas.openxmlformats.org/officeDocument/2006/relationships" id="2147483652" r:id="Rb82d493375fe47d7"/>
    <p:sldLayoutId xmlns:r="http://schemas.openxmlformats.org/officeDocument/2006/relationships" id="2147483653" r:id="R3042aa31835d4622"/>
    <p:sldLayoutId xmlns:r="http://schemas.openxmlformats.org/officeDocument/2006/relationships" id="2147483654" r:id="R9fba505d2d0a4a41"/>
    <p:sldLayoutId xmlns:r="http://schemas.openxmlformats.org/officeDocument/2006/relationships" id="2147483655" r:id="Rba36b30fd5ff4fd2"/>
    <p:sldLayoutId xmlns:r="http://schemas.openxmlformats.org/officeDocument/2006/relationships" id="2147483656" r:id="Rcb767a1fb59b49ea"/>
    <p:sldLayoutId xmlns:r="http://schemas.openxmlformats.org/officeDocument/2006/relationships" id="2147483657" r:id="R3a1370e6f0d641b4"/>
    <p:sldLayoutId xmlns:r="http://schemas.openxmlformats.org/officeDocument/2006/relationships" id="2147483658" r:id="Rbc35ed4b7d5f4047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1a52c62424d57" /><Relationship Type="http://schemas.openxmlformats.org/officeDocument/2006/relationships/image" Target="/ppt/media/image3.png" Id="R515e968f9ae54256" /><Relationship Type="http://schemas.openxmlformats.org/officeDocument/2006/relationships/notesSlide" Target="/ppt/notesSlides/notesSlide1.xml" Id="R33cc5d08c1764d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bfad15b6e64571" /><Relationship Type="http://schemas.openxmlformats.org/officeDocument/2006/relationships/notesSlide" Target="/ppt/notesSlides/notesSlide2.xml" Id="R5733b2d6d1034e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50222ce1264925" /><Relationship Type="http://schemas.openxmlformats.org/officeDocument/2006/relationships/notesSlide" Target="/ppt/notesSlides/notesSlide3.xml" Id="R59b50cbb2ee246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94a4a3ee92949d9" /><Relationship Type="http://schemas.openxmlformats.org/officeDocument/2006/relationships/notesSlide" Target="/ppt/notesSlides/notesSlide4.xml" Id="R00a06e4b26d344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58c28f655a4499c" /><Relationship Type="http://schemas.openxmlformats.org/officeDocument/2006/relationships/notesSlide" Target="/ppt/notesSlides/notesSlide5.xml" Id="R953903e9db9a46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c41ff8acbb4fec" /><Relationship Type="http://schemas.openxmlformats.org/officeDocument/2006/relationships/notesSlide" Target="/ppt/notesSlides/notesSlide6.xml" Id="R0b845de4a33848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e9f1fdcaf34bc9" /><Relationship Type="http://schemas.openxmlformats.org/officeDocument/2006/relationships/notesSlide" Target="/ppt/notesSlides/notesSlide7.xml" Id="R5ccb61ae315d44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bfe82a9f8ac4dd3" /><Relationship Type="http://schemas.openxmlformats.org/officeDocument/2006/relationships/notesSlide" Target="/ppt/notesSlides/notesSlide8.xml" Id="Ra3a349f121a841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209f6b588496e" /><Relationship Type="http://schemas.openxmlformats.org/officeDocument/2006/relationships/image" Target="/ppt/media/image3.png" Id="Rc9d8a7b9afbc47a3" /><Relationship Type="http://schemas.openxmlformats.org/officeDocument/2006/relationships/notesSlide" Target="/ppt/notesSlides/notesSlide9.xml" Id="R91f6d8c190804cb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4324DD7-B2A7-C70F-0160-11F227D46A0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b">
            <a:normAutofit fontScale="83666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7200">
                <a:solidFill>
                  <a:schemeClr val="accent6">
                    <a:lumMod val="75000"/>
                  </a:schemeClr>
                </a:solidFill>
                <a:latin typeface="Prompt"/>
                <a:ea typeface="Prompt"/>
                <a:cs typeface="Prompt"/>
              </a:rPr>
              <a:t>SOP WS-Sale-App</a:t>
            </a:r>
          </a:p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7200">
                <a:solidFill>
                  <a:schemeClr val="accent6">
                    <a:lumMod val="75000"/>
                  </a:schemeClr>
                </a:solidFill>
                <a:latin typeface="Prompt"/>
                <a:ea typeface="Prompt"/>
                <a:cs typeface="Prompt"/>
              </a:rPr>
              <a:t>Order-to-Ship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3501A55-18E1-9822-7454-1E3D85380D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>
            <a:normAutofit fontScale="98765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1800">
                <a:latin typeface="Prompt"/>
                <a:ea typeface="Prompt"/>
                <a:cs typeface="Prompt"/>
              </a:rPr>
              <a:t>WF-SOP-APP-001  |  ฉบับ 1.0</a:t>
            </a:r>
          </a:p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1800">
                <a:latin typeface="Prompt"/>
                <a:ea typeface="Prompt"/>
                <a:cs typeface="Prompt"/>
              </a:rPr>
              <a:t>25 สิงหาคม 2569</a:t>
            </a:r>
          </a:p>
        </p:txBody>
      </p:sp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e968f9ae54256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0542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961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E2598689-54C9-18A7-3A19-ED76AA08988F}" type="slidenum">
              <a:rPr>
                <a:latin typeface="Prompt"/>
                <a:ea typeface="Prompt"/>
                <a:cs typeface="Prompt"/>
              </a:rPr>
              <a:t>2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883398"/>
            <a:ext cx="7835900" cy="63515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Workflow และ Governance ใน App</a:t>
            </a:r>
          </a:p>
        </p:txBody>
      </p:sp>
      <p:graphicFrame>
        <p:nvGraphicFramePr>
          <p:cNvPr id="9" name="Table 3"/>
          <p:cNvGraphicFramePr/>
          <p:nvPr/>
        </p:nvGraphicFramePr>
        <p:xfrm>
          <a:off xmlns:a="http://schemas.openxmlformats.org/drawingml/2006/main" x="393700" y="1689098"/>
          <a:ext xmlns:a="http://schemas.openxmlformats.org/drawingml/2006/main" cx="11404600" cy="43053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/>
                <a:gridCol w="10526091"/>
              </a:tblGrid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ขอบเขตและผลลัพธ์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บทบาทและ Gate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ขั้นตอนปฏิบัติ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Stop Work / Exception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Records และ KPI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Checklist / Action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69FA6D2-2D50-9DC8-E5DD-C4C1EAE88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202359C0-8A7A-196E-DD58-8E6569619F09}" type="slidenum">
              <a:rPr>
                <a:latin typeface="Prompt"/>
                <a:ea typeface="Prompt"/>
                <a:cs typeface="Prompt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7B2D062-27A4-4C85-912F-42FC88B4DB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4800">
                <a:latin typeface="Prompt"/>
                <a:ea typeface="Prompt"/>
                <a:cs typeface="Prompt"/>
              </a:rPr>
              <a:t>สถานะต้องเปลี่ยนตามงานจริง</a:t>
            </a:r>
            <a:endParaRPr sz="4800"/>
          </a:p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4800">
                <a:latin typeface="Prompt"/>
                <a:ea typeface="Prompt"/>
                <a:cs typeface="Prompt"/>
              </a:rPr>
              <a:t>และมี audit ทุก Gate</a:t>
            </a:r>
            <a:endParaRPr sz="4800"/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D116A3-5F26-E766-2FA6-F7F59839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26000"/>
            <a:ext cx="3568700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latin typeface="Prompt"/>
                <a:ea typeface="Prompt"/>
                <a:cs typeface="Prompt"/>
              </a:rPr>
              <a:t>Confirm truth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latin typeface="Prompt"/>
                <a:ea typeface="Prompt"/>
                <a:cs typeface="Prompt"/>
              </a:rPr>
              <a:t>App สร้าง WINSpeed 103 เท่านั้น ไม่สร้าง 104</a:t>
            </a:r>
          </a:p>
        </p:txBody>
      </p:sp>
      <p:sp>
        <p:nvSpPr>
          <p:cNvPr id="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7F79475-D2E6-1673-5BE0-6CAB7E3D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6000"/>
            <a:ext cx="3568700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Weight control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Abnormal ต้องมี reason + approver + evidence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E99A300F-A62D-2D4C-A8CC-7A2B40C7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56100"/>
            <a:ext cx="257187" cy="257089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9715BEEB-6A24-7E57-79F9-6DC76158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158" y="4356100"/>
            <a:ext cx="257187" cy="257089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735209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CBCE0023-EAF6-DE56-0E1C-82DBB43BC5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5790568"/>
            <a:ext cx="2595934" cy="208200"/>
          </a:xfrm>
        </p:spPr>
        <p:txBody>
          <a:bodyPr xmlns:a="http://schemas.openxmlformats.org/drawingml/2006/main">
            <a:normAutofit fontScale="74898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Sales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EFD6AB9A-5F9E-5F59-51AB-3C8734130965}" type="slidenum">
              <a:rPr>
                <a:latin typeface="Prompt"/>
                <a:ea typeface="Prompt"/>
                <a:cs typeface="Prompt"/>
              </a:rPr>
              <a:t>4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App lifecycle 3 ช่วง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32BEE64C-6563-1BB7-A623-639AFDE65B97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5790568"/>
            <a:ext cx="2595934" cy="208200"/>
          </a:xfrm>
        </p:spPr>
        <p:txBody>
          <a:bodyPr xmlns:a="http://schemas.openxmlformats.org/drawingml/2006/main">
            <a:normAutofit fontScale="74898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Warehouse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DDFD0C1C-1304-91F0-2C04-3F5E112B7B4E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5790568"/>
            <a:ext cx="2595934" cy="208200"/>
          </a:xfrm>
        </p:spPr>
        <p:txBody>
          <a:bodyPr xmlns:a="http://schemas.openxmlformats.org/drawingml/2006/main">
            <a:normAutofit fontScale="74898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Scale / Close</a:t>
            </a:r>
          </a:p>
        </p:txBody>
      </p:sp>
      <p:cxnSp>
        <p:nvCxnSpPr>
          <p:cNvPr id="37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DRAFT → CONFIRMED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Create • Verify • Confirm • Native approval</a:t>
            </a: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PICKING → LOADED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รับงาน บันทึกลำดับโหลด และควบคุม Unlock</a:t>
            </a:r>
            <a:endParaRPr/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SHIPPED → IMPORTED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WeighTicket • write-back • downstream closure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115B2E1-B583-AF0F-E5A0-E31A89A70F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EE5B3003-2C54-13C6-9832-7637201064DE}" type="slidenum">
              <a:rPr>
                <a:latin typeface="Prompt"/>
                <a:ea typeface="Prompt"/>
                <a:cs typeface="Prompt"/>
              </a:rPr>
              <a:t>5</a:t>
            </a:fld>
            <a:endParaRPr/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5BBDF9FE-11B3-D661-6C73-AEF8F8362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11838" cy="51959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บทบาทและการแบ่งหน้าที่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1D80037-C168-FBF2-B54D-589D4849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0E7C2EE-1AC5-1253-8D6A-BFE2CCAB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F07ABEF-E57C-A069-52DA-DAB3B41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CD9BC49D-3C96-EBE3-CDD9-750D79584B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3365499"/>
            <a:ext cx="2949339" cy="198120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sz="20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Sales / Counter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สร้าง Verify และ Confirm หลัง quotation/credit/price ผ่าน</a:t>
            </a: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721E237-CC1B-11C2-06F2-0FF62F5271D5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3365499"/>
            <a:ext cx="2949339" cy="198120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Warehouse / Weighbridge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คุม Picking / Loading / Shipping</a:t>
            </a:r>
            <a:endParaRPr sz="1600"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และเก็บหลักฐานหน้างาน</a:t>
            </a: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34BFB1-1732-6AA8-499C-16BCB107B446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3365499"/>
            <a:ext cx="2949339" cy="198120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Manager / Accounting / Admin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Unlock, request decision, reconciliation และ exception</a:t>
            </a: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2" name="Google Shape;303;p29">
            <a:extLst xmlns:a="http://schemas.openxmlformats.org/drawingml/2006/main">
              <a:ext uri="{FF2B5EF4-FFF2-40B4-BE49-F238E27FC236}">
                <a16:creationId xmlns:a16="http://schemas.microsoft.com/office/drawing/2014/main" id="{5A63C565-27C7-B453-570C-D6DDD0BF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58" y="2759697"/>
            <a:ext cx="230437" cy="256014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" name="Google Shape;304;p29">
            <a:extLst xmlns:a="http://schemas.openxmlformats.org/drawingml/2006/main">
              <a:ext uri="{FF2B5EF4-FFF2-40B4-BE49-F238E27FC236}">
                <a16:creationId xmlns:a16="http://schemas.microsoft.com/office/drawing/2014/main" id="{2E71F363-4565-783C-7D45-A77673EF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459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2160"/>
                </a:moveTo>
                <a:cubicBezTo>
                  <a:pt x="15572" y="2160"/>
                  <a:pt x="19440" y="6028"/>
                  <a:pt x="19440" y="10800"/>
                </a:cubicBezTo>
                <a:cubicBezTo>
                  <a:pt x="19440" y="15572"/>
                  <a:pt x="15572" y="19440"/>
                  <a:pt x="10800" y="19440"/>
                </a:cubicBezTo>
                <a:cubicBezTo>
                  <a:pt x="6028" y="19440"/>
                  <a:pt x="2160" y="15572"/>
                  <a:pt x="2160" y="10800"/>
                </a:cubicBezTo>
                <a:cubicBezTo>
                  <a:pt x="2160" y="6028"/>
                  <a:pt x="6028" y="2160"/>
                  <a:pt x="10800" y="2160"/>
                </a:cubicBezTo>
                <a:close/>
                <a:moveTo>
                  <a:pt x="6649" y="12960"/>
                </a:moveTo>
                <a:cubicBezTo>
                  <a:pt x="6375" y="12921"/>
                  <a:pt x="6077" y="12983"/>
                  <a:pt x="5839" y="13162"/>
                </a:cubicBezTo>
                <a:cubicBezTo>
                  <a:pt x="5362" y="13521"/>
                  <a:pt x="5278" y="14204"/>
                  <a:pt x="5636" y="14681"/>
                </a:cubicBezTo>
                <a:cubicBezTo>
                  <a:pt x="8197" y="18089"/>
                  <a:pt x="13437" y="18089"/>
                  <a:pt x="15997" y="14681"/>
                </a:cubicBezTo>
                <a:cubicBezTo>
                  <a:pt x="16356" y="14204"/>
                  <a:pt x="16272" y="13521"/>
                  <a:pt x="15795" y="13162"/>
                </a:cubicBezTo>
                <a:cubicBezTo>
                  <a:pt x="15318" y="12804"/>
                  <a:pt x="14635" y="12888"/>
                  <a:pt x="14276" y="13365"/>
                </a:cubicBezTo>
                <a:cubicBezTo>
                  <a:pt x="12580" y="15623"/>
                  <a:pt x="9054" y="15623"/>
                  <a:pt x="7357" y="13365"/>
                </a:cubicBezTo>
                <a:cubicBezTo>
                  <a:pt x="7178" y="13127"/>
                  <a:pt x="6922" y="12999"/>
                  <a:pt x="6649" y="129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" name="Google Shape;305;p29">
            <a:extLst xmlns:a="http://schemas.openxmlformats.org/drawingml/2006/main">
              <a:ext uri="{FF2B5EF4-FFF2-40B4-BE49-F238E27FC236}">
                <a16:creationId xmlns:a16="http://schemas.microsoft.com/office/drawing/2014/main" id="{5B7D18E2-4EB1-E52F-2BE9-AE2714DA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8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7B27847-7526-0A76-DFBA-302A5A76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37594"/>
            <a:ext cx="11404599" cy="10474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Route authorization เป็นข้อเท็จจริง; เมนูที่มองเห็นไม่ใช่หลักฐานสิทธิ์</a:t>
            </a:r>
          </a:p>
        </p:txBody>
      </p:sp>
    </p:spTree>
    <p:extLst>
      <p:ext uri="{BB962C8B-B14F-4D97-AF65-F5344CB8AC3E}">
        <p14:creationId xmlns:p14="http://schemas.microsoft.com/office/powerpoint/2010/main" val="37563682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722684"/>
            <a:ext cx="5537200" cy="865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91593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ใช้ normal Store/Scale flow เป็นเส้นทางควบคุมมาตรฐาน</a:t>
            </a:r>
            <a:endParaRPr>
              <a:latin typeface="Inter"/>
              <a:ea typeface="Inter"/>
              <a:cs typeface="Inter"/>
            </a:endParaRP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8C630A04-5A25-9E0C-9436-126091DB86B3}" type="slidenum">
              <a:rPr>
                <a:latin typeface="Prompt"/>
                <a:ea typeface="Prompt"/>
                <a:cs typeface="Prompt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Checklist ก่อนปิด Order</a:t>
            </a:r>
            <a:endParaRPr/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Draft + warning ตรวจแล้ว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Pass condition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actor + gate evidence • status ถูก • WeighTicket ครบ • write-back/outbox ปิด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Verify + Confirm ผ่าน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103 + approval สะท้อน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Picking/Loading มี audit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Ship + outbox ปิด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D3D7D1C8-AE23-AA48-DF65-C742588DBE47}" type="slidenum">
              <a:rPr>
                <a:latin typeface="Prompt"/>
                <a:ea typeface="Prompt"/>
                <a:cs typeface="Prompt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Stop Work ใน App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Credit / price fail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ระบบ block; แก้ต้นเหตุหรืออนุมัติ exception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Pre-weigh fail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ห้ามแจ้งว่าคิวตาชั่งพร้อม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MULTI / UNMATCHED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Manual match ด้วยหลายหลักฐาน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Abnormal / outbox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กักรถและติดตาม retry จนสำเร็จ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ห้ามใช้สิทธิ์สูงเพื่อข้าม root cause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>
                <a:solidFill>
                  <a:prstClr val="black"/>
                </a:solidFill>
                <a:latin typeface="Prompt"/>
                <a:ea typeface="Prompt"/>
                <a:cs typeface="Prompt"/>
              </a:rPr>
              <a:t>แก้ gate ต้นเหตุและเก็บ audit สำหรับ exception ทุกครั้ง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343A9ADA-DF5B-49CE-A61D-02C6EC6A5C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Evidence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App ID • WfRef • audit • load sequence • WeighTicket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56" name="Google Shape;556;p61">
            <a:extLst xmlns:a="http://schemas.openxmlformats.org/drawingml/2006/main">
              <a:ext uri="{FF2B5EF4-FFF2-40B4-BE49-F238E27FC236}">
                <a16:creationId xmlns:a16="http://schemas.microsoft.com/office/drawing/2014/main" id="{3F1EC019-9236-4360-BE4B-5D32DA28AF6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BA58DA2A-B818-18A9-29C1-B697728D5BCE}" type="slidenum">
              <a:rPr>
                <a:latin typeface="Prompt"/>
                <a:ea typeface="Prompt"/>
                <a:cs typeface="Prompt"/>
              </a:rPr>
              <a:t>8</a:t>
            </a:fld>
            <a:endParaRPr/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28482A36-4295-4EDF-92B7-10B8028672B9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KPI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State bypass = 0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Abnormal ไร้หลักฐาน = 0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Outbox เกิน SLA = 0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EEF18D69-8C66-4763-AE20-D3DABFD871FA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Governance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Request edit/unlock/cancel ต้องมี reason, reviewer และผล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1C689AEC-3A0A-43F8-9CF6-892CE3338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Evidence • KPI • Governance</a:t>
            </a:r>
            <a:endParaRPr/>
          </a:p>
        </p:txBody>
      </p:sp>
      <p:sp>
        <p:nvSpPr>
          <p:cNvPr id="561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954C99E0-BCF4-4C82-930A-4D636C77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62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6774C276-3732-49E8-9CF9-A9A501EF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63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8251B32B-E166-4046-91CB-DB8F3CC9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969437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6A4A8C5-2601-85AD-3D1E-8079D58F035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b">
            <a:normAutofit fontScale="83634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7200">
                <a:solidFill>
                  <a:schemeClr val="accent6">
                    <a:lumMod val="75000"/>
                  </a:schemeClr>
                </a:solidFill>
                <a:latin typeface="Prompt"/>
                <a:ea typeface="Prompt"/>
                <a:cs typeface="Prompt"/>
              </a:rPr>
              <a:t>ใช้ State เป็น Gate</a:t>
            </a:r>
          </a:p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7200">
                <a:solidFill>
                  <a:schemeClr val="accent6">
                    <a:lumMod val="75000"/>
                  </a:schemeClr>
                </a:solidFill>
                <a:latin typeface="Prompt"/>
                <a:ea typeface="Prompt"/>
                <a:cs typeface="Prompt"/>
              </a:rPr>
              <a:t>ไม่ใช่แค่สถานะหน้าจอ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0268A511-4B27-6E46-7765-2247D8E6C2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>
            <a:normAutofit fontScale="71619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1800">
                <a:latin typeface="Prompt"/>
                <a:ea typeface="Prompt"/>
                <a:cs typeface="Prompt"/>
              </a:rPr>
              <a:t>อบรมตาม Role • Pilot normal flow</a:t>
            </a:r>
          </a:p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1800">
                <a:latin typeface="Prompt"/>
                <a:ea typeface="Prompt"/>
                <a:cs typeface="Prompt"/>
              </a:rPr>
              <a:t>ทบทวนเมื่อ route, tolerance หรือ transition เปลี่ยน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A7725E9-20F2-2EAF-9816-0D2FEFF0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234" y="-5234152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B2C8E6-2382-F1A6-A0C1-A7364007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54014" y="-3090041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8a7b9afbc47a3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2000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4970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2026-08-25T17:06:09.4200000Z</dcterms:created>
  <dcterms:modified xsi:type="dcterms:W3CDTF">2026-08-25T17:06:09.4200000Z</dcterms:modified>
</coreProperties>
</file>