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Base THB/month</c:v>
          </c:tx>
          <c:spPr>
            <a:solidFill>
              <a:srgbClr val="2E74B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Hostinger</c:v>
              </c:pt>
              <c:pt idx="1">
                <c:v>Vultr</c:v>
              </c:pt>
              <c:pt idx="2">
                <c:v>DigitalOcean</c:v>
              </c:pt>
              <c:pt idx="3">
                <c:v>Hetzner</c:v>
              </c:pt>
              <c:pt idx="4">
                <c:v>AWS Lightsail</c:v>
              </c:pt>
            </c:strLit>
          </c:cat>
          <c:val>
            <c:numLit>
              <c:formatCode>General</c:formatCode>
              <c:ptCount val="5"/>
              <c:pt idx="0">
                <c:v>957</c:v>
              </c:pt>
              <c:pt idx="1">
                <c:v>1320</c:v>
              </c:pt>
              <c:pt idx="2">
                <c:v>1584</c:v>
              </c:pt>
              <c:pt idx="3">
                <c:v>1933</c:v>
              </c:pt>
              <c:pt idx="4">
                <c:v>2772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BC0-4C82-8744-16DD1448CD0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9E2EA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9E2EA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Kanit" pitchFamily="2" charset="-34"/>
                <a:cs typeface="Kanit" pitchFamily="2" charset="-34"/>
              </a:defRPr>
            </a:lvl1pPr>
          </a:lstStyle>
          <a:p>
            <a:endParaRPr lang="en-US"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Kanit" pitchFamily="2" charset="-34"/>
                <a:cs typeface="Kanit" pitchFamily="2" charset="-34"/>
              </a:defRPr>
            </a:lvl1pPr>
          </a:lstStyle>
          <a:p>
            <a:endParaRPr lang="en-US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Kanit" pitchFamily="2" charset="-34"/>
                <a:cs typeface="Kanit" pitchFamily="2" charset="-34"/>
              </a:defRPr>
            </a:lvl1pPr>
          </a:lstStyle>
          <a:p>
            <a:endParaRPr lang="en-US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Kanit" pitchFamily="2" charset="-34"/>
                <a:cs typeface="Kanit" pitchFamily="2" charset="-34"/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เปิดด้วยผลลัพธ์ทางธุรกิจ: ลดจุดบริหารระบบให้เหลือ Cloud VPS เดียว โดยยังคงการเชื่อมต่อฐานข้อมูลและรับส่ง backup ผ่าน Public IP ได้ตามข้อกำหนด.</a:t>
            </a:r>
          </a:p>
          <a:p>
            <a:endParaRPr/>
          </a:p>
          <a:p>
            <a:r>
              <a:t>[Sources]</a:t>
            </a:r>
          </a:p>
          <a:p>
            <a:r>
              <a:t>- Internal: WorldFert repository, backup inventory, and user requirements (26 Aug 2026)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เสนออนุมัติ Hostinger โดยใช้งบราคา renewal ไม่ใช่ราคาโปรโมชั่น และกำหนด Pilot 7 วันก่อนย้ายจริง.</a:t>
            </a:r>
          </a:p>
          <a:p>
            <a:endParaRPr/>
          </a:p>
          <a:p>
            <a:r>
              <a:t>[Sources]</a:t>
            </a:r>
          </a:p>
          <a:p>
            <a:r>
              <a:t>- https://www.hostinger.com/vps-hosting?lang=en</a:t>
            </a:r>
          </a:p>
          <a:p>
            <a:r>
              <a:t>- https://support.hostinger.com/en/articles/1583267-where-are-hostinger-servers-located</a:t>
            </a:r>
          </a:p>
          <a:p>
            <a:r>
              <a:t>- https://support.hostinger.com/en/articles/1583232-how-to-back-up-or-restore-a-vps</a:t>
            </a:r>
          </a:p>
          <a:p>
            <a:r>
              <a:t>- https://www.bot.or.th/en/statistics/exchange-rate.html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ทุกบริการอยู่บน VPS เดียว แต่แยก network path, containers, volumes และบัญชี SFTP ชัดเจน. Backend เชื่อม DB ผ่าน Docker network ภายใน.</a:t>
            </a:r>
          </a:p>
          <a:p>
            <a:endParaRPr/>
          </a:p>
          <a:p>
            <a:r>
              <a:t>[Sources]</a:t>
            </a:r>
          </a:p>
          <a:p>
            <a:r>
              <a:t>- https://learn.microsoft.com/en-us/sql/linux/quickstart-install-connect-docker</a:t>
            </a:r>
          </a:p>
          <a:p>
            <a:r>
              <a:t>- https://dev.mysql.com/doc/refman/8.0/en/server-system-variables.html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ใช้ Provider Firewall และ UFW เป็น source-IP allowlist สองชั้น. Backup ที่ผู้ให้บริการมีไว้เสริม แต่ฐานข้อมูลต้องมี verified backup และสำเนานอก VPS.</a:t>
            </a:r>
          </a:p>
          <a:p>
            <a:endParaRPr/>
          </a:p>
          <a:p>
            <a:r>
              <a:t>[Sources]</a:t>
            </a:r>
          </a:p>
          <a:p>
            <a:r>
              <a:t>- https://support.hostinger.com/en/articles/8172641-how-to-use-a-managed-vps-firewall</a:t>
            </a:r>
          </a:p>
          <a:p>
            <a:r>
              <a:t>- https://support.hostinger.com/en/articles/8868611-how-to-connect-to-vps-using-sftp</a:t>
            </a:r>
          </a:p>
          <a:p>
            <a:r>
              <a:t>- https://learn.microsoft.com/en-us/sql/linux/quickstart-install-connect-docker</a:t>
            </a:r>
          </a:p>
          <a:p>
            <a:r>
              <a:t>- https://dev.mysql.com/doc/refman/8.0/en/server-system-variables.html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ตารางใช้ราคา renewal/on-demand เพื่อไม่ให้ผู้บริหารตัดสินใจจากราคาโปรโมชัน. Provider backup แสดงแยกจาก DB backup ผ่าน SFTP.</a:t>
            </a:r>
          </a:p>
          <a:p>
            <a:endParaRPr/>
          </a:p>
          <a:p>
            <a:r>
              <a:t>[Sources]</a:t>
            </a:r>
          </a:p>
          <a:p>
            <a:r>
              <a:t>- https://www.hostinger.com/vps-hosting?lang=en</a:t>
            </a:r>
          </a:p>
          <a:p>
            <a:r>
              <a:t>- https://api.vultr.com/v2/plans?type=vc2&amp;per_page=100</a:t>
            </a:r>
          </a:p>
          <a:p>
            <a:r>
              <a:t>- https://docs.vultr.com/support/platform/billing/how-much-does-it-cost-to-enable-automatic-backups</a:t>
            </a:r>
          </a:p>
          <a:p>
            <a:r>
              <a:t>- https://www.digitalocean.com/pricing/droplets</a:t>
            </a:r>
          </a:p>
          <a:p>
            <a:r>
              <a:t>- https://docs.digitalocean.com/products/backups/details/pricing/</a:t>
            </a:r>
          </a:p>
          <a:p>
            <a:r>
              <a:t>- https://docs.hetzner.com/general/infrastructure-and-availability/price-adjustment/</a:t>
            </a:r>
          </a:p>
          <a:p>
            <a:r>
              <a:t>- https://docs.hetzner.com/cloud/servers/primary-ips/overview/</a:t>
            </a:r>
          </a:p>
          <a:p>
            <a:r>
              <a:t>- https://docs.aws.amazon.com/lightsail/latest/userguide/amazon-lightsail-bundles.html</a:t>
            </a:r>
          </a:p>
          <a:p>
            <a:r>
              <a:t>- https://docs.aws.amazon.com/lightsail/latest/userguide/amazon-lightsail-faq-snapshots.html</a:t>
            </a:r>
          </a:p>
          <a:p>
            <a:r>
              <a:t>- https://www.bot.or.th/en/statistics/exchange-rate.html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ต้นทุนฐาน Hostinger ต่ำสุดใน shortlist นี้. ค่าที่แสดงไม่รวม VAT, ภาษี, โดเมน และ snapshot เพิ่มเติมของบางราย.</a:t>
            </a:r>
          </a:p>
          <a:p>
            <a:endParaRPr/>
          </a:p>
          <a:p>
            <a:r>
              <a:t>[Sources]</a:t>
            </a:r>
          </a:p>
          <a:p>
            <a:r>
              <a:t>- https://www.hostinger.com/vps-hosting?lang=en</a:t>
            </a:r>
          </a:p>
          <a:p>
            <a:r>
              <a:t>- https://www.digitalocean.com/pricing/droplets</a:t>
            </a:r>
          </a:p>
          <a:p>
            <a:r>
              <a:t>- https://docs.aws.amazon.com/lightsail/latest/userguide/amazon-lightsail-bundles.html</a:t>
            </a:r>
          </a:p>
          <a:p>
            <a:r>
              <a:t>- https://www.bot.or.th/en/statistics/exchange-rate.html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ReadyIDC และ NIPA มีราคาสาธารณะที่ใช้ประมาณการได้. INET, True IDC และ Cloud HM ต้องส่ง TOR เพื่อยืนยัน Public IPv4, พอร์ต, Docker/MSSQL Linux, backup, bandwidth และ SLA.</a:t>
            </a:r>
          </a:p>
          <a:p>
            <a:endParaRPr/>
          </a:p>
          <a:p>
            <a:r>
              <a:t>[Sources]</a:t>
            </a:r>
          </a:p>
          <a:p>
            <a:r>
              <a:t>- https://www.readyidc.com/en/products/cloud-server/</a:t>
            </a:r>
          </a:p>
          <a:p>
            <a:r>
              <a:t>- https://nipa.cloud/th/pricing/nipa-space/compute-instance</a:t>
            </a:r>
          </a:p>
          <a:p>
            <a:r>
              <a:t>- https://nipa.cloud/pricing/nipa-space/block-storage</a:t>
            </a:r>
          </a:p>
          <a:p>
            <a:r>
              <a:t>- https://nipa.cloud/pricing/nipa-space/external-ip</a:t>
            </a:r>
          </a:p>
          <a:p>
            <a:r>
              <a:t>- https://www.inet.co.th/th/services/cloud-solution</a:t>
            </a:r>
          </a:p>
          <a:p>
            <a:r>
              <a:t>- https://www.trueidc.com/en/service/67/True-IDC-Cloud%2B</a:t>
            </a:r>
          </a:p>
          <a:p>
            <a:r>
              <a:t>- https://www.cloudhm.co.th/en/secured-infrastructure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 ชั่วโมงเป็น cutover window ไม่รวมการจัดซื้อและเตรียม DNS. หาก uplink ต่ำกว่า 20 Mbps ให้ pre-stage full backup และส่งเฉพาะ backup ล่าสุดใน window.</a:t>
            </a:r>
          </a:p>
          <a:p>
            <a:endParaRPr/>
          </a:p>
          <a:p>
            <a:r>
              <a:t>[Sources]</a:t>
            </a:r>
          </a:p>
          <a:p>
            <a:r>
              <a:t>- Internal: WorldFert cutover plan and current backup inventory (MSSQL ~3.45 GB; MySQL ~466 MB)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ความเสี่ยงสองจุดที่ต้องมี owner ชัดเจนคือ Public DB และ SQL Express growth. Weekly schedule ให้ RPO สูงสุด 7 วันในภาวะปกติ; cutover ใช้ final backup แยกต่างหาก.</a:t>
            </a:r>
          </a:p>
          <a:p>
            <a:endParaRPr/>
          </a:p>
          <a:p>
            <a:r>
              <a:t>[Sources]</a:t>
            </a:r>
          </a:p>
          <a:p>
            <a:r>
              <a:t>- https://learn.microsoft.com/en-us/sql/sql-server/editions-and-components-of-sql-server-2022</a:t>
            </a:r>
          </a:p>
          <a:p>
            <a:r>
              <a:t>- https://support.hostinger.com/en/articles/1583232-how-to-back-up-or-restore-a-vps</a:t>
            </a:r>
          </a:p>
          <a:p>
            <a:r>
              <a:t>- Internal: WorldFert backup and recovery operating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มติที่ขอคืออนุมัติ Pilot พร้อมเกณฑ์ผ่าน ไม่ใช่อนุมัติ Go-Live โดยอัตโนมัติ. เอกสาร runbook และ BAT scripts พร้อมใช้สำหรับ remote deploy, restore, backup และ SFTP transfer.</a:t>
            </a:r>
          </a:p>
          <a:p>
            <a:endParaRPr/>
          </a:p>
          <a:p>
            <a:r>
              <a:t>[Sources]</a:t>
            </a:r>
          </a:p>
          <a:p>
            <a:r>
              <a:t>- https://www.hostinger.com/vps-hosting?lang=en</a:t>
            </a:r>
          </a:p>
          <a:p>
            <a:r>
              <a:t>- Internal: WorldFert deployment runbook and automation scripts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523C7B8-7C93-4AFF-BBBC-F7CFC7CC7529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2857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E74B5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ea typeface="KaiTi" panose="020B0503020204020204" pitchFamily="49" charset="-122"/>
                <a:cs typeface="Kanit" pitchFamily="2" charset="-34"/>
              </a:rPr>
              <a:t>WORLDFERT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82334A-C58D-42B1-BA15-8E93C810D436}"/>
              </a:ext>
            </a:extLst>
          </p:cNvPr>
          <p:cNvSpPr>
            <a:spLocks noGrp="1"/>
          </p:cNvSpPr>
          <p:nvPr/>
        </p:nvSpPr>
        <p:spPr>
          <a:xfrm>
            <a:off x="533400" y="1352550"/>
            <a:ext cx="95250" cy="2952750"/>
          </a:xfrm>
          <a:prstGeom prst="rect">
            <a:avLst/>
          </a:prstGeom>
          <a:solidFill>
            <a:srgbClr val="2E74B5"/>
          </a:solidFill>
          <a:ln w="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ea typeface="KaiTi" panose="020B0503020204020204" pitchFamily="49" charset="-122"/>
              <a:cs typeface="Kanit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FA2DB1-F396-4CC6-9472-33B231A19FC6}"/>
              </a:ext>
            </a:extLst>
          </p:cNvPr>
          <p:cNvSpPr>
            <a:spLocks noGrp="1"/>
          </p:cNvSpPr>
          <p:nvPr/>
        </p:nvSpPr>
        <p:spPr>
          <a:xfrm>
            <a:off x="876300" y="1257300"/>
            <a:ext cx="8572500" cy="20002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5100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ea typeface="KaiTi" panose="020B0503020204020204" pitchFamily="49" charset="-122"/>
                <a:cs typeface="Kanit" pitchFamily="2" charset="-34"/>
              </a:rPr>
              <a:t>Cloud Migration
Decision Brief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338842-C80A-4919-B3CF-7FC690E71C12}"/>
              </a:ext>
            </a:extLst>
          </p:cNvPr>
          <p:cNvSpPr>
            <a:spLocks noGrp="1"/>
          </p:cNvSpPr>
          <p:nvPr/>
        </p:nvSpPr>
        <p:spPr>
          <a:xfrm>
            <a:off x="895350" y="3524250"/>
            <a:ext cx="10287000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>
                <a:solidFill>
                  <a:srgbClr val="2E74B5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ea typeface="KaiTi" panose="020B0503020204020204" pitchFamily="49" charset="-122"/>
                <a:cs typeface="Kanit" pitchFamily="2" charset="-34"/>
              </a:rPr>
              <a:t>Docker Compose • Public IP/Domain • Direct SFTP • No Coolify • No Tunnel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0F73E8-1ACB-48F8-83AE-F58E4C15FF9B}"/>
              </a:ext>
            </a:extLst>
          </p:cNvPr>
          <p:cNvSpPr>
            <a:spLocks noGrp="1"/>
          </p:cNvSpPr>
          <p:nvPr/>
        </p:nvSpPr>
        <p:spPr>
          <a:xfrm>
            <a:off x="895350" y="4591050"/>
            <a:ext cx="10287000" cy="990600"/>
          </a:xfrm>
          <a:prstGeom prst="rect">
            <a:avLst/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ea typeface="KaiTi" panose="020B0503020204020204" pitchFamily="49" charset="-122"/>
              <a:cs typeface="Kanit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80E378-C41F-43BC-913B-F853A75B1A7D}"/>
              </a:ext>
            </a:extLst>
          </p:cNvPr>
          <p:cNvSpPr>
            <a:spLocks noGrp="1"/>
          </p:cNvSpPr>
          <p:nvPr/>
        </p:nvSpPr>
        <p:spPr>
          <a:xfrm>
            <a:off x="1123950" y="4781550"/>
            <a:ext cx="14287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ea typeface="KaiTi" panose="020B0503020204020204" pitchFamily="49" charset="-122"/>
                <a:cs typeface="Kanit" pitchFamily="2" charset="-34"/>
              </a:rPr>
              <a:t>ข้อเสนอ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6FE524-B529-4C91-8538-22DE8E9800B7}"/>
              </a:ext>
            </a:extLst>
          </p:cNvPr>
          <p:cNvSpPr>
            <a:spLocks noGrp="1"/>
          </p:cNvSpPr>
          <p:nvPr/>
        </p:nvSpPr>
        <p:spPr>
          <a:xfrm>
            <a:off x="1123950" y="5124450"/>
            <a:ext cx="6191250" cy="323850"/>
          </a:xfrm>
          <a:prstGeom prst="rect">
            <a:avLst/>
          </a:prstGeom>
        </p:spPr>
        <p:txBody>
          <a:bodyPr wrap="square" lIns="0" tIns="0" rIns="0" bIns="0" anchor="t">
            <a:normAutofit fontScale="91210"/>
          </a:bodyPr>
          <a:lstStyle/>
          <a:p>
            <a:pPr algn="l">
              <a:defRPr sz="1875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ea typeface="KaiTi" panose="020B0503020204020204" pitchFamily="49" charset="-122"/>
                <a:cs typeface="Kanit" pitchFamily="2" charset="-34"/>
              </a:rPr>
              <a:t>รวม Frontend, Backend, MSSQL และ MySQL บน Cloud VPS เดียว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7CA1C0-A558-4A69-BD26-93A71234019E}"/>
              </a:ext>
            </a:extLst>
          </p:cNvPr>
          <p:cNvSpPr>
            <a:spLocks noGrp="1"/>
          </p:cNvSpPr>
          <p:nvPr/>
        </p:nvSpPr>
        <p:spPr>
          <a:xfrm>
            <a:off x="8001000" y="4772025"/>
            <a:ext cx="11430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ea typeface="KaiTi" panose="020B0503020204020204" pitchFamily="49" charset="-122"/>
                <a:cs typeface="Kanit" pitchFamily="2" charset="-34"/>
              </a:rPr>
              <a:t>CUTOVER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6581E0-34E1-47C1-AD49-9D5E1CF84A56}"/>
              </a:ext>
            </a:extLst>
          </p:cNvPr>
          <p:cNvSpPr>
            <a:spLocks noGrp="1"/>
          </p:cNvSpPr>
          <p:nvPr/>
        </p:nvSpPr>
        <p:spPr>
          <a:xfrm>
            <a:off x="8001000" y="5095875"/>
            <a:ext cx="25717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173F67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ea typeface="KaiTi" panose="020B0503020204020204" pitchFamily="49" charset="-122"/>
                <a:cs typeface="Kanit" pitchFamily="2" charset="-34"/>
              </a:rPr>
              <a:t>≤ 4 ชั่วโมง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E10227-863D-44BB-9F80-20B7B8A3D350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209550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ea typeface="KaiTi" panose="020B0503020204020204" pitchFamily="49" charset="-122"/>
                <a:cs typeface="Kanit" pitchFamily="2" charset="-34"/>
              </a:rPr>
              <a:t>26 สิงหาคม 2026</a:t>
            </a:r>
          </a:p>
        </p:txBody>
      </p:sp>
    </p:spTree>
    <p:extLst>
      <p:ext uri="{BB962C8B-B14F-4D97-AF65-F5344CB8AC3E}">
        <p14:creationId xmlns:p14="http://schemas.microsoft.com/office/powerpoint/2010/main" val="1732110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20E72D2-0740-4E05-920C-73C6C2798BEC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4762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E74B5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WORLDFERT / CLOUD MIGRATION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C738EC-6D8F-4E4E-891D-A4FC3B84715A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76200" cy="514350"/>
          </a:xfrm>
          <a:prstGeom prst="rect">
            <a:avLst/>
          </a:prstGeom>
          <a:solidFill>
            <a:srgbClr val="2E74B5"/>
          </a:solidFill>
          <a:ln w="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B99FAC-1074-4856-8ECC-57DF4F99B670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10572750" cy="571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ข้อเสนอที่แนะนำ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457200" y="6381750"/>
            <a:ext cx="11277600" cy="286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119FB1F-45A3-4812-84CB-772A79CC0F49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33337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C‑LEVEL DECISION BRIEF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F64C11-7552-4D55-BC18-F1E118AA0E93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905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6890B2-DF45-49D9-8069-1B6AF1852D96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5524500" cy="590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300" b="1">
                <a:solidFill>
                  <a:srgbClr val="173F67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Hostinger KVM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067965-76E3-4B11-BA1D-8F9A69A8C594}"/>
              </a:ext>
            </a:extLst>
          </p:cNvPr>
          <p:cNvSpPr>
            <a:spLocks noGrp="1"/>
          </p:cNvSpPr>
          <p:nvPr/>
        </p:nvSpPr>
        <p:spPr>
          <a:xfrm>
            <a:off x="704850" y="2343150"/>
            <a:ext cx="59055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Singapore • 4 vCPU • RAM 16 GB • NVMe 200 GB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BCFDA0-E093-41C1-BC78-A94311164FA7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3209925" cy="1524000"/>
          </a:xfrm>
          <a:prstGeom prst="rect">
            <a:avLst/>
          </a:prstGeom>
          <a:solidFill>
            <a:srgbClr val="DDEFE5"/>
          </a:solidFill>
          <a:ln w="0">
            <a:solidFill>
              <a:srgbClr val="DDEFE5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6D05BE-2CE2-43FB-8E8A-C6A0D97AD509}"/>
              </a:ext>
            </a:extLst>
          </p:cNvPr>
          <p:cNvSpPr>
            <a:spLocks noGrp="1"/>
          </p:cNvSpPr>
          <p:nvPr/>
        </p:nvSpPr>
        <p:spPr>
          <a:xfrm>
            <a:off x="914400" y="3219450"/>
            <a:ext cx="2095500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งบฐานต่อเดือน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55D1AB-C69B-4E0C-A375-BB65A950B668}"/>
              </a:ext>
            </a:extLst>
          </p:cNvPr>
          <p:cNvSpPr>
            <a:spLocks noGrp="1"/>
          </p:cNvSpPr>
          <p:nvPr/>
        </p:nvSpPr>
        <p:spPr>
          <a:xfrm>
            <a:off x="914400" y="3590925"/>
            <a:ext cx="247650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375" b="1">
                <a:solidFill>
                  <a:srgbClr val="173F67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≈ ฿957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75A38F-0175-4C4E-A33A-DCE0D3B5AAA8}"/>
              </a:ext>
            </a:extLst>
          </p:cNvPr>
          <p:cNvSpPr>
            <a:spLocks noGrp="1"/>
          </p:cNvSpPr>
          <p:nvPr/>
        </p:nvSpPr>
        <p:spPr>
          <a:xfrm>
            <a:off x="914400" y="4210050"/>
            <a:ext cx="2476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คิดจาก Renewal $28.99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2B65A0-E860-40D1-979C-ED4E1712B02F}"/>
              </a:ext>
            </a:extLst>
          </p:cNvPr>
          <p:cNvSpPr>
            <a:spLocks noGrp="1"/>
          </p:cNvSpPr>
          <p:nvPr/>
        </p:nvSpPr>
        <p:spPr>
          <a:xfrm>
            <a:off x="4105275" y="3009900"/>
            <a:ext cx="3209925" cy="1524000"/>
          </a:xfrm>
          <a:prstGeom prst="rect">
            <a:avLst/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1540E0-1995-415C-9286-DC605EAA241F}"/>
              </a:ext>
            </a:extLst>
          </p:cNvPr>
          <p:cNvSpPr>
            <a:spLocks noGrp="1"/>
          </p:cNvSpPr>
          <p:nvPr/>
        </p:nvSpPr>
        <p:spPr>
          <a:xfrm>
            <a:off x="4333875" y="3219450"/>
            <a:ext cx="2286000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รูปแบบปฏิบัติการ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0C99B1-6C87-4B91-9E9D-BE474D704320}"/>
              </a:ext>
            </a:extLst>
          </p:cNvPr>
          <p:cNvSpPr>
            <a:spLocks noGrp="1"/>
          </p:cNvSpPr>
          <p:nvPr/>
        </p:nvSpPr>
        <p:spPr>
          <a:xfrm>
            <a:off x="4333875" y="3581400"/>
            <a:ext cx="2381250" cy="533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375" b="1">
                <a:solidFill>
                  <a:srgbClr val="173F67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1 VPS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48E55B-27FC-49F7-A9CD-7AEEBB418AE4}"/>
              </a:ext>
            </a:extLst>
          </p:cNvPr>
          <p:cNvSpPr>
            <a:spLocks noGrp="1"/>
          </p:cNvSpPr>
          <p:nvPr/>
        </p:nvSpPr>
        <p:spPr>
          <a:xfrm>
            <a:off x="4333875" y="4210050"/>
            <a:ext cx="27241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Docker Compose / ไม่มี Coolify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0C1345-CA80-42F0-8C6F-01227D471B41}"/>
              </a:ext>
            </a:extLst>
          </p:cNvPr>
          <p:cNvSpPr>
            <a:spLocks noGrp="1"/>
          </p:cNvSpPr>
          <p:nvPr/>
        </p:nvSpPr>
        <p:spPr>
          <a:xfrm>
            <a:off x="7524750" y="3009900"/>
            <a:ext cx="3981450" cy="1524000"/>
          </a:xfrm>
          <a:prstGeom prst="rect">
            <a:avLst/>
          </a:prstGeom>
          <a:solidFill>
            <a:srgbClr val="FFF0C2"/>
          </a:solidFill>
          <a:ln w="0">
            <a:solidFill>
              <a:srgbClr val="FFF0C2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F02319-EF83-4ACD-8055-AB8B352497A7}"/>
              </a:ext>
            </a:extLst>
          </p:cNvPr>
          <p:cNvSpPr>
            <a:spLocks noGrp="1"/>
          </p:cNvSpPr>
          <p:nvPr/>
        </p:nvSpPr>
        <p:spPr>
          <a:xfrm>
            <a:off x="7753350" y="3219450"/>
            <a:ext cx="2381250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เงื่อนไขอนุมัติ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88A19F-21F6-4083-9DB2-C95A8980A466}"/>
              </a:ext>
            </a:extLst>
          </p:cNvPr>
          <p:cNvSpPr>
            <a:spLocks noGrp="1"/>
          </p:cNvSpPr>
          <p:nvPr/>
        </p:nvSpPr>
        <p:spPr>
          <a:xfrm>
            <a:off x="7753350" y="3581400"/>
            <a:ext cx="3048000" cy="4953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775" b="1">
                <a:solidFill>
                  <a:srgbClr val="173F67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Pilot 7 วัน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5B38D5-19DE-4F85-9A82-1E20B47F538C}"/>
              </a:ext>
            </a:extLst>
          </p:cNvPr>
          <p:cNvSpPr>
            <a:spLocks noGrp="1"/>
          </p:cNvSpPr>
          <p:nvPr/>
        </p:nvSpPr>
        <p:spPr>
          <a:xfrm>
            <a:off x="7753350" y="4210050"/>
            <a:ext cx="33337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วัด IOPS • latency • backup • support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3C90A2-43CE-40A5-8ED5-538CE77D47E9}"/>
              </a:ext>
            </a:extLst>
          </p:cNvPr>
          <p:cNvSpPr>
            <a:spLocks noGrp="1"/>
          </p:cNvSpPr>
          <p:nvPr/>
        </p:nvSpPr>
        <p:spPr>
          <a:xfrm>
            <a:off x="685800" y="4933950"/>
            <a:ext cx="10820400" cy="990600"/>
          </a:xfrm>
          <a:prstGeom prst="rect">
            <a:avLst/>
          </a:prstGeom>
          <a:solidFill>
            <a:srgbClr val="F6F8FA"/>
          </a:solidFill>
          <a:ln w="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73660D-CFFC-4E71-9D39-CA34BB44DBBD}"/>
              </a:ext>
            </a:extLst>
          </p:cNvPr>
          <p:cNvSpPr>
            <a:spLocks noGrp="1"/>
          </p:cNvSpPr>
          <p:nvPr/>
        </p:nvSpPr>
        <p:spPr>
          <a:xfrm>
            <a:off x="914400" y="5143500"/>
            <a:ext cx="14287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2E74B5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ทางสำรอง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A8EDAC-116E-4EC9-9CC0-72F59F7AC5AD}"/>
              </a:ext>
            </a:extLst>
          </p:cNvPr>
          <p:cNvSpPr>
            <a:spLocks noGrp="1"/>
          </p:cNvSpPr>
          <p:nvPr/>
        </p:nvSpPr>
        <p:spPr>
          <a:xfrm>
            <a:off x="914400" y="5457825"/>
            <a:ext cx="98107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Vultr หรือ DigitalOcean หากผล Pilot ไม่ผ่านเกณฑ์ก่อน Go‑Live</a:t>
            </a:r>
          </a:p>
        </p:txBody>
      </p:sp>
    </p:spTree>
    <p:extLst>
      <p:ext uri="{BB962C8B-B14F-4D97-AF65-F5344CB8AC3E}">
        <p14:creationId xmlns:p14="http://schemas.microsoft.com/office/powerpoint/2010/main" val="1119498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3713E487-4FC1-4679-A3AA-5117F1BC2C12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4762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E74B5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WORLDFERT / CLOUD MIGRATION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A5B393-7C07-4DA8-8042-1B5297E5AAA4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76200" cy="514350"/>
          </a:xfrm>
          <a:prstGeom prst="rect">
            <a:avLst/>
          </a:prstGeom>
          <a:solidFill>
            <a:srgbClr val="2E74B5"/>
          </a:solidFill>
          <a:ln w="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21BF52-1672-4FF3-986E-2AE0D124B3B5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10572750" cy="571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สถาปัตยกรรมเป้าหมาย: Cloud เดียว แยกชั้นควบคุม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457200" y="6381750"/>
            <a:ext cx="11277600" cy="286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2A70C425-030E-4B8D-AFE3-FB82DA6ACED4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33337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C‑LEVEL DECISION BRIEF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83D9B8-850F-47D3-8A44-E08DB45ECC50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905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03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440D07-D383-4A97-A48A-F64F12F7353D}"/>
              </a:ext>
            </a:extLst>
          </p:cNvPr>
          <p:cNvSpPr>
            <a:spLocks noGrp="1"/>
          </p:cNvSpPr>
          <p:nvPr/>
        </p:nvSpPr>
        <p:spPr>
          <a:xfrm>
            <a:off x="628650" y="1676400"/>
            <a:ext cx="1714500" cy="1200150"/>
          </a:xfrm>
          <a:prstGeom prst="rect">
            <a:avLst/>
          </a:prstGeom>
          <a:solidFill>
            <a:srgbClr val="F6F8FA"/>
          </a:solidFill>
          <a:ln w="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734B50-CDF0-4CF1-B0B8-6B10C8F2A672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12954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725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ผู้ใช้เว็บ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F82932-5759-463C-8D26-E165A8CB5594}"/>
              </a:ext>
            </a:extLst>
          </p:cNvPr>
          <p:cNvSpPr>
            <a:spLocks noGrp="1"/>
          </p:cNvSpPr>
          <p:nvPr/>
        </p:nvSpPr>
        <p:spPr>
          <a:xfrm>
            <a:off x="838200" y="2314575"/>
            <a:ext cx="1295400" cy="419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HTTPS
80 / 443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55F69F-3A97-49BE-A511-6B1658787DC6}"/>
              </a:ext>
            </a:extLst>
          </p:cNvPr>
          <p:cNvSpPr>
            <a:spLocks noGrp="1"/>
          </p:cNvSpPr>
          <p:nvPr/>
        </p:nvSpPr>
        <p:spPr>
          <a:xfrm>
            <a:off x="628650" y="3181350"/>
            <a:ext cx="1714500" cy="1200150"/>
          </a:xfrm>
          <a:prstGeom prst="rect">
            <a:avLst/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C6BF4F-F3C5-4FD2-91C4-D7D978D81391}"/>
              </a:ext>
            </a:extLst>
          </p:cNvPr>
          <p:cNvSpPr>
            <a:spLocks noGrp="1"/>
          </p:cNvSpPr>
          <p:nvPr/>
        </p:nvSpPr>
        <p:spPr>
          <a:xfrm>
            <a:off x="838200" y="3390900"/>
            <a:ext cx="12954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725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DB Clients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D5E790-65CB-4BEE-8C33-A9E63D14174A}"/>
              </a:ext>
            </a:extLst>
          </p:cNvPr>
          <p:cNvSpPr>
            <a:spLocks noGrp="1"/>
          </p:cNvSpPr>
          <p:nvPr/>
        </p:nvSpPr>
        <p:spPr>
          <a:xfrm>
            <a:off x="781050" y="3800475"/>
            <a:ext cx="14097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1433 / 3306
IP allowlist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D39E4C-18DB-4321-8877-B3668B44B79E}"/>
              </a:ext>
            </a:extLst>
          </p:cNvPr>
          <p:cNvSpPr>
            <a:spLocks noGrp="1"/>
          </p:cNvSpPr>
          <p:nvPr/>
        </p:nvSpPr>
        <p:spPr>
          <a:xfrm>
            <a:off x="628650" y="4686300"/>
            <a:ext cx="1714500" cy="1200150"/>
          </a:xfrm>
          <a:prstGeom prst="rect">
            <a:avLst/>
          </a:prstGeom>
          <a:solidFill>
            <a:srgbClr val="DDEFE5"/>
          </a:solidFill>
          <a:ln w="0">
            <a:solidFill>
              <a:srgbClr val="DDEFE5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1F19E4-EBFD-4C93-BA80-52A779237D59}"/>
              </a:ext>
            </a:extLst>
          </p:cNvPr>
          <p:cNvSpPr>
            <a:spLocks noGrp="1"/>
          </p:cNvSpPr>
          <p:nvPr/>
        </p:nvSpPr>
        <p:spPr>
          <a:xfrm>
            <a:off x="781050" y="4895850"/>
            <a:ext cx="142875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SFTP Operator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095519-45AB-4B67-A4A3-8BE7F1D87B68}"/>
              </a:ext>
            </a:extLst>
          </p:cNvPr>
          <p:cNvSpPr>
            <a:spLocks noGrp="1"/>
          </p:cNvSpPr>
          <p:nvPr/>
        </p:nvSpPr>
        <p:spPr>
          <a:xfrm>
            <a:off x="838200" y="5305425"/>
            <a:ext cx="1295400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Port 22
Key only</a:t>
            </a: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2343150" y="2266950"/>
            <a:ext cx="876300" cy="286"/>
          </a:xfrm>
          <a:prstGeom prst="straightConnector1">
            <a:avLst/>
          </a:prstGeom>
          <a:ln w="28575">
            <a:solidFill>
              <a:srgbClr val="2E74B5"/>
            </a:solidFill>
            <a:prstDash val="solid"/>
          </a:ln>
        </p:spPr>
      </p:cxnSp>
      <p:cxnSp>
        <p:nvCxnSpPr>
          <p:cNvPr id="55" name="Straight Arrow Connector 54"/>
          <p:cNvCxnSpPr/>
          <p:nvPr/>
        </p:nvCxnSpPr>
        <p:spPr>
          <a:xfrm>
            <a:off x="2343150" y="3781425"/>
            <a:ext cx="876300" cy="286"/>
          </a:xfrm>
          <a:prstGeom prst="straightConnector1">
            <a:avLst/>
          </a:prstGeom>
          <a:ln w="28575">
            <a:solidFill>
              <a:srgbClr val="2E74B5"/>
            </a:solidFill>
            <a:prstDash val="solid"/>
          </a:ln>
        </p:spPr>
      </p:cxnSp>
      <p:cxnSp>
        <p:nvCxnSpPr>
          <p:cNvPr id="56" name="Straight Arrow Connector 55"/>
          <p:cNvCxnSpPr/>
          <p:nvPr/>
        </p:nvCxnSpPr>
        <p:spPr>
          <a:xfrm>
            <a:off x="2343150" y="5286375"/>
            <a:ext cx="876300" cy="286"/>
          </a:xfrm>
          <a:prstGeom prst="straightConnector1">
            <a:avLst/>
          </a:prstGeom>
          <a:ln w="28575">
            <a:solidFill>
              <a:srgbClr val="2E74B5"/>
            </a:solidFill>
            <a:prstDash val="solid"/>
          </a:ln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CF585A1A-F726-4B85-BA99-30423470B714}"/>
              </a:ext>
            </a:extLst>
          </p:cNvPr>
          <p:cNvSpPr>
            <a:spLocks noGrp="1"/>
          </p:cNvSpPr>
          <p:nvPr/>
        </p:nvSpPr>
        <p:spPr>
          <a:xfrm>
            <a:off x="3219450" y="1676400"/>
            <a:ext cx="1866900" cy="4210050"/>
          </a:xfrm>
          <a:prstGeom prst="rect">
            <a:avLst/>
          </a:prstGeom>
          <a:solidFill>
            <a:srgbClr val="FFF0C2"/>
          </a:solidFill>
          <a:ln w="0">
            <a:solidFill>
              <a:srgbClr val="FFF0C2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9329F2-E6BB-44B3-ACA7-783CFF9C555C}"/>
              </a:ext>
            </a:extLst>
          </p:cNvPr>
          <p:cNvSpPr>
            <a:spLocks noGrp="1"/>
          </p:cNvSpPr>
          <p:nvPr/>
        </p:nvSpPr>
        <p:spPr>
          <a:xfrm>
            <a:off x="3448050" y="2019300"/>
            <a:ext cx="1409700" cy="685800"/>
          </a:xfrm>
          <a:prstGeom prst="rect">
            <a:avLst/>
          </a:prstGeom>
        </p:spPr>
        <p:txBody>
          <a:bodyPr wrap="square" lIns="0" tIns="0" rIns="0" bIns="0" anchor="ctr">
            <a:normAutofit fontScale="88471" lnSpcReduction="20000"/>
          </a:bodyPr>
          <a:lstStyle/>
          <a:p>
            <a:pPr algn="ctr">
              <a:defRPr sz="1950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Provider Firewall
+ UFW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991938-9AC6-4E41-8838-6051EA90D59E}"/>
              </a:ext>
            </a:extLst>
          </p:cNvPr>
          <p:cNvSpPr>
            <a:spLocks noGrp="1"/>
          </p:cNvSpPr>
          <p:nvPr/>
        </p:nvSpPr>
        <p:spPr>
          <a:xfrm>
            <a:off x="3524250" y="3276600"/>
            <a:ext cx="1257300" cy="628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173F67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Source CIDR
2 ชั้น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F180DA-8150-478C-B2B9-D0BBDC8D866F}"/>
              </a:ext>
            </a:extLst>
          </p:cNvPr>
          <p:cNvSpPr>
            <a:spLocks noGrp="1"/>
          </p:cNvSpPr>
          <p:nvPr/>
        </p:nvSpPr>
        <p:spPr>
          <a:xfrm>
            <a:off x="3448050" y="4762500"/>
            <a:ext cx="1409700" cy="5905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Public endpoint
≠ open to all</a:t>
            </a:r>
          </a:p>
        </p:txBody>
      </p:sp>
      <p:cxnSp>
        <p:nvCxnSpPr>
          <p:cNvPr id="61" name="Straight Arrow Connector 60"/>
          <p:cNvCxnSpPr/>
          <p:nvPr/>
        </p:nvCxnSpPr>
        <p:spPr>
          <a:xfrm>
            <a:off x="5086350" y="3781425"/>
            <a:ext cx="742950" cy="286"/>
          </a:xfrm>
          <a:prstGeom prst="straightConnector1">
            <a:avLst/>
          </a:prstGeom>
          <a:ln w="28575">
            <a:solidFill>
              <a:srgbClr val="2E74B5"/>
            </a:solidFill>
            <a:prstDash val="solid"/>
          </a:ln>
        </p:spPr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874C6E8-2412-4C42-82D8-C17997FFFB12}"/>
              </a:ext>
            </a:extLst>
          </p:cNvPr>
          <p:cNvSpPr>
            <a:spLocks noGrp="1"/>
          </p:cNvSpPr>
          <p:nvPr/>
        </p:nvSpPr>
        <p:spPr>
          <a:xfrm>
            <a:off x="5829300" y="1676400"/>
            <a:ext cx="2609850" cy="1866900"/>
          </a:xfrm>
          <a:prstGeom prst="rect">
            <a:avLst/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9100436-202F-46F1-8FA0-5FD29187F545}"/>
              </a:ext>
            </a:extLst>
          </p:cNvPr>
          <p:cNvSpPr>
            <a:spLocks noGrp="1"/>
          </p:cNvSpPr>
          <p:nvPr/>
        </p:nvSpPr>
        <p:spPr>
          <a:xfrm>
            <a:off x="6076950" y="1914525"/>
            <a:ext cx="2133600" cy="342900"/>
          </a:xfrm>
          <a:prstGeom prst="rect">
            <a:avLst/>
          </a:prstGeom>
        </p:spPr>
        <p:txBody>
          <a:bodyPr wrap="square" lIns="0" tIns="0" rIns="0" bIns="0" anchor="t">
            <a:normAutofit fontScale="92500"/>
          </a:bodyPr>
          <a:lstStyle/>
          <a:p>
            <a:pPr algn="ctr">
              <a:defRPr sz="1875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Caddy + Application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F9FE6C9-1C65-4884-B405-B1CAABBBA431}"/>
              </a:ext>
            </a:extLst>
          </p:cNvPr>
          <p:cNvSpPr>
            <a:spLocks noGrp="1"/>
          </p:cNvSpPr>
          <p:nvPr/>
        </p:nvSpPr>
        <p:spPr>
          <a:xfrm>
            <a:off x="6153150" y="2495550"/>
            <a:ext cx="1981200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TLS อัตโนมัติ
Frontend + Backend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0E73C7-779C-4F7B-9BAC-443B1C01E70F}"/>
              </a:ext>
            </a:extLst>
          </p:cNvPr>
          <p:cNvSpPr>
            <a:spLocks noGrp="1"/>
          </p:cNvSpPr>
          <p:nvPr/>
        </p:nvSpPr>
        <p:spPr>
          <a:xfrm>
            <a:off x="5829300" y="3829050"/>
            <a:ext cx="2609850" cy="2057400"/>
          </a:xfrm>
          <a:prstGeom prst="rect">
            <a:avLst/>
          </a:prstGeom>
          <a:solidFill>
            <a:srgbClr val="F6F8FA"/>
          </a:solidFill>
          <a:ln w="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5AEA8B-6992-4694-A5B1-A9792DC5087D}"/>
              </a:ext>
            </a:extLst>
          </p:cNvPr>
          <p:cNvSpPr>
            <a:spLocks noGrp="1"/>
          </p:cNvSpPr>
          <p:nvPr/>
        </p:nvSpPr>
        <p:spPr>
          <a:xfrm>
            <a:off x="6076950" y="4086225"/>
            <a:ext cx="2133600" cy="342900"/>
          </a:xfrm>
          <a:prstGeom prst="rect">
            <a:avLst/>
          </a:prstGeom>
        </p:spPr>
        <p:txBody>
          <a:bodyPr wrap="square" lIns="0" tIns="0" rIns="0" bIns="0" anchor="t">
            <a:normAutofit fontScale="92500"/>
          </a:bodyPr>
          <a:lstStyle/>
          <a:p>
            <a:pPr algn="ctr">
              <a:defRPr sz="1800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Database Containers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A8E48E4-BCCA-4C21-BC02-1E2B9E06581A}"/>
              </a:ext>
            </a:extLst>
          </p:cNvPr>
          <p:cNvSpPr>
            <a:spLocks noGrp="1"/>
          </p:cNvSpPr>
          <p:nvPr/>
        </p:nvSpPr>
        <p:spPr>
          <a:xfrm>
            <a:off x="6153150" y="4629150"/>
            <a:ext cx="1981200" cy="914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SQL Server 2022
MySQL 8.0
Encrypted connections</a:t>
            </a:r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8439150" y="2571750"/>
            <a:ext cx="590550" cy="286"/>
          </a:xfrm>
          <a:prstGeom prst="straightConnector1">
            <a:avLst/>
          </a:prstGeom>
          <a:ln w="19050">
            <a:solidFill>
              <a:srgbClr val="D9E2EA"/>
            </a:solidFill>
            <a:prstDash val="solid"/>
          </a:ln>
        </p:spPr>
      </p:cxnSp>
      <p:cxnSp>
        <p:nvCxnSpPr>
          <p:cNvPr id="69" name="Straight Arrow Connector 68"/>
          <p:cNvCxnSpPr/>
          <p:nvPr/>
        </p:nvCxnSpPr>
        <p:spPr>
          <a:xfrm>
            <a:off x="8439150" y="4857750"/>
            <a:ext cx="590550" cy="286"/>
          </a:xfrm>
          <a:prstGeom prst="straightConnector1">
            <a:avLst/>
          </a:prstGeom>
          <a:ln w="19050">
            <a:solidFill>
              <a:srgbClr val="D9E2EA"/>
            </a:solidFill>
            <a:prstDash val="solid"/>
          </a:ln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9767F07F-C34B-4653-A145-536E84411062}"/>
              </a:ext>
            </a:extLst>
          </p:cNvPr>
          <p:cNvSpPr>
            <a:spLocks noGrp="1"/>
          </p:cNvSpPr>
          <p:nvPr/>
        </p:nvSpPr>
        <p:spPr>
          <a:xfrm>
            <a:off x="9029700" y="1676400"/>
            <a:ext cx="2476500" cy="4210050"/>
          </a:xfrm>
          <a:prstGeom prst="rect">
            <a:avLst/>
          </a:prstGeom>
          <a:solidFill>
            <a:srgbClr val="173F67"/>
          </a:solidFill>
          <a:ln w="0">
            <a:solidFill>
              <a:srgbClr val="173F67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0C121DD-F2E8-4C75-970B-A4FE0AAA8582}"/>
              </a:ext>
            </a:extLst>
          </p:cNvPr>
          <p:cNvSpPr>
            <a:spLocks noGrp="1"/>
          </p:cNvSpPr>
          <p:nvPr/>
        </p:nvSpPr>
        <p:spPr>
          <a:xfrm>
            <a:off x="9296400" y="2000250"/>
            <a:ext cx="19431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Persistent Data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21F0111-F71F-45CA-ABCE-41D21CCF2141}"/>
              </a:ext>
            </a:extLst>
          </p:cNvPr>
          <p:cNvSpPr>
            <a:spLocks noGrp="1"/>
          </p:cNvSpPr>
          <p:nvPr/>
        </p:nvSpPr>
        <p:spPr>
          <a:xfrm>
            <a:off x="9334500" y="2647950"/>
            <a:ext cx="18669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Docker volumes</a:t>
            </a:r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9353550" y="3162300"/>
            <a:ext cx="1809750" cy="286"/>
          </a:xfrm>
          <a:prstGeom prst="straightConnector1">
            <a:avLst/>
          </a:prstGeom>
          <a:ln w="9525">
            <a:solidFill>
              <a:srgbClr val="557A9D"/>
            </a:solidFill>
            <a:prstDash val="solid"/>
          </a:ln>
        </p:spPr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9EE33555-96CA-4F40-99FF-7711593E3F78}"/>
              </a:ext>
            </a:extLst>
          </p:cNvPr>
          <p:cNvSpPr>
            <a:spLocks noGrp="1"/>
          </p:cNvSpPr>
          <p:nvPr/>
        </p:nvSpPr>
        <p:spPr>
          <a:xfrm>
            <a:off x="9334500" y="3476625"/>
            <a:ext cx="18669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SFTP folders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887A605-1C91-4E31-AEF1-5C369E2EF5CB}"/>
              </a:ext>
            </a:extLst>
          </p:cNvPr>
          <p:cNvSpPr>
            <a:spLocks noGrp="1"/>
          </p:cNvSpPr>
          <p:nvPr/>
        </p:nvSpPr>
        <p:spPr>
          <a:xfrm>
            <a:off x="9467850" y="3943350"/>
            <a:ext cx="1600200" cy="952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0">
                <a:solidFill>
                  <a:srgbClr val="D9EAF7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/incoming
/outgoing
/manifests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F4E786C-067D-4108-8ABE-F549D3CF7F98}"/>
              </a:ext>
            </a:extLst>
          </p:cNvPr>
          <p:cNvSpPr>
            <a:spLocks noGrp="1"/>
          </p:cNvSpPr>
          <p:nvPr/>
        </p:nvSpPr>
        <p:spPr>
          <a:xfrm>
            <a:off x="9696450" y="5276850"/>
            <a:ext cx="11430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>
                <a:solidFill>
                  <a:srgbClr val="A9D7B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No S3</a:t>
            </a:r>
          </a:p>
        </p:txBody>
      </p:sp>
    </p:spTree>
    <p:extLst>
      <p:ext uri="{BB962C8B-B14F-4D97-AF65-F5344CB8AC3E}">
        <p14:creationId xmlns:p14="http://schemas.microsoft.com/office/powerpoint/2010/main" val="452819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3F76AD9-7C15-4E30-9A10-982A7134FFAA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4762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E74B5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WORLDFERT / CLOUD MIGRATION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FD8885-42DA-40E6-B861-3AD0F901E432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76200" cy="514350"/>
          </a:xfrm>
          <a:prstGeom prst="rect">
            <a:avLst/>
          </a:prstGeom>
          <a:solidFill>
            <a:srgbClr val="2E74B5"/>
          </a:solidFill>
          <a:ln w="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F1A70A-9647-4D8B-B023-F85E6DB118B6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10572750" cy="571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Public IP: ใช้ง่าย โดยคุมสิทธิ์อย่างชัดเจน</a:t>
            </a: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457200" y="6381750"/>
            <a:ext cx="11277600" cy="286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3658C84-D259-4C39-A73C-A8076DDBCA09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33337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C‑LEVEL DECISION BRIEF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F32153-50C6-4E09-A234-6DD92ACB3AA5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905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04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B0C943-82E9-4FC3-B2D5-8A5F5513DE69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2476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2E74B5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PORT POLICY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75A89E-C9B6-484C-B35D-C62913D8B611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5010150" cy="3009900"/>
          </a:xfrm>
          <a:prstGeom prst="rect">
            <a:avLst/>
          </a:prstGeom>
          <a:solidFill>
            <a:srgbClr val="F6F8FA"/>
          </a:solidFill>
          <a:ln w="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08A3CA-7C7F-484C-BD86-1ACB0EF52CF2}"/>
              </a:ext>
            </a:extLst>
          </p:cNvPr>
          <p:cNvSpPr>
            <a:spLocks noGrp="1"/>
          </p:cNvSpPr>
          <p:nvPr/>
        </p:nvSpPr>
        <p:spPr>
          <a:xfrm>
            <a:off x="933450" y="2209800"/>
            <a:ext cx="1428750" cy="304800"/>
          </a:xfrm>
          <a:prstGeom prst="rect">
            <a:avLst/>
          </a:prstGeom>
        </p:spPr>
        <p:txBody>
          <a:bodyPr wrap="square" lIns="0" tIns="0" rIns="0" bIns="0" anchor="t">
            <a:normAutofit fontScale="98765"/>
          </a:bodyPr>
          <a:lstStyle/>
          <a:p>
            <a:pPr algn="l">
              <a:defRPr sz="2025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80 / 443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427D48-BD47-4B18-B6BC-80D8D74282A9}"/>
              </a:ext>
            </a:extLst>
          </p:cNvPr>
          <p:cNvSpPr>
            <a:spLocks noGrp="1"/>
          </p:cNvSpPr>
          <p:nvPr/>
        </p:nvSpPr>
        <p:spPr>
          <a:xfrm>
            <a:off x="2533650" y="2257425"/>
            <a:ext cx="2857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เปิดสู่ Internet สำหรับ Web/API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933450" y="2686050"/>
            <a:ext cx="4495800" cy="286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A10FA15-4C3F-4C96-AE05-4E714B78C761}"/>
              </a:ext>
            </a:extLst>
          </p:cNvPr>
          <p:cNvSpPr>
            <a:spLocks noGrp="1"/>
          </p:cNvSpPr>
          <p:nvPr/>
        </p:nvSpPr>
        <p:spPr>
          <a:xfrm>
            <a:off x="933450" y="2905125"/>
            <a:ext cx="1428750" cy="304800"/>
          </a:xfrm>
          <a:prstGeom prst="rect">
            <a:avLst/>
          </a:prstGeom>
        </p:spPr>
        <p:txBody>
          <a:bodyPr wrap="square" lIns="0" tIns="0" rIns="0" bIns="0" anchor="t">
            <a:normAutofit fontScale="98765"/>
          </a:bodyPr>
          <a:lstStyle/>
          <a:p>
            <a:pPr algn="l">
              <a:defRPr sz="2025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22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240C2B-5C8F-42DC-B89A-489058845853}"/>
              </a:ext>
            </a:extLst>
          </p:cNvPr>
          <p:cNvSpPr>
            <a:spLocks noGrp="1"/>
          </p:cNvSpPr>
          <p:nvPr/>
        </p:nvSpPr>
        <p:spPr>
          <a:xfrm>
            <a:off x="2533650" y="2952750"/>
            <a:ext cx="2857500" cy="457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เฉพาะ IP ผู้ดูแล • Key only • Chroot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933450" y="3562350"/>
            <a:ext cx="4495800" cy="286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A94F13F0-3045-4666-9D5E-D704DE3D7B84}"/>
              </a:ext>
            </a:extLst>
          </p:cNvPr>
          <p:cNvSpPr>
            <a:spLocks noGrp="1"/>
          </p:cNvSpPr>
          <p:nvPr/>
        </p:nvSpPr>
        <p:spPr>
          <a:xfrm>
            <a:off x="933450" y="3781425"/>
            <a:ext cx="142875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1433 / 3306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ADC25D-3BCF-4303-A1A0-BA7F9E5760D7}"/>
              </a:ext>
            </a:extLst>
          </p:cNvPr>
          <p:cNvSpPr>
            <a:spLocks noGrp="1"/>
          </p:cNvSpPr>
          <p:nvPr/>
        </p:nvSpPr>
        <p:spPr>
          <a:xfrm>
            <a:off x="2533650" y="3829050"/>
            <a:ext cx="28575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เฉพาะ Client IP ที่อนุมัติ • TLS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933450" y="4410075"/>
            <a:ext cx="4495800" cy="286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5F5E3818-50BB-4174-B46A-B24FDD0A7865}"/>
              </a:ext>
            </a:extLst>
          </p:cNvPr>
          <p:cNvSpPr>
            <a:spLocks noGrp="1"/>
          </p:cNvSpPr>
          <p:nvPr/>
        </p:nvSpPr>
        <p:spPr>
          <a:xfrm>
            <a:off x="933450" y="4591050"/>
            <a:ext cx="14287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173F67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Default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2A9FAD-B139-4581-AE3F-15D3F3E16600}"/>
              </a:ext>
            </a:extLst>
          </p:cNvPr>
          <p:cNvSpPr>
            <a:spLocks noGrp="1"/>
          </p:cNvSpPr>
          <p:nvPr/>
        </p:nvSpPr>
        <p:spPr>
          <a:xfrm>
            <a:off x="2533650" y="4610100"/>
            <a:ext cx="2857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Deny พอร์ตอื่นทั้งหมด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812ABF-05BE-46E3-AD66-96CC5BF63EB6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2857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2E74B5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WEEKLY BACKUP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815CB4-D146-4406-B42E-8916011A93F1}"/>
              </a:ext>
            </a:extLst>
          </p:cNvPr>
          <p:cNvSpPr>
            <a:spLocks noGrp="1"/>
          </p:cNvSpPr>
          <p:nvPr/>
        </p:nvSpPr>
        <p:spPr>
          <a:xfrm>
            <a:off x="6191250" y="1981200"/>
            <a:ext cx="5314950" cy="3009900"/>
          </a:xfrm>
          <a:prstGeom prst="rect">
            <a:avLst/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141F2B-5D89-4593-AC25-BC78AAC66A30}"/>
              </a:ext>
            </a:extLst>
          </p:cNvPr>
          <p:cNvSpPr>
            <a:spLocks noGrp="1"/>
          </p:cNvSpPr>
          <p:nvPr/>
        </p:nvSpPr>
        <p:spPr>
          <a:xfrm>
            <a:off x="6457950" y="2209800"/>
            <a:ext cx="200025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อาทิตย์ 02:00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A8DC6E1-C9A5-4C5D-9352-5B40A4FAFA67}"/>
              </a:ext>
            </a:extLst>
          </p:cNvPr>
          <p:cNvSpPr>
            <a:spLocks noGrp="1"/>
          </p:cNvSpPr>
          <p:nvPr/>
        </p:nvSpPr>
        <p:spPr>
          <a:xfrm>
            <a:off x="8915400" y="2257425"/>
            <a:ext cx="21907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275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Asia/Bangkok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631E8AD-7A18-4F61-B37A-A36F0CD74F70}"/>
              </a:ext>
            </a:extLst>
          </p:cNvPr>
          <p:cNvSpPr>
            <a:spLocks noGrp="1"/>
          </p:cNvSpPr>
          <p:nvPr/>
        </p:nvSpPr>
        <p:spPr>
          <a:xfrm>
            <a:off x="6496050" y="2905125"/>
            <a:ext cx="3619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725" b="1">
                <a:solidFill>
                  <a:srgbClr val="2E74B5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017EB0-A392-4BBD-9C0C-FBE71B17019C}"/>
              </a:ext>
            </a:extLst>
          </p:cNvPr>
          <p:cNvSpPr>
            <a:spLocks noGrp="1"/>
          </p:cNvSpPr>
          <p:nvPr/>
        </p:nvSpPr>
        <p:spPr>
          <a:xfrm>
            <a:off x="7067550" y="2933700"/>
            <a:ext cx="39052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สร้าง MSSQL + MySQL backup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A920DD2-FC39-4CB7-B376-5EF9282CB279}"/>
              </a:ext>
            </a:extLst>
          </p:cNvPr>
          <p:cNvSpPr>
            <a:spLocks noGrp="1"/>
          </p:cNvSpPr>
          <p:nvPr/>
        </p:nvSpPr>
        <p:spPr>
          <a:xfrm>
            <a:off x="6496050" y="3457575"/>
            <a:ext cx="3619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725" b="1">
                <a:solidFill>
                  <a:srgbClr val="2E74B5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C39FB29-65E5-4C2D-B964-5A0398317CA9}"/>
              </a:ext>
            </a:extLst>
          </p:cNvPr>
          <p:cNvSpPr>
            <a:spLocks noGrp="1"/>
          </p:cNvSpPr>
          <p:nvPr/>
        </p:nvSpPr>
        <p:spPr>
          <a:xfrm>
            <a:off x="7067550" y="3486150"/>
            <a:ext cx="39052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VERIFY / gzip test / SHA‑256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B02FD4-FA87-4888-8854-2DDBD66AB9D1}"/>
              </a:ext>
            </a:extLst>
          </p:cNvPr>
          <p:cNvSpPr>
            <a:spLocks noGrp="1"/>
          </p:cNvSpPr>
          <p:nvPr/>
        </p:nvSpPr>
        <p:spPr>
          <a:xfrm>
            <a:off x="6496050" y="4010025"/>
            <a:ext cx="3619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725" b="1">
                <a:solidFill>
                  <a:srgbClr val="2E74B5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B830C67-002E-4799-95BC-758E44438842}"/>
              </a:ext>
            </a:extLst>
          </p:cNvPr>
          <p:cNvSpPr>
            <a:spLocks noGrp="1"/>
          </p:cNvSpPr>
          <p:nvPr/>
        </p:nvSpPr>
        <p:spPr>
          <a:xfrm>
            <a:off x="7067550" y="4038600"/>
            <a:ext cx="39052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เก็บ 70 วัน และวางใน /outgoing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F97C1C-88D8-4F33-9347-BFFD08044A7D}"/>
              </a:ext>
            </a:extLst>
          </p:cNvPr>
          <p:cNvSpPr>
            <a:spLocks noGrp="1"/>
          </p:cNvSpPr>
          <p:nvPr/>
        </p:nvSpPr>
        <p:spPr>
          <a:xfrm>
            <a:off x="6496050" y="4562475"/>
            <a:ext cx="36195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725" b="1">
                <a:solidFill>
                  <a:srgbClr val="2E74B5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52D4922-D1A4-4159-97C4-18AD013A4FE8}"/>
              </a:ext>
            </a:extLst>
          </p:cNvPr>
          <p:cNvSpPr>
            <a:spLocks noGrp="1"/>
          </p:cNvSpPr>
          <p:nvPr/>
        </p:nvSpPr>
        <p:spPr>
          <a:xfrm>
            <a:off x="7067550" y="4591050"/>
            <a:ext cx="39052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ดาวน์โหลดผ่าน SFTP ไปบริษัท/NAS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D7F4FF6-1467-4977-BD97-E81B98DE1280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10820400" cy="685800"/>
          </a:xfrm>
          <a:prstGeom prst="rect">
            <a:avLst/>
          </a:prstGeom>
          <a:solidFill>
            <a:srgbClr val="FFF0C2"/>
          </a:solidFill>
          <a:ln w="0">
            <a:solidFill>
              <a:srgbClr val="FFF0C2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B0C9628-857B-4F9F-95DE-CE02ADD98C9A}"/>
              </a:ext>
            </a:extLst>
          </p:cNvPr>
          <p:cNvSpPr>
            <a:spLocks noGrp="1"/>
          </p:cNvSpPr>
          <p:nvPr/>
        </p:nvSpPr>
        <p:spPr>
          <a:xfrm>
            <a:off x="914400" y="5524500"/>
            <a:ext cx="103632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650" b="1">
                <a:solidFill>
                  <a:srgbClr val="173F67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หลักการ: Public endpoint ช่วยให้เชื่อมต่อง่าย — แต่ไม่เปิด 0.0.0.0/0 ให้ฐานข้อมูลเป็นค่าเริ่มต้น</a:t>
            </a:r>
          </a:p>
        </p:txBody>
      </p:sp>
    </p:spTree>
    <p:extLst>
      <p:ext uri="{BB962C8B-B14F-4D97-AF65-F5344CB8AC3E}">
        <p14:creationId xmlns:p14="http://schemas.microsoft.com/office/powerpoint/2010/main" val="87831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>
            <a:extLst>
              <a:ext uri="{FF2B5EF4-FFF2-40B4-BE49-F238E27FC236}">
                <a16:creationId xmlns:a16="http://schemas.microsoft.com/office/drawing/2014/main" id="{7563EBAE-3F3F-4AD0-B692-33103F6DCECF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4762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E74B5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WORLDFERT / CLOUD MIGRATION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CB4A01-D063-4FBA-84C8-AA1F4D19435B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76200" cy="514350"/>
          </a:xfrm>
          <a:prstGeom prst="rect">
            <a:avLst/>
          </a:prstGeom>
          <a:solidFill>
            <a:srgbClr val="2E74B5"/>
          </a:solidFill>
          <a:ln w="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7E71A5-1DCB-4556-97A8-4F85BF12905C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10572750" cy="571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Cloud ต่างประเทศ 5 ราย — เรียงตามความคุ้มค่า</a:t>
            </a:r>
          </a:p>
        </p:txBody>
      </p:sp>
      <p:cxnSp>
        <p:nvCxnSpPr>
          <p:cNvPr id="79" name="Straight Arrow Connector 78"/>
          <p:cNvCxnSpPr/>
          <p:nvPr/>
        </p:nvCxnSpPr>
        <p:spPr>
          <a:xfrm>
            <a:off x="457200" y="6381750"/>
            <a:ext cx="11277600" cy="286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9967F45F-99C0-487C-B78C-29A05DD0B5AC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33337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C‑LEVEL DECISION BRIEF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D37C20-4880-4F22-B8EF-85D4FCB9A71F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905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05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ECAFD0-B4F4-436E-8C24-C02885197935}"/>
              </a:ext>
            </a:extLst>
          </p:cNvPr>
          <p:cNvSpPr>
            <a:spLocks noGrp="1"/>
          </p:cNvSpPr>
          <p:nvPr/>
        </p:nvSpPr>
        <p:spPr>
          <a:xfrm>
            <a:off x="685800" y="1447800"/>
            <a:ext cx="108204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เกณฑ์เดียวกัน: x86‑64, Public IPv4, Singapore/SEA, 4 vCPU, RAM ≥8 GB, Disk ≥160 GB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3B2FFA-2F22-4BAB-B369-E4F92C4ED4A5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10820400" cy="400050"/>
          </a:xfrm>
          <a:prstGeom prst="rect">
            <a:avLst/>
          </a:prstGeom>
          <a:solidFill>
            <a:srgbClr val="173F67"/>
          </a:solidFill>
          <a:ln w="0">
            <a:solidFill>
              <a:srgbClr val="173F67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882CCB-6C94-4DCE-B515-85630C8A6813}"/>
              </a:ext>
            </a:extLst>
          </p:cNvPr>
          <p:cNvSpPr>
            <a:spLocks noGrp="1"/>
          </p:cNvSpPr>
          <p:nvPr/>
        </p:nvSpPr>
        <p:spPr>
          <a:xfrm>
            <a:off x="762000" y="1962150"/>
            <a:ext cx="4381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#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14B07D-A7E7-49DD-BE78-347B44ED49E4}"/>
              </a:ext>
            </a:extLst>
          </p:cNvPr>
          <p:cNvSpPr>
            <a:spLocks noGrp="1"/>
          </p:cNvSpPr>
          <p:nvPr/>
        </p:nvSpPr>
        <p:spPr>
          <a:xfrm>
            <a:off x="1352550" y="1962150"/>
            <a:ext cx="18478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Provider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AC1077-C451-4615-87CB-76EA76E49035}"/>
              </a:ext>
            </a:extLst>
          </p:cNvPr>
          <p:cNvSpPr>
            <a:spLocks noGrp="1"/>
          </p:cNvSpPr>
          <p:nvPr/>
        </p:nvSpPr>
        <p:spPr>
          <a:xfrm>
            <a:off x="3352800" y="1962150"/>
            <a:ext cx="23241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Spec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E6D974-47B3-4D37-B0D5-E5B496299891}"/>
              </a:ext>
            </a:extLst>
          </p:cNvPr>
          <p:cNvSpPr>
            <a:spLocks noGrp="1"/>
          </p:cNvSpPr>
          <p:nvPr/>
        </p:nvSpPr>
        <p:spPr>
          <a:xfrm>
            <a:off x="5829300" y="1962150"/>
            <a:ext cx="1419225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Base / เดือน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541064-F6EA-4078-8F31-C71EFF04795D}"/>
              </a:ext>
            </a:extLst>
          </p:cNvPr>
          <p:cNvSpPr>
            <a:spLocks noGrp="1"/>
          </p:cNvSpPr>
          <p:nvPr/>
        </p:nvSpPr>
        <p:spPr>
          <a:xfrm>
            <a:off x="7400925" y="1962150"/>
            <a:ext cx="15621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Backup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FDF20E-19C0-4A9B-9088-EE976BB46186}"/>
              </a:ext>
            </a:extLst>
          </p:cNvPr>
          <p:cNvSpPr>
            <a:spLocks noGrp="1"/>
          </p:cNvSpPr>
          <p:nvPr/>
        </p:nvSpPr>
        <p:spPr>
          <a:xfrm>
            <a:off x="9115425" y="1962150"/>
            <a:ext cx="2314575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มุมมอง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11D4A6-5230-46AF-AAA0-2DC7F4F225E9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108204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B6343E-73F4-4CF7-BB4C-4F23CC00AA81}"/>
              </a:ext>
            </a:extLst>
          </p:cNvPr>
          <p:cNvSpPr>
            <a:spLocks noGrp="1"/>
          </p:cNvSpPr>
          <p:nvPr/>
        </p:nvSpPr>
        <p:spPr>
          <a:xfrm>
            <a:off x="762000" y="2362200"/>
            <a:ext cx="438150" cy="5143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0F1A56-5F78-4565-969B-DC1A803A2160}"/>
              </a:ext>
            </a:extLst>
          </p:cNvPr>
          <p:cNvSpPr>
            <a:spLocks noGrp="1"/>
          </p:cNvSpPr>
          <p:nvPr/>
        </p:nvSpPr>
        <p:spPr>
          <a:xfrm>
            <a:off x="1352550" y="2362200"/>
            <a:ext cx="1847850" cy="5143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Hostinger KVM 4</a:t>
            </a:r>
          </a:p>
        </p:txBody>
      </p:sp>
      <p:cxnSp>
        <p:nvCxnSpPr>
          <p:cNvPr id="93" name="Straight Arrow Connector 92"/>
          <p:cNvCxnSpPr/>
          <p:nvPr/>
        </p:nvCxnSpPr>
        <p:spPr>
          <a:xfrm>
            <a:off x="1276350" y="2286000"/>
            <a:ext cx="286" cy="66675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F1A5463-6A6D-4988-8981-77552622A20A}"/>
              </a:ext>
            </a:extLst>
          </p:cNvPr>
          <p:cNvSpPr>
            <a:spLocks noGrp="1"/>
          </p:cNvSpPr>
          <p:nvPr/>
        </p:nvSpPr>
        <p:spPr>
          <a:xfrm>
            <a:off x="3352800" y="2362200"/>
            <a:ext cx="2324100" cy="5143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4 / 16 GB / 200 GB</a:t>
            </a:r>
          </a:p>
        </p:txBody>
      </p:sp>
      <p:cxnSp>
        <p:nvCxnSpPr>
          <p:cNvPr id="95" name="Straight Arrow Connector 94"/>
          <p:cNvCxnSpPr/>
          <p:nvPr/>
        </p:nvCxnSpPr>
        <p:spPr>
          <a:xfrm>
            <a:off x="3276600" y="2286000"/>
            <a:ext cx="286" cy="66675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5FAF390-2CF9-4B53-BCCC-20C47BFEE4DE}"/>
              </a:ext>
            </a:extLst>
          </p:cNvPr>
          <p:cNvSpPr>
            <a:spLocks noGrp="1"/>
          </p:cNvSpPr>
          <p:nvPr/>
        </p:nvSpPr>
        <p:spPr>
          <a:xfrm>
            <a:off x="5829300" y="2362200"/>
            <a:ext cx="1419225" cy="5143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$28.99 ≈ ฿957</a:t>
            </a:r>
          </a:p>
        </p:txBody>
      </p:sp>
      <p:cxnSp>
        <p:nvCxnSpPr>
          <p:cNvPr id="97" name="Straight Arrow Connector 96"/>
          <p:cNvCxnSpPr/>
          <p:nvPr/>
        </p:nvCxnSpPr>
        <p:spPr>
          <a:xfrm>
            <a:off x="5753100" y="2286000"/>
            <a:ext cx="286" cy="66675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53905128-7E76-4FA4-B673-5AEF5FA9207B}"/>
              </a:ext>
            </a:extLst>
          </p:cNvPr>
          <p:cNvSpPr>
            <a:spLocks noGrp="1"/>
          </p:cNvSpPr>
          <p:nvPr/>
        </p:nvSpPr>
        <p:spPr>
          <a:xfrm>
            <a:off x="7400925" y="2362200"/>
            <a:ext cx="1562100" cy="5143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Weekly รวม</a:t>
            </a:r>
          </a:p>
        </p:txBody>
      </p:sp>
      <p:cxnSp>
        <p:nvCxnSpPr>
          <p:cNvPr id="99" name="Straight Arrow Connector 98"/>
          <p:cNvCxnSpPr/>
          <p:nvPr/>
        </p:nvCxnSpPr>
        <p:spPr>
          <a:xfrm>
            <a:off x="7324725" y="2286000"/>
            <a:ext cx="286" cy="66675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AE82E1BD-4154-4B39-BD80-7E3B433B8C0E}"/>
              </a:ext>
            </a:extLst>
          </p:cNvPr>
          <p:cNvSpPr>
            <a:spLocks noGrp="1"/>
          </p:cNvSpPr>
          <p:nvPr/>
        </p:nvSpPr>
        <p:spPr>
          <a:xfrm>
            <a:off x="9115425" y="2362200"/>
            <a:ext cx="2314575" cy="5143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Best value • Pilot 7 วัน</a:t>
            </a:r>
          </a:p>
        </p:txBody>
      </p:sp>
      <p:cxnSp>
        <p:nvCxnSpPr>
          <p:cNvPr id="101" name="Straight Arrow Connector 100"/>
          <p:cNvCxnSpPr/>
          <p:nvPr/>
        </p:nvCxnSpPr>
        <p:spPr>
          <a:xfrm>
            <a:off x="9039225" y="2286000"/>
            <a:ext cx="286" cy="66675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80EFE7AE-F2ED-4944-964B-14E38719B146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10820400" cy="666750"/>
          </a:xfrm>
          <a:prstGeom prst="rect">
            <a:avLst/>
          </a:prstGeom>
          <a:solidFill>
            <a:srgbClr val="F6F8FA"/>
          </a:solidFill>
          <a:ln w="9525">
            <a:solidFill>
              <a:srgbClr val="D9E2EA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8F6238-36E5-4609-90B4-2F89E599F4B3}"/>
              </a:ext>
            </a:extLst>
          </p:cNvPr>
          <p:cNvSpPr>
            <a:spLocks noGrp="1"/>
          </p:cNvSpPr>
          <p:nvPr/>
        </p:nvSpPr>
        <p:spPr>
          <a:xfrm>
            <a:off x="762000" y="3028950"/>
            <a:ext cx="438150" cy="5143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F861A8D-95D2-43B2-8775-190081B2BEBC}"/>
              </a:ext>
            </a:extLst>
          </p:cNvPr>
          <p:cNvSpPr>
            <a:spLocks noGrp="1"/>
          </p:cNvSpPr>
          <p:nvPr/>
        </p:nvSpPr>
        <p:spPr>
          <a:xfrm>
            <a:off x="1352550" y="3028950"/>
            <a:ext cx="1847850" cy="5143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Vultr VC2</a:t>
            </a:r>
          </a:p>
        </p:txBody>
      </p:sp>
      <p:cxnSp>
        <p:nvCxnSpPr>
          <p:cNvPr id="105" name="Straight Arrow Connector 104"/>
          <p:cNvCxnSpPr/>
          <p:nvPr/>
        </p:nvCxnSpPr>
        <p:spPr>
          <a:xfrm>
            <a:off x="1276350" y="2952750"/>
            <a:ext cx="286" cy="66675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48EF75BA-192C-4969-9D61-ABA37C3C9A2E}"/>
              </a:ext>
            </a:extLst>
          </p:cNvPr>
          <p:cNvSpPr>
            <a:spLocks noGrp="1"/>
          </p:cNvSpPr>
          <p:nvPr/>
        </p:nvSpPr>
        <p:spPr>
          <a:xfrm>
            <a:off x="3352800" y="3028950"/>
            <a:ext cx="2324100" cy="5143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4 / 8 GB / 160 GB</a:t>
            </a:r>
          </a:p>
        </p:txBody>
      </p:sp>
      <p:cxnSp>
        <p:nvCxnSpPr>
          <p:cNvPr id="107" name="Straight Arrow Connector 106"/>
          <p:cNvCxnSpPr/>
          <p:nvPr/>
        </p:nvCxnSpPr>
        <p:spPr>
          <a:xfrm>
            <a:off x="3276600" y="2952750"/>
            <a:ext cx="286" cy="66675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0CE7329B-6F53-43CA-8701-8BCC4F3CB205}"/>
              </a:ext>
            </a:extLst>
          </p:cNvPr>
          <p:cNvSpPr>
            <a:spLocks noGrp="1"/>
          </p:cNvSpPr>
          <p:nvPr/>
        </p:nvSpPr>
        <p:spPr>
          <a:xfrm>
            <a:off x="5829300" y="3028950"/>
            <a:ext cx="1419225" cy="5143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$40 ≈ ฿1,320</a:t>
            </a:r>
          </a:p>
        </p:txBody>
      </p:sp>
      <p:cxnSp>
        <p:nvCxnSpPr>
          <p:cNvPr id="109" name="Straight Arrow Connector 108"/>
          <p:cNvCxnSpPr/>
          <p:nvPr/>
        </p:nvCxnSpPr>
        <p:spPr>
          <a:xfrm>
            <a:off x="5753100" y="2952750"/>
            <a:ext cx="286" cy="66675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52FFE4B1-C95B-4F5A-A3B7-036C2B6CAF88}"/>
              </a:ext>
            </a:extLst>
          </p:cNvPr>
          <p:cNvSpPr>
            <a:spLocks noGrp="1"/>
          </p:cNvSpPr>
          <p:nvPr/>
        </p:nvSpPr>
        <p:spPr>
          <a:xfrm>
            <a:off x="7400925" y="3028950"/>
            <a:ext cx="1562100" cy="5143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+20% → ฿1,584</a:t>
            </a:r>
          </a:p>
        </p:txBody>
      </p:sp>
      <p:cxnSp>
        <p:nvCxnSpPr>
          <p:cNvPr id="111" name="Straight Arrow Connector 110"/>
          <p:cNvCxnSpPr/>
          <p:nvPr/>
        </p:nvCxnSpPr>
        <p:spPr>
          <a:xfrm>
            <a:off x="7324725" y="2952750"/>
            <a:ext cx="286" cy="66675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EF52371B-6D17-4DC3-B67D-0C4C5A3B7A63}"/>
              </a:ext>
            </a:extLst>
          </p:cNvPr>
          <p:cNvSpPr>
            <a:spLocks noGrp="1"/>
          </p:cNvSpPr>
          <p:nvPr/>
        </p:nvSpPr>
        <p:spPr>
          <a:xfrm>
            <a:off x="9115425" y="3028950"/>
            <a:ext cx="2314575" cy="5143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ทางสำรองที่ยืดหยุ่น</a:t>
            </a:r>
          </a:p>
        </p:txBody>
      </p:sp>
      <p:cxnSp>
        <p:nvCxnSpPr>
          <p:cNvPr id="113" name="Straight Arrow Connector 112"/>
          <p:cNvCxnSpPr/>
          <p:nvPr/>
        </p:nvCxnSpPr>
        <p:spPr>
          <a:xfrm>
            <a:off x="9039225" y="2952750"/>
            <a:ext cx="286" cy="66675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F947F05D-A5A1-4831-9065-6CB6BE686993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108204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3A5C885-B221-47D8-81DC-1C2346CFE6D5}"/>
              </a:ext>
            </a:extLst>
          </p:cNvPr>
          <p:cNvSpPr>
            <a:spLocks noGrp="1"/>
          </p:cNvSpPr>
          <p:nvPr/>
        </p:nvSpPr>
        <p:spPr>
          <a:xfrm>
            <a:off x="762000" y="3695700"/>
            <a:ext cx="438150" cy="5143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3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892B508-9FE6-4161-B421-1AD3943F2669}"/>
              </a:ext>
            </a:extLst>
          </p:cNvPr>
          <p:cNvSpPr>
            <a:spLocks noGrp="1"/>
          </p:cNvSpPr>
          <p:nvPr/>
        </p:nvSpPr>
        <p:spPr>
          <a:xfrm>
            <a:off x="1352550" y="3695700"/>
            <a:ext cx="1847850" cy="5143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DigitalOcean Basic</a:t>
            </a:r>
          </a:p>
        </p:txBody>
      </p:sp>
      <p:cxnSp>
        <p:nvCxnSpPr>
          <p:cNvPr id="117" name="Straight Arrow Connector 116"/>
          <p:cNvCxnSpPr/>
          <p:nvPr/>
        </p:nvCxnSpPr>
        <p:spPr>
          <a:xfrm>
            <a:off x="1276350" y="3619500"/>
            <a:ext cx="286" cy="66675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4AB16393-A24B-473E-BD23-253AC7BDFB08}"/>
              </a:ext>
            </a:extLst>
          </p:cNvPr>
          <p:cNvSpPr>
            <a:spLocks noGrp="1"/>
          </p:cNvSpPr>
          <p:nvPr/>
        </p:nvSpPr>
        <p:spPr>
          <a:xfrm>
            <a:off x="3352800" y="3695700"/>
            <a:ext cx="2324100" cy="5143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4 / 8 GiB / 160 GiB</a:t>
            </a:r>
          </a:p>
        </p:txBody>
      </p:sp>
      <p:cxnSp>
        <p:nvCxnSpPr>
          <p:cNvPr id="119" name="Straight Arrow Connector 118"/>
          <p:cNvCxnSpPr/>
          <p:nvPr/>
        </p:nvCxnSpPr>
        <p:spPr>
          <a:xfrm>
            <a:off x="3276600" y="3619500"/>
            <a:ext cx="286" cy="66675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F3ADE516-2404-4418-937B-1D845A26D826}"/>
              </a:ext>
            </a:extLst>
          </p:cNvPr>
          <p:cNvSpPr>
            <a:spLocks noGrp="1"/>
          </p:cNvSpPr>
          <p:nvPr/>
        </p:nvSpPr>
        <p:spPr>
          <a:xfrm>
            <a:off x="5829300" y="3695700"/>
            <a:ext cx="1419225" cy="5143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$48 ≈ ฿1,584</a:t>
            </a:r>
          </a:p>
        </p:txBody>
      </p:sp>
      <p:cxnSp>
        <p:nvCxnSpPr>
          <p:cNvPr id="121" name="Straight Arrow Connector 120"/>
          <p:cNvCxnSpPr/>
          <p:nvPr/>
        </p:nvCxnSpPr>
        <p:spPr>
          <a:xfrm>
            <a:off x="5753100" y="3619500"/>
            <a:ext cx="286" cy="66675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7DD48C5B-B03E-4820-A177-9B3A6F7A4E69}"/>
              </a:ext>
            </a:extLst>
          </p:cNvPr>
          <p:cNvSpPr>
            <a:spLocks noGrp="1"/>
          </p:cNvSpPr>
          <p:nvPr/>
        </p:nvSpPr>
        <p:spPr>
          <a:xfrm>
            <a:off x="7400925" y="3695700"/>
            <a:ext cx="1562100" cy="5143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+20% → ฿1,901</a:t>
            </a:r>
          </a:p>
        </p:txBody>
      </p:sp>
      <p:cxnSp>
        <p:nvCxnSpPr>
          <p:cNvPr id="123" name="Straight Arrow Connector 122"/>
          <p:cNvCxnSpPr/>
          <p:nvPr/>
        </p:nvCxnSpPr>
        <p:spPr>
          <a:xfrm>
            <a:off x="7324725" y="3619500"/>
            <a:ext cx="286" cy="66675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586AC104-AE3C-4331-8164-CAE55BB7BF45}"/>
              </a:ext>
            </a:extLst>
          </p:cNvPr>
          <p:cNvSpPr>
            <a:spLocks noGrp="1"/>
          </p:cNvSpPr>
          <p:nvPr/>
        </p:nvSpPr>
        <p:spPr>
          <a:xfrm>
            <a:off x="9115425" y="3695700"/>
            <a:ext cx="2314575" cy="5143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ใช้ง่าย / เอกสารดี</a:t>
            </a:r>
          </a:p>
        </p:txBody>
      </p:sp>
      <p:cxnSp>
        <p:nvCxnSpPr>
          <p:cNvPr id="125" name="Straight Arrow Connector 124"/>
          <p:cNvCxnSpPr/>
          <p:nvPr/>
        </p:nvCxnSpPr>
        <p:spPr>
          <a:xfrm>
            <a:off x="9039225" y="3619500"/>
            <a:ext cx="286" cy="66675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605A4FD0-0734-4024-B4F0-5E0D8613A5C4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10820400" cy="666750"/>
          </a:xfrm>
          <a:prstGeom prst="rect">
            <a:avLst/>
          </a:prstGeom>
          <a:solidFill>
            <a:srgbClr val="F6F8FA"/>
          </a:solidFill>
          <a:ln w="9525">
            <a:solidFill>
              <a:srgbClr val="D9E2EA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A2FA3BC-A5B8-4FE1-BB67-F18477B8769C}"/>
              </a:ext>
            </a:extLst>
          </p:cNvPr>
          <p:cNvSpPr>
            <a:spLocks noGrp="1"/>
          </p:cNvSpPr>
          <p:nvPr/>
        </p:nvSpPr>
        <p:spPr>
          <a:xfrm>
            <a:off x="762000" y="4362450"/>
            <a:ext cx="438150" cy="5143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4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5E4F0CD-4241-4EBA-AB3D-D865E010AF5B}"/>
              </a:ext>
            </a:extLst>
          </p:cNvPr>
          <p:cNvSpPr>
            <a:spLocks noGrp="1"/>
          </p:cNvSpPr>
          <p:nvPr/>
        </p:nvSpPr>
        <p:spPr>
          <a:xfrm>
            <a:off x="1352550" y="4362450"/>
            <a:ext cx="1847850" cy="5143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Hetzner CPX32</a:t>
            </a:r>
          </a:p>
        </p:txBody>
      </p:sp>
      <p:cxnSp>
        <p:nvCxnSpPr>
          <p:cNvPr id="129" name="Straight Arrow Connector 128"/>
          <p:cNvCxnSpPr/>
          <p:nvPr/>
        </p:nvCxnSpPr>
        <p:spPr>
          <a:xfrm>
            <a:off x="1276350" y="4286250"/>
            <a:ext cx="286" cy="66675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5D444660-A1B5-44FC-96E5-F802D899A117}"/>
              </a:ext>
            </a:extLst>
          </p:cNvPr>
          <p:cNvSpPr>
            <a:spLocks noGrp="1"/>
          </p:cNvSpPr>
          <p:nvPr/>
        </p:nvSpPr>
        <p:spPr>
          <a:xfrm>
            <a:off x="3352800" y="4362450"/>
            <a:ext cx="2324100" cy="5143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4 / 8 GB / 160 GB</a:t>
            </a:r>
          </a:p>
        </p:txBody>
      </p:sp>
      <p:cxnSp>
        <p:nvCxnSpPr>
          <p:cNvPr id="131" name="Straight Arrow Connector 130"/>
          <p:cNvCxnSpPr/>
          <p:nvPr/>
        </p:nvCxnSpPr>
        <p:spPr>
          <a:xfrm>
            <a:off x="3276600" y="4286250"/>
            <a:ext cx="286" cy="66675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7FAE9D5A-DD4F-4733-9A9E-5DF2E998C0B2}"/>
              </a:ext>
            </a:extLst>
          </p:cNvPr>
          <p:cNvSpPr>
            <a:spLocks noGrp="1"/>
          </p:cNvSpPr>
          <p:nvPr/>
        </p:nvSpPr>
        <p:spPr>
          <a:xfrm>
            <a:off x="5829300" y="4362450"/>
            <a:ext cx="1419225" cy="5143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≈ ฿1,933 + IPv4</a:t>
            </a:r>
          </a:p>
        </p:txBody>
      </p:sp>
      <p:cxnSp>
        <p:nvCxnSpPr>
          <p:cNvPr id="133" name="Straight Arrow Connector 132"/>
          <p:cNvCxnSpPr/>
          <p:nvPr/>
        </p:nvCxnSpPr>
        <p:spPr>
          <a:xfrm>
            <a:off x="5753100" y="4286250"/>
            <a:ext cx="286" cy="66675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4A70E35B-A276-4F12-A7E8-001CE1C0B45F}"/>
              </a:ext>
            </a:extLst>
          </p:cNvPr>
          <p:cNvSpPr>
            <a:spLocks noGrp="1"/>
          </p:cNvSpPr>
          <p:nvPr/>
        </p:nvSpPr>
        <p:spPr>
          <a:xfrm>
            <a:off x="7400925" y="4362450"/>
            <a:ext cx="1562100" cy="5143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+20% → ฿2,316</a:t>
            </a:r>
          </a:p>
        </p:txBody>
      </p:sp>
      <p:cxnSp>
        <p:nvCxnSpPr>
          <p:cNvPr id="135" name="Straight Arrow Connector 134"/>
          <p:cNvCxnSpPr/>
          <p:nvPr/>
        </p:nvCxnSpPr>
        <p:spPr>
          <a:xfrm>
            <a:off x="7324725" y="4286250"/>
            <a:ext cx="286" cy="66675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F6588B9B-3CAB-483B-ACE8-8CDB11E0DBA7}"/>
              </a:ext>
            </a:extLst>
          </p:cNvPr>
          <p:cNvSpPr>
            <a:spLocks noGrp="1"/>
          </p:cNvSpPr>
          <p:nvPr/>
        </p:nvSpPr>
        <p:spPr>
          <a:xfrm>
            <a:off x="9115425" y="4362450"/>
            <a:ext cx="2314575" cy="5143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Controls ดี • SG traffic ต่ำ</a:t>
            </a:r>
          </a:p>
        </p:txBody>
      </p:sp>
      <p:cxnSp>
        <p:nvCxnSpPr>
          <p:cNvPr id="137" name="Straight Arrow Connector 136"/>
          <p:cNvCxnSpPr/>
          <p:nvPr/>
        </p:nvCxnSpPr>
        <p:spPr>
          <a:xfrm>
            <a:off x="9039225" y="4286250"/>
            <a:ext cx="286" cy="66675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CE4B6478-71B3-4414-966E-82B5F8A12CB1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DA41A19-414D-4EBD-BF7C-1AD068698A84}"/>
              </a:ext>
            </a:extLst>
          </p:cNvPr>
          <p:cNvSpPr>
            <a:spLocks noGrp="1"/>
          </p:cNvSpPr>
          <p:nvPr/>
        </p:nvSpPr>
        <p:spPr>
          <a:xfrm>
            <a:off x="762000" y="5029200"/>
            <a:ext cx="438150" cy="5143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5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AD7A16A-BD42-44CC-ABD8-C9EF4E91CC69}"/>
              </a:ext>
            </a:extLst>
          </p:cNvPr>
          <p:cNvSpPr>
            <a:spLocks noGrp="1"/>
          </p:cNvSpPr>
          <p:nvPr/>
        </p:nvSpPr>
        <p:spPr>
          <a:xfrm>
            <a:off x="1352550" y="5029200"/>
            <a:ext cx="1847850" cy="5143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AWS Lightsail CO</a:t>
            </a:r>
          </a:p>
        </p:txBody>
      </p:sp>
      <p:cxnSp>
        <p:nvCxnSpPr>
          <p:cNvPr id="141" name="Straight Arrow Connector 140"/>
          <p:cNvCxnSpPr/>
          <p:nvPr/>
        </p:nvCxnSpPr>
        <p:spPr>
          <a:xfrm>
            <a:off x="1276350" y="4953000"/>
            <a:ext cx="286" cy="66675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8EE286B0-497E-48D0-A227-E8B1E8280936}"/>
              </a:ext>
            </a:extLst>
          </p:cNvPr>
          <p:cNvSpPr>
            <a:spLocks noGrp="1"/>
          </p:cNvSpPr>
          <p:nvPr/>
        </p:nvSpPr>
        <p:spPr>
          <a:xfrm>
            <a:off x="3352800" y="5029200"/>
            <a:ext cx="2324100" cy="5143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4 / 8 GB / 320 GB</a:t>
            </a:r>
          </a:p>
        </p:txBody>
      </p:sp>
      <p:cxnSp>
        <p:nvCxnSpPr>
          <p:cNvPr id="143" name="Straight Arrow Connector 142"/>
          <p:cNvCxnSpPr/>
          <p:nvPr/>
        </p:nvCxnSpPr>
        <p:spPr>
          <a:xfrm>
            <a:off x="3276600" y="4953000"/>
            <a:ext cx="286" cy="66675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949DA983-7311-42DC-A125-0ACE1948A739}"/>
              </a:ext>
            </a:extLst>
          </p:cNvPr>
          <p:cNvSpPr>
            <a:spLocks noGrp="1"/>
          </p:cNvSpPr>
          <p:nvPr/>
        </p:nvSpPr>
        <p:spPr>
          <a:xfrm>
            <a:off x="5829300" y="5029200"/>
            <a:ext cx="1419225" cy="5143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$84 ≈ ฿2,772</a:t>
            </a:r>
          </a:p>
        </p:txBody>
      </p:sp>
      <p:cxnSp>
        <p:nvCxnSpPr>
          <p:cNvPr id="145" name="Straight Arrow Connector 144"/>
          <p:cNvCxnSpPr/>
          <p:nvPr/>
        </p:nvCxnSpPr>
        <p:spPr>
          <a:xfrm>
            <a:off x="5753100" y="4953000"/>
            <a:ext cx="286" cy="66675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112B45A8-CD43-4F73-B7B7-DB7501F13952}"/>
              </a:ext>
            </a:extLst>
          </p:cNvPr>
          <p:cNvSpPr>
            <a:spLocks noGrp="1"/>
          </p:cNvSpPr>
          <p:nvPr/>
        </p:nvSpPr>
        <p:spPr>
          <a:xfrm>
            <a:off x="7400925" y="5029200"/>
            <a:ext cx="1562100" cy="5143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$0.05/GB‑mo</a:t>
            </a:r>
          </a:p>
        </p:txBody>
      </p:sp>
      <p:cxnSp>
        <p:nvCxnSpPr>
          <p:cNvPr id="147" name="Straight Arrow Connector 146"/>
          <p:cNvCxnSpPr/>
          <p:nvPr/>
        </p:nvCxnSpPr>
        <p:spPr>
          <a:xfrm>
            <a:off x="7324725" y="4953000"/>
            <a:ext cx="286" cy="66675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559DBC29-05E2-4BAD-AC5E-9647933F78DE}"/>
              </a:ext>
            </a:extLst>
          </p:cNvPr>
          <p:cNvSpPr>
            <a:spLocks noGrp="1"/>
          </p:cNvSpPr>
          <p:nvPr/>
        </p:nvSpPr>
        <p:spPr>
          <a:xfrm>
            <a:off x="9115425" y="5029200"/>
            <a:ext cx="2314575" cy="5143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Ecosystem ดี • ต้นทุนสูง</a:t>
            </a:r>
          </a:p>
        </p:txBody>
      </p:sp>
      <p:cxnSp>
        <p:nvCxnSpPr>
          <p:cNvPr id="149" name="Straight Arrow Connector 148"/>
          <p:cNvCxnSpPr/>
          <p:nvPr/>
        </p:nvCxnSpPr>
        <p:spPr>
          <a:xfrm>
            <a:off x="9039225" y="4953000"/>
            <a:ext cx="286" cy="66675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5DADD51F-31FE-4D66-97AB-A43936292ABD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8204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 dirty="0" err="1">
                <a:latin typeface="Kanit" pitchFamily="2" charset="-34"/>
                <a:cs typeface="Kanit" pitchFamily="2" charset="-34"/>
              </a:rPr>
              <a:t>อัตรา</a:t>
            </a:r>
            <a:r>
              <a:rPr dirty="0">
                <a:latin typeface="Kanit" pitchFamily="2" charset="-34"/>
                <a:cs typeface="Kanit" pitchFamily="2" charset="-34"/>
              </a:rPr>
              <a:t> 33 </a:t>
            </a:r>
            <a:r>
              <a:rPr dirty="0" err="1">
                <a:latin typeface="Kanit" pitchFamily="2" charset="-34"/>
                <a:cs typeface="Kanit" pitchFamily="2" charset="-34"/>
              </a:rPr>
              <a:t>บาท</a:t>
            </a:r>
            <a:r>
              <a:rPr dirty="0">
                <a:latin typeface="Kanit" pitchFamily="2" charset="-34"/>
                <a:cs typeface="Kanit" pitchFamily="2" charset="-34"/>
              </a:rPr>
              <a:t>/USD • </a:t>
            </a:r>
            <a:r>
              <a:rPr dirty="0" err="1">
                <a:latin typeface="Kanit" pitchFamily="2" charset="-34"/>
                <a:cs typeface="Kanit" pitchFamily="2" charset="-34"/>
              </a:rPr>
              <a:t>ไม่รวม</a:t>
            </a:r>
            <a:r>
              <a:rPr dirty="0">
                <a:latin typeface="Kanit" pitchFamily="2" charset="-34"/>
                <a:cs typeface="Kanit" pitchFamily="2" charset="-34"/>
              </a:rPr>
              <a:t> VAT/</a:t>
            </a:r>
            <a:r>
              <a:rPr dirty="0" err="1">
                <a:latin typeface="Kanit" pitchFamily="2" charset="-34"/>
                <a:cs typeface="Kanit" pitchFamily="2" charset="-34"/>
              </a:rPr>
              <a:t>ภาษี</a:t>
            </a:r>
            <a:r>
              <a:rPr dirty="0">
                <a:latin typeface="Kanit" pitchFamily="2" charset="-34"/>
                <a:cs typeface="Kanit" pitchFamily="2" charset="-34"/>
              </a:rPr>
              <a:t>/</a:t>
            </a:r>
            <a:r>
              <a:rPr dirty="0" err="1">
                <a:latin typeface="Kanit" pitchFamily="2" charset="-34"/>
                <a:cs typeface="Kanit" pitchFamily="2" charset="-34"/>
              </a:rPr>
              <a:t>โดเมน</a:t>
            </a:r>
            <a:r>
              <a:rPr dirty="0">
                <a:latin typeface="Kanit" pitchFamily="2" charset="-34"/>
                <a:cs typeface="Kanit" pitchFamily="2" charset="-34"/>
              </a:rPr>
              <a:t>/egress </a:t>
            </a:r>
            <a:r>
              <a:rPr dirty="0" err="1">
                <a:latin typeface="Kanit" pitchFamily="2" charset="-34"/>
                <a:cs typeface="Kanit" pitchFamily="2" charset="-34"/>
              </a:rPr>
              <a:t>เกินโควตา</a:t>
            </a:r>
            <a:r>
              <a:rPr dirty="0">
                <a:latin typeface="Kanit" pitchFamily="2" charset="-34"/>
                <a:cs typeface="Kanit" pitchFamily="2" charset="-34"/>
              </a:rPr>
              <a:t> • </a:t>
            </a:r>
            <a:r>
              <a:rPr dirty="0" err="1">
                <a:latin typeface="Kanit" pitchFamily="2" charset="-34"/>
                <a:cs typeface="Kanit" pitchFamily="2" charset="-34"/>
              </a:rPr>
              <a:t>ราคา</a:t>
            </a:r>
            <a:r>
              <a:rPr dirty="0">
                <a:latin typeface="Kanit" pitchFamily="2" charset="-34"/>
                <a:cs typeface="Kanit" pitchFamily="2" charset="-34"/>
              </a:rPr>
              <a:t> ณ 26 </a:t>
            </a:r>
            <a:r>
              <a:rPr dirty="0" err="1">
                <a:latin typeface="Kanit" pitchFamily="2" charset="-34"/>
                <a:cs typeface="Kanit" pitchFamily="2" charset="-34"/>
              </a:rPr>
              <a:t>ส.ค</a:t>
            </a:r>
            <a:r>
              <a:rPr dirty="0">
                <a:latin typeface="Kanit" pitchFamily="2" charset="-34"/>
                <a:cs typeface="Kanit" pitchFamily="2" charset="-34"/>
              </a:rPr>
              <a:t>. 2026</a:t>
            </a:r>
          </a:p>
        </p:txBody>
      </p:sp>
    </p:spTree>
    <p:extLst>
      <p:ext uri="{BB962C8B-B14F-4D97-AF65-F5344CB8AC3E}">
        <p14:creationId xmlns:p14="http://schemas.microsoft.com/office/powerpoint/2010/main" val="955977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4D72A76-E91B-47D5-84ED-E1F7E068CF23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4762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E74B5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WORLDFERT / CLOUD MIGRATION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ECB1A9-2037-4080-BE3E-2D27904C76FE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76200" cy="514350"/>
          </a:xfrm>
          <a:prstGeom prst="rect">
            <a:avLst/>
          </a:prstGeom>
          <a:solidFill>
            <a:srgbClr val="2E74B5"/>
          </a:solidFill>
          <a:ln w="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3B48D0-E16D-492A-B8FF-61149A3B6C1A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10572750" cy="571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งบรายเดือน: ส่วนต่างที่เห็นได้ทันที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457200" y="6381750"/>
            <a:ext cx="11277600" cy="286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B76B8D81-A6F1-49F9-886F-9C3FDAED6420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33337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C‑LEVEL DECISION BRIEF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778B45-E00F-41F7-9814-E5B597286155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905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06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BE8585-0AEB-453B-8CD8-2866A7F228BC}"/>
              </a:ext>
            </a:extLst>
          </p:cNvPr>
          <p:cNvSpPr>
            <a:spLocks noGrp="1"/>
          </p:cNvSpPr>
          <p:nvPr/>
        </p:nvSpPr>
        <p:spPr>
          <a:xfrm>
            <a:off x="742950" y="1476375"/>
            <a:ext cx="34290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บาท / เดือน (ค่าเครื่องฐาน)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BA2C0D-C789-4F4D-AD0A-89ACC585F550}"/>
              </a:ext>
            </a:extLst>
          </p:cNvPr>
          <p:cNvSpPr>
            <a:spLocks noGrp="1"/>
          </p:cNvSpPr>
          <p:nvPr/>
        </p:nvSpPr>
        <p:spPr>
          <a:xfrm>
            <a:off x="8020050" y="1809750"/>
            <a:ext cx="3429000" cy="1162050"/>
          </a:xfrm>
          <a:prstGeom prst="rect">
            <a:avLst/>
          </a:prstGeom>
          <a:solidFill>
            <a:srgbClr val="DDEFE5"/>
          </a:solidFill>
          <a:ln w="0">
            <a:solidFill>
              <a:srgbClr val="DDEFE5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F95866-809D-4A87-A821-014947245B4B}"/>
              </a:ext>
            </a:extLst>
          </p:cNvPr>
          <p:cNvSpPr>
            <a:spLocks noGrp="1"/>
          </p:cNvSpPr>
          <p:nvPr/>
        </p:nvSpPr>
        <p:spPr>
          <a:xfrm>
            <a:off x="8267700" y="2038350"/>
            <a:ext cx="2857500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Hostinger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06D660-E981-4E78-B1DF-0BED3A3A2A1B}"/>
              </a:ext>
            </a:extLst>
          </p:cNvPr>
          <p:cNvSpPr>
            <a:spLocks noGrp="1"/>
          </p:cNvSpPr>
          <p:nvPr/>
        </p:nvSpPr>
        <p:spPr>
          <a:xfrm>
            <a:off x="8267700" y="2381250"/>
            <a:ext cx="28575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325" b="1">
                <a:solidFill>
                  <a:srgbClr val="173F67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ประหยัด ≈ 65%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65ACF6-5C22-43B8-9F3A-6CFB9259F52E}"/>
              </a:ext>
            </a:extLst>
          </p:cNvPr>
          <p:cNvSpPr>
            <a:spLocks noGrp="1"/>
          </p:cNvSpPr>
          <p:nvPr/>
        </p:nvSpPr>
        <p:spPr>
          <a:xfrm>
            <a:off x="8020050" y="3219450"/>
            <a:ext cx="3429000" cy="1162050"/>
          </a:xfrm>
          <a:prstGeom prst="rect">
            <a:avLst/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FF9A6A-98CB-40CB-8DB1-26F062C0800C}"/>
              </a:ext>
            </a:extLst>
          </p:cNvPr>
          <p:cNvSpPr>
            <a:spLocks noGrp="1"/>
          </p:cNvSpPr>
          <p:nvPr/>
        </p:nvSpPr>
        <p:spPr>
          <a:xfrm>
            <a:off x="8267700" y="3448050"/>
            <a:ext cx="2857500" cy="2476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Budget baseline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CB2A7F-1585-40B2-9809-BB49FC9A57FA}"/>
              </a:ext>
            </a:extLst>
          </p:cNvPr>
          <p:cNvSpPr>
            <a:spLocks noGrp="1"/>
          </p:cNvSpPr>
          <p:nvPr/>
        </p:nvSpPr>
        <p:spPr>
          <a:xfrm>
            <a:off x="8267700" y="3790950"/>
            <a:ext cx="28575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325" b="1">
                <a:solidFill>
                  <a:srgbClr val="173F67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ใช้ Renewal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82CC0C-A39C-4B2B-82CB-7CF823C1ECC9}"/>
              </a:ext>
            </a:extLst>
          </p:cNvPr>
          <p:cNvSpPr>
            <a:spLocks noGrp="1"/>
          </p:cNvSpPr>
          <p:nvPr/>
        </p:nvSpPr>
        <p:spPr>
          <a:xfrm>
            <a:off x="8020050" y="4629150"/>
            <a:ext cx="3429000" cy="1162050"/>
          </a:xfrm>
          <a:prstGeom prst="rect">
            <a:avLst/>
          </a:prstGeom>
          <a:solidFill>
            <a:srgbClr val="FFF0C2"/>
          </a:solidFill>
          <a:ln w="0">
            <a:solidFill>
              <a:srgbClr val="FFF0C2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478078-0AEA-416B-A495-1E8D8E967D78}"/>
              </a:ext>
            </a:extLst>
          </p:cNvPr>
          <p:cNvSpPr>
            <a:spLocks noGrp="1"/>
          </p:cNvSpPr>
          <p:nvPr/>
        </p:nvSpPr>
        <p:spPr>
          <a:xfrm>
            <a:off x="8267700" y="4857750"/>
            <a:ext cx="2857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หมายเหตุ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BC84B3-6FBB-4CB3-BFCD-B5D0925CC540}"/>
              </a:ext>
            </a:extLst>
          </p:cNvPr>
          <p:cNvSpPr>
            <a:spLocks noGrp="1"/>
          </p:cNvSpPr>
          <p:nvPr/>
        </p:nvSpPr>
        <p:spPr>
          <a:xfrm>
            <a:off x="8267700" y="5200650"/>
            <a:ext cx="28575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73F67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Snapshot ≠ DB backup</a:t>
            </a:r>
          </a:p>
        </p:txBody>
      </p:sp>
      <p:graphicFrame>
        <p:nvGraphicFramePr>
          <p:cNvPr id="34" name="Chart"/>
          <p:cNvGraphicFramePr/>
          <p:nvPr>
            <p:extLst>
              <p:ext uri="{D42A27DB-BD31-4B8C-83A1-F6EECF244321}">
                <p14:modId xmlns:p14="http://schemas.microsoft.com/office/powerpoint/2010/main" val="997894232"/>
              </p:ext>
            </p:extLst>
          </p:nvPr>
        </p:nvGraphicFramePr>
        <p:xfrm>
          <a:off x="742950" y="1809750"/>
          <a:ext cx="6667500" cy="409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018428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626D0ECF-D6C2-4BDE-AEEE-447E7A5A9318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4762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E74B5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WORLDFERT / CLOUD MIGRATION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08AD1A-084C-4EAC-AE49-4FAFEC196501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76200" cy="514350"/>
          </a:xfrm>
          <a:prstGeom prst="rect">
            <a:avLst/>
          </a:prstGeom>
          <a:solidFill>
            <a:srgbClr val="2E74B5"/>
          </a:solidFill>
          <a:ln w="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1EF53C-AD69-40D5-A951-2491234A247E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10572750" cy="571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Cloud ไทย 5 ราย</a:t>
            </a:r>
          </a:p>
        </p:txBody>
      </p:sp>
      <p:cxnSp>
        <p:nvCxnSpPr>
          <p:cNvPr id="69" name="Straight Arrow Connector 68"/>
          <p:cNvCxnSpPr/>
          <p:nvPr/>
        </p:nvCxnSpPr>
        <p:spPr>
          <a:xfrm>
            <a:off x="457200" y="6381750"/>
            <a:ext cx="11277600" cy="286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A39924C5-4C8B-4259-A9C6-705ABCD039CC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33337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C‑LEVEL DECISION BRIEF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32F3F0-C83E-4732-80C1-F18BD0AE5B6E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905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07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99A92A-D6DE-4E8E-9D03-9F678D24AD42}"/>
              </a:ext>
            </a:extLst>
          </p:cNvPr>
          <p:cNvSpPr>
            <a:spLocks noGrp="1"/>
          </p:cNvSpPr>
          <p:nvPr/>
        </p:nvSpPr>
        <p:spPr>
          <a:xfrm>
            <a:off x="685800" y="1447800"/>
            <a:ext cx="108204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2 รายมีราคาสาธารณะ • 3 รายต้อง RFQ/TOR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15799A-054E-457D-BF43-4B4CE9810EB9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10820400" cy="400050"/>
          </a:xfrm>
          <a:prstGeom prst="rect">
            <a:avLst/>
          </a:prstGeom>
          <a:solidFill>
            <a:srgbClr val="173F67"/>
          </a:solidFill>
          <a:ln w="0">
            <a:solidFill>
              <a:srgbClr val="173F67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C4EDE-920C-49D7-807A-D7924DE745BE}"/>
              </a:ext>
            </a:extLst>
          </p:cNvPr>
          <p:cNvSpPr>
            <a:spLocks noGrp="1"/>
          </p:cNvSpPr>
          <p:nvPr/>
        </p:nvSpPr>
        <p:spPr>
          <a:xfrm>
            <a:off x="762000" y="1962150"/>
            <a:ext cx="18478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Provider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BD4144-3F0D-4680-8562-A8794C4E355C}"/>
              </a:ext>
            </a:extLst>
          </p:cNvPr>
          <p:cNvSpPr>
            <a:spLocks noGrp="1"/>
          </p:cNvSpPr>
          <p:nvPr/>
        </p:nvSpPr>
        <p:spPr>
          <a:xfrm>
            <a:off x="2762250" y="1962150"/>
            <a:ext cx="24193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ตัวอย่างสเปก/บริการ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2A39C4-CD6C-4B65-9BB0-7CF63033EDA8}"/>
              </a:ext>
            </a:extLst>
          </p:cNvPr>
          <p:cNvSpPr>
            <a:spLocks noGrp="1"/>
          </p:cNvSpPr>
          <p:nvPr/>
        </p:nvSpPr>
        <p:spPr>
          <a:xfrm>
            <a:off x="5334000" y="1962150"/>
            <a:ext cx="20955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งบ/เดือน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B64C83-0D02-4844-9C71-ED9F2535FC1D}"/>
              </a:ext>
            </a:extLst>
          </p:cNvPr>
          <p:cNvSpPr>
            <a:spLocks noGrp="1"/>
          </p:cNvSpPr>
          <p:nvPr/>
        </p:nvSpPr>
        <p:spPr>
          <a:xfrm>
            <a:off x="7581900" y="1962150"/>
            <a:ext cx="18478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สถานะราคา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78C6CF-61F4-4A7F-AAD0-99B92C6C257B}"/>
              </a:ext>
            </a:extLst>
          </p:cNvPr>
          <p:cNvSpPr>
            <a:spLocks noGrp="1"/>
          </p:cNvSpPr>
          <p:nvPr/>
        </p:nvSpPr>
        <p:spPr>
          <a:xfrm>
            <a:off x="9582150" y="1962150"/>
            <a:ext cx="18478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เหมาะกับ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5FF473-4269-4E43-893D-C0845CB80937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108204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4B7330-226C-423A-8170-701D56C9BD0B}"/>
              </a:ext>
            </a:extLst>
          </p:cNvPr>
          <p:cNvSpPr>
            <a:spLocks noGrp="1"/>
          </p:cNvSpPr>
          <p:nvPr/>
        </p:nvSpPr>
        <p:spPr>
          <a:xfrm>
            <a:off x="762000" y="2362200"/>
            <a:ext cx="1847850" cy="4953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ReadyIDC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EFAB87-D974-4E7A-9954-CB485242C764}"/>
              </a:ext>
            </a:extLst>
          </p:cNvPr>
          <p:cNvSpPr>
            <a:spLocks noGrp="1"/>
          </p:cNvSpPr>
          <p:nvPr/>
        </p:nvSpPr>
        <p:spPr>
          <a:xfrm>
            <a:off x="2762250" y="2362200"/>
            <a:ext cx="2419350" cy="4953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4 vCPU / 12 GB / 240 GB</a:t>
            </a:r>
          </a:p>
        </p:txBody>
      </p:sp>
      <p:cxnSp>
        <p:nvCxnSpPr>
          <p:cNvPr id="82" name="Straight Arrow Connector 81"/>
          <p:cNvCxnSpPr/>
          <p:nvPr/>
        </p:nvCxnSpPr>
        <p:spPr>
          <a:xfrm>
            <a:off x="2686050" y="2286000"/>
            <a:ext cx="286" cy="64770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9F18F535-E802-4A06-8F56-95D2AD8709F2}"/>
              </a:ext>
            </a:extLst>
          </p:cNvPr>
          <p:cNvSpPr>
            <a:spLocks noGrp="1"/>
          </p:cNvSpPr>
          <p:nvPr/>
        </p:nvSpPr>
        <p:spPr>
          <a:xfrm>
            <a:off x="5334000" y="2362200"/>
            <a:ext cx="2095500" cy="4953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฿1,070 incl VAT</a:t>
            </a:r>
          </a:p>
        </p:txBody>
      </p:sp>
      <p:cxnSp>
        <p:nvCxnSpPr>
          <p:cNvPr id="84" name="Straight Arrow Connector 83"/>
          <p:cNvCxnSpPr/>
          <p:nvPr/>
        </p:nvCxnSpPr>
        <p:spPr>
          <a:xfrm>
            <a:off x="5257800" y="2286000"/>
            <a:ext cx="286" cy="64770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564562C-F206-45AE-9E9C-57AE455BFE38}"/>
              </a:ext>
            </a:extLst>
          </p:cNvPr>
          <p:cNvSpPr>
            <a:spLocks noGrp="1"/>
          </p:cNvSpPr>
          <p:nvPr/>
        </p:nvSpPr>
        <p:spPr>
          <a:xfrm>
            <a:off x="7581900" y="2362200"/>
            <a:ext cx="1847850" cy="4953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Public</a:t>
            </a:r>
          </a:p>
        </p:txBody>
      </p:sp>
      <p:cxnSp>
        <p:nvCxnSpPr>
          <p:cNvPr id="86" name="Straight Arrow Connector 85"/>
          <p:cNvCxnSpPr/>
          <p:nvPr/>
        </p:nvCxnSpPr>
        <p:spPr>
          <a:xfrm>
            <a:off x="7505700" y="2286000"/>
            <a:ext cx="286" cy="64770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673880D-A1BC-4435-8442-7C74CB23F230}"/>
              </a:ext>
            </a:extLst>
          </p:cNvPr>
          <p:cNvSpPr>
            <a:spLocks noGrp="1"/>
          </p:cNvSpPr>
          <p:nvPr/>
        </p:nvSpPr>
        <p:spPr>
          <a:xfrm>
            <a:off x="9582150" y="2362200"/>
            <a:ext cx="1847850" cy="4953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คุ้มค่า / POC ก่อน</a:t>
            </a:r>
          </a:p>
        </p:txBody>
      </p:sp>
      <p:cxnSp>
        <p:nvCxnSpPr>
          <p:cNvPr id="88" name="Straight Arrow Connector 87"/>
          <p:cNvCxnSpPr/>
          <p:nvPr/>
        </p:nvCxnSpPr>
        <p:spPr>
          <a:xfrm>
            <a:off x="9505950" y="2286000"/>
            <a:ext cx="286" cy="64770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806F637F-71A8-40C6-BAE0-98B53002660F}"/>
              </a:ext>
            </a:extLst>
          </p:cNvPr>
          <p:cNvSpPr>
            <a:spLocks noGrp="1"/>
          </p:cNvSpPr>
          <p:nvPr/>
        </p:nvSpPr>
        <p:spPr>
          <a:xfrm>
            <a:off x="685800" y="2933700"/>
            <a:ext cx="10820400" cy="647700"/>
          </a:xfrm>
          <a:prstGeom prst="rect">
            <a:avLst/>
          </a:prstGeom>
          <a:solidFill>
            <a:srgbClr val="F6F8FA"/>
          </a:solidFill>
          <a:ln w="9525">
            <a:solidFill>
              <a:srgbClr val="D9E2EA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53E998-E6AD-4D2D-988C-05E746943621}"/>
              </a:ext>
            </a:extLst>
          </p:cNvPr>
          <p:cNvSpPr>
            <a:spLocks noGrp="1"/>
          </p:cNvSpPr>
          <p:nvPr/>
        </p:nvSpPr>
        <p:spPr>
          <a:xfrm>
            <a:off x="762000" y="3009900"/>
            <a:ext cx="1847850" cy="4953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NIPA Cloud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7CCD4F-1E69-4479-848D-22052BBFDCC5}"/>
              </a:ext>
            </a:extLst>
          </p:cNvPr>
          <p:cNvSpPr>
            <a:spLocks noGrp="1"/>
          </p:cNvSpPr>
          <p:nvPr/>
        </p:nvSpPr>
        <p:spPr>
          <a:xfrm>
            <a:off x="2762250" y="3009900"/>
            <a:ext cx="2419350" cy="4953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4 vCPU / 16 GB / 200 GB</a:t>
            </a:r>
          </a:p>
        </p:txBody>
      </p:sp>
      <p:cxnSp>
        <p:nvCxnSpPr>
          <p:cNvPr id="92" name="Straight Arrow Connector 91"/>
          <p:cNvCxnSpPr/>
          <p:nvPr/>
        </p:nvCxnSpPr>
        <p:spPr>
          <a:xfrm>
            <a:off x="2686050" y="2933700"/>
            <a:ext cx="286" cy="64770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56115733-E620-4269-9568-BE2F0853B52A}"/>
              </a:ext>
            </a:extLst>
          </p:cNvPr>
          <p:cNvSpPr>
            <a:spLocks noGrp="1"/>
          </p:cNvSpPr>
          <p:nvPr/>
        </p:nvSpPr>
        <p:spPr>
          <a:xfrm>
            <a:off x="5334000" y="3009900"/>
            <a:ext cx="2095500" cy="4953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≈ ฿5,072 incl VAT</a:t>
            </a:r>
          </a:p>
        </p:txBody>
      </p:sp>
      <p:cxnSp>
        <p:nvCxnSpPr>
          <p:cNvPr id="94" name="Straight Arrow Connector 93"/>
          <p:cNvCxnSpPr/>
          <p:nvPr/>
        </p:nvCxnSpPr>
        <p:spPr>
          <a:xfrm>
            <a:off x="5257800" y="2933700"/>
            <a:ext cx="286" cy="64770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18E0C3FB-32FA-4DF7-9F23-E1A6F325F3CA}"/>
              </a:ext>
            </a:extLst>
          </p:cNvPr>
          <p:cNvSpPr>
            <a:spLocks noGrp="1"/>
          </p:cNvSpPr>
          <p:nvPr/>
        </p:nvSpPr>
        <p:spPr>
          <a:xfrm>
            <a:off x="7581900" y="3009900"/>
            <a:ext cx="1847850" cy="4953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Public • IIG extra</a:t>
            </a:r>
          </a:p>
        </p:txBody>
      </p:sp>
      <p:cxnSp>
        <p:nvCxnSpPr>
          <p:cNvPr id="96" name="Straight Arrow Connector 95"/>
          <p:cNvCxnSpPr/>
          <p:nvPr/>
        </p:nvCxnSpPr>
        <p:spPr>
          <a:xfrm>
            <a:off x="7505700" y="2933700"/>
            <a:ext cx="286" cy="64770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EAFED7D8-3765-412D-8D4C-BCD5EEF99430}"/>
              </a:ext>
            </a:extLst>
          </p:cNvPr>
          <p:cNvSpPr>
            <a:spLocks noGrp="1"/>
          </p:cNvSpPr>
          <p:nvPr/>
        </p:nvSpPr>
        <p:spPr>
          <a:xfrm>
            <a:off x="9582150" y="3009900"/>
            <a:ext cx="1847850" cy="4953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Thai cloud / governance</a:t>
            </a:r>
          </a:p>
        </p:txBody>
      </p:sp>
      <p:cxnSp>
        <p:nvCxnSpPr>
          <p:cNvPr id="98" name="Straight Arrow Connector 97"/>
          <p:cNvCxnSpPr/>
          <p:nvPr/>
        </p:nvCxnSpPr>
        <p:spPr>
          <a:xfrm>
            <a:off x="9505950" y="2933700"/>
            <a:ext cx="286" cy="64770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E7354E47-CCC1-40BE-B057-0FA105BBEE4B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108204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5713323-85EF-49C1-A363-B1A58299BF3A}"/>
              </a:ext>
            </a:extLst>
          </p:cNvPr>
          <p:cNvSpPr>
            <a:spLocks noGrp="1"/>
          </p:cNvSpPr>
          <p:nvPr/>
        </p:nvSpPr>
        <p:spPr>
          <a:xfrm>
            <a:off x="762000" y="3657600"/>
            <a:ext cx="1847850" cy="4953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INET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EDBDEFD-5106-4EBC-AEFD-32C45C3C8CC1}"/>
              </a:ext>
            </a:extLst>
          </p:cNvPr>
          <p:cNvSpPr>
            <a:spLocks noGrp="1"/>
          </p:cNvSpPr>
          <p:nvPr/>
        </p:nvSpPr>
        <p:spPr>
          <a:xfrm>
            <a:off x="2762250" y="3657600"/>
            <a:ext cx="2419350" cy="4953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VM + Backup + DRaaS</a:t>
            </a:r>
          </a:p>
        </p:txBody>
      </p:sp>
      <p:cxnSp>
        <p:nvCxnSpPr>
          <p:cNvPr id="102" name="Straight Arrow Connector 101"/>
          <p:cNvCxnSpPr/>
          <p:nvPr/>
        </p:nvCxnSpPr>
        <p:spPr>
          <a:xfrm>
            <a:off x="2686050" y="3581400"/>
            <a:ext cx="286" cy="64770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96BC0274-02CD-47A0-BF9C-54B73EFDD534}"/>
              </a:ext>
            </a:extLst>
          </p:cNvPr>
          <p:cNvSpPr>
            <a:spLocks noGrp="1"/>
          </p:cNvSpPr>
          <p:nvPr/>
        </p:nvSpPr>
        <p:spPr>
          <a:xfrm>
            <a:off x="5334000" y="3657600"/>
            <a:ext cx="2095500" cy="4953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RFQ • plan 5–15k</a:t>
            </a:r>
          </a:p>
        </p:txBody>
      </p:sp>
      <p:cxnSp>
        <p:nvCxnSpPr>
          <p:cNvPr id="104" name="Straight Arrow Connector 103"/>
          <p:cNvCxnSpPr/>
          <p:nvPr/>
        </p:nvCxnSpPr>
        <p:spPr>
          <a:xfrm>
            <a:off x="5257800" y="3581400"/>
            <a:ext cx="286" cy="64770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BCAFFCC1-D76A-4223-93AE-772090F827D1}"/>
              </a:ext>
            </a:extLst>
          </p:cNvPr>
          <p:cNvSpPr>
            <a:spLocks noGrp="1"/>
          </p:cNvSpPr>
          <p:nvPr/>
        </p:nvSpPr>
        <p:spPr>
          <a:xfrm>
            <a:off x="7581900" y="3657600"/>
            <a:ext cx="1847850" cy="4953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Quote required</a:t>
            </a:r>
          </a:p>
        </p:txBody>
      </p:sp>
      <p:cxnSp>
        <p:nvCxnSpPr>
          <p:cNvPr id="106" name="Straight Arrow Connector 105"/>
          <p:cNvCxnSpPr/>
          <p:nvPr/>
        </p:nvCxnSpPr>
        <p:spPr>
          <a:xfrm>
            <a:off x="7505700" y="3581400"/>
            <a:ext cx="286" cy="64770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D682D253-BF0F-4EAB-846C-66C4CC0E0AE8}"/>
              </a:ext>
            </a:extLst>
          </p:cNvPr>
          <p:cNvSpPr>
            <a:spLocks noGrp="1"/>
          </p:cNvSpPr>
          <p:nvPr/>
        </p:nvSpPr>
        <p:spPr>
          <a:xfrm>
            <a:off x="9582150" y="3657600"/>
            <a:ext cx="1847850" cy="4953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Enterprise / SLA 99.95</a:t>
            </a:r>
          </a:p>
        </p:txBody>
      </p:sp>
      <p:cxnSp>
        <p:nvCxnSpPr>
          <p:cNvPr id="108" name="Straight Arrow Connector 107"/>
          <p:cNvCxnSpPr/>
          <p:nvPr/>
        </p:nvCxnSpPr>
        <p:spPr>
          <a:xfrm>
            <a:off x="9505950" y="3581400"/>
            <a:ext cx="286" cy="64770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E85991AC-5230-46D3-8023-4D8D50593D74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10820400" cy="647700"/>
          </a:xfrm>
          <a:prstGeom prst="rect">
            <a:avLst/>
          </a:prstGeom>
          <a:solidFill>
            <a:srgbClr val="F6F8FA"/>
          </a:solidFill>
          <a:ln w="9525">
            <a:solidFill>
              <a:srgbClr val="D9E2EA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897264B-D2BD-4A24-AAB1-3158109A2156}"/>
              </a:ext>
            </a:extLst>
          </p:cNvPr>
          <p:cNvSpPr>
            <a:spLocks noGrp="1"/>
          </p:cNvSpPr>
          <p:nvPr/>
        </p:nvSpPr>
        <p:spPr>
          <a:xfrm>
            <a:off x="762000" y="4305300"/>
            <a:ext cx="1847850" cy="4953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True IDC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9B7CCCD-EB02-4C5A-947A-269D2FDD63FB}"/>
              </a:ext>
            </a:extLst>
          </p:cNvPr>
          <p:cNvSpPr>
            <a:spLocks noGrp="1"/>
          </p:cNvSpPr>
          <p:nvPr/>
        </p:nvSpPr>
        <p:spPr>
          <a:xfrm>
            <a:off x="2762250" y="4305300"/>
            <a:ext cx="2419350" cy="4953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Cloud+ + Elastic IP</a:t>
            </a:r>
          </a:p>
        </p:txBody>
      </p:sp>
      <p:cxnSp>
        <p:nvCxnSpPr>
          <p:cNvPr id="112" name="Straight Arrow Connector 111"/>
          <p:cNvCxnSpPr/>
          <p:nvPr/>
        </p:nvCxnSpPr>
        <p:spPr>
          <a:xfrm>
            <a:off x="2686050" y="4229100"/>
            <a:ext cx="286" cy="64770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392F9982-72D2-4487-AD74-326A0A31039E}"/>
              </a:ext>
            </a:extLst>
          </p:cNvPr>
          <p:cNvSpPr>
            <a:spLocks noGrp="1"/>
          </p:cNvSpPr>
          <p:nvPr/>
        </p:nvSpPr>
        <p:spPr>
          <a:xfrm>
            <a:off x="5334000" y="4305300"/>
            <a:ext cx="2095500" cy="4953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RFQ • plan 5–15k</a:t>
            </a:r>
          </a:p>
        </p:txBody>
      </p:sp>
      <p:cxnSp>
        <p:nvCxnSpPr>
          <p:cNvPr id="114" name="Straight Arrow Connector 113"/>
          <p:cNvCxnSpPr/>
          <p:nvPr/>
        </p:nvCxnSpPr>
        <p:spPr>
          <a:xfrm>
            <a:off x="5257800" y="4229100"/>
            <a:ext cx="286" cy="64770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F0D22E9D-13DB-44F1-BA62-532CE6F35585}"/>
              </a:ext>
            </a:extLst>
          </p:cNvPr>
          <p:cNvSpPr>
            <a:spLocks noGrp="1"/>
          </p:cNvSpPr>
          <p:nvPr/>
        </p:nvSpPr>
        <p:spPr>
          <a:xfrm>
            <a:off x="7581900" y="4305300"/>
            <a:ext cx="1847850" cy="4953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Quote required</a:t>
            </a:r>
          </a:p>
        </p:txBody>
      </p:sp>
      <p:cxnSp>
        <p:nvCxnSpPr>
          <p:cNvPr id="116" name="Straight Arrow Connector 115"/>
          <p:cNvCxnSpPr/>
          <p:nvPr/>
        </p:nvCxnSpPr>
        <p:spPr>
          <a:xfrm>
            <a:off x="7505700" y="4229100"/>
            <a:ext cx="286" cy="64770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F04EE43D-4618-4C89-BCED-A66856B74ACB}"/>
              </a:ext>
            </a:extLst>
          </p:cNvPr>
          <p:cNvSpPr>
            <a:spLocks noGrp="1"/>
          </p:cNvSpPr>
          <p:nvPr/>
        </p:nvSpPr>
        <p:spPr>
          <a:xfrm>
            <a:off x="9582150" y="4305300"/>
            <a:ext cx="1847850" cy="4953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Data residency ไทย</a:t>
            </a:r>
          </a:p>
        </p:txBody>
      </p:sp>
      <p:cxnSp>
        <p:nvCxnSpPr>
          <p:cNvPr id="118" name="Straight Arrow Connector 117"/>
          <p:cNvCxnSpPr/>
          <p:nvPr/>
        </p:nvCxnSpPr>
        <p:spPr>
          <a:xfrm>
            <a:off x="9505950" y="4229100"/>
            <a:ext cx="286" cy="64770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229FD2AF-FC61-42DE-8600-D85FC305EF24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108204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DC6B20B-D757-4763-9825-53CBC6825E60}"/>
              </a:ext>
            </a:extLst>
          </p:cNvPr>
          <p:cNvSpPr>
            <a:spLocks noGrp="1"/>
          </p:cNvSpPr>
          <p:nvPr/>
        </p:nvSpPr>
        <p:spPr>
          <a:xfrm>
            <a:off x="762000" y="4953000"/>
            <a:ext cx="1847850" cy="4953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Cloud HM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4D397F2-2888-4AC2-8FC2-AEC29553AADD}"/>
              </a:ext>
            </a:extLst>
          </p:cNvPr>
          <p:cNvSpPr>
            <a:spLocks noGrp="1"/>
          </p:cNvSpPr>
          <p:nvPr/>
        </p:nvSpPr>
        <p:spPr>
          <a:xfrm>
            <a:off x="2762250" y="4953000"/>
            <a:ext cx="2419350" cy="4953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VMware IaaS + Firewall</a:t>
            </a:r>
          </a:p>
        </p:txBody>
      </p:sp>
      <p:cxnSp>
        <p:nvCxnSpPr>
          <p:cNvPr id="122" name="Straight Arrow Connector 121"/>
          <p:cNvCxnSpPr/>
          <p:nvPr/>
        </p:nvCxnSpPr>
        <p:spPr>
          <a:xfrm>
            <a:off x="2686050" y="4876800"/>
            <a:ext cx="286" cy="64770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06700C73-1565-4127-A0CB-8E9B6A4B330D}"/>
              </a:ext>
            </a:extLst>
          </p:cNvPr>
          <p:cNvSpPr>
            <a:spLocks noGrp="1"/>
          </p:cNvSpPr>
          <p:nvPr/>
        </p:nvSpPr>
        <p:spPr>
          <a:xfrm>
            <a:off x="5334000" y="4953000"/>
            <a:ext cx="2095500" cy="4953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RFQ • plan 7–20k</a:t>
            </a:r>
          </a:p>
        </p:txBody>
      </p:sp>
      <p:cxnSp>
        <p:nvCxnSpPr>
          <p:cNvPr id="124" name="Straight Arrow Connector 123"/>
          <p:cNvCxnSpPr/>
          <p:nvPr/>
        </p:nvCxnSpPr>
        <p:spPr>
          <a:xfrm>
            <a:off x="5257800" y="4876800"/>
            <a:ext cx="286" cy="64770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C46CA4BF-3951-449F-AF73-0CE07730EE6C}"/>
              </a:ext>
            </a:extLst>
          </p:cNvPr>
          <p:cNvSpPr>
            <a:spLocks noGrp="1"/>
          </p:cNvSpPr>
          <p:nvPr/>
        </p:nvSpPr>
        <p:spPr>
          <a:xfrm>
            <a:off x="7581900" y="4953000"/>
            <a:ext cx="1847850" cy="4953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Quote required</a:t>
            </a:r>
          </a:p>
        </p:txBody>
      </p:sp>
      <p:cxnSp>
        <p:nvCxnSpPr>
          <p:cNvPr id="126" name="Straight Arrow Connector 125"/>
          <p:cNvCxnSpPr/>
          <p:nvPr/>
        </p:nvCxnSpPr>
        <p:spPr>
          <a:xfrm>
            <a:off x="7505700" y="4876800"/>
            <a:ext cx="286" cy="64770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BD57ACA4-90B8-41DA-B17D-4C40DBE0EA3B}"/>
              </a:ext>
            </a:extLst>
          </p:cNvPr>
          <p:cNvSpPr>
            <a:spLocks noGrp="1"/>
          </p:cNvSpPr>
          <p:nvPr/>
        </p:nvSpPr>
        <p:spPr>
          <a:xfrm>
            <a:off x="9582150" y="4953000"/>
            <a:ext cx="1847850" cy="4953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Managed infrastructure</a:t>
            </a:r>
          </a:p>
        </p:txBody>
      </p:sp>
      <p:cxnSp>
        <p:nvCxnSpPr>
          <p:cNvPr id="128" name="Straight Arrow Connector 127"/>
          <p:cNvCxnSpPr/>
          <p:nvPr/>
        </p:nvCxnSpPr>
        <p:spPr>
          <a:xfrm>
            <a:off x="9505950" y="4876800"/>
            <a:ext cx="286" cy="647700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C2FAEC09-7C72-4530-AD6E-81B3609AC224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10820400" cy="495300"/>
          </a:xfrm>
          <a:prstGeom prst="rect">
            <a:avLst/>
          </a:prstGeom>
          <a:solidFill>
            <a:srgbClr val="FFF0C2"/>
          </a:solidFill>
          <a:ln w="0">
            <a:solidFill>
              <a:srgbClr val="FFF0C2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6F94A60-A1EC-40E2-8187-811D13AF01AD}"/>
              </a:ext>
            </a:extLst>
          </p:cNvPr>
          <p:cNvSpPr>
            <a:spLocks noGrp="1"/>
          </p:cNvSpPr>
          <p:nvPr/>
        </p:nvSpPr>
        <p:spPr>
          <a:xfrm>
            <a:off x="895350" y="5829300"/>
            <a:ext cx="1040130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173F67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ช่วงงบ RFQ เป็น planning envelope ภายใน — ไม่ใช่ใบเสนอราคาจากผู้ให้บริการ</a:t>
            </a:r>
          </a:p>
        </p:txBody>
      </p:sp>
    </p:spTree>
    <p:extLst>
      <p:ext uri="{BB962C8B-B14F-4D97-AF65-F5344CB8AC3E}">
        <p14:creationId xmlns:p14="http://schemas.microsoft.com/office/powerpoint/2010/main" val="916521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33DC6CE-9160-4296-8343-C29DD8975AA4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4762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E74B5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WORLDFERT / CLOUD MIGRATION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AD186E-76D8-4816-9407-455626CDB706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76200" cy="514350"/>
          </a:xfrm>
          <a:prstGeom prst="rect">
            <a:avLst/>
          </a:prstGeom>
          <a:solidFill>
            <a:srgbClr val="2E74B5"/>
          </a:solidFill>
          <a:ln w="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A5264A-C1A8-4ACD-801A-E02E97F143FD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10572750" cy="571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Cutover 4 ชั่วโมง — เมื่อ Pre‑stage พร้อม</a:t>
            </a: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457200" y="6381750"/>
            <a:ext cx="11277600" cy="286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C1F0B8BD-F7F4-4C20-8E76-45832DB9E779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33337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C‑LEVEL DECISION BRIEF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2F264A-0B93-46E8-AA48-A307EF2D9DE9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905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08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06D788-8BF8-4778-A428-63C11C530965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0820400" cy="304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T‑24h ถึง T‑2h: เตรียม VPS, DNS TTL 300, Firewall, keys, .env และ empty stack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82C4F4-7283-440E-866C-C6BD613A77CF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2381250" cy="2514600"/>
          </a:xfrm>
          <a:prstGeom prst="rect">
            <a:avLst/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82666F-DCD4-4D29-921C-4326B0936C03}"/>
              </a:ext>
            </a:extLst>
          </p:cNvPr>
          <p:cNvSpPr>
            <a:spLocks noGrp="1"/>
          </p:cNvSpPr>
          <p:nvPr/>
        </p:nvSpPr>
        <p:spPr>
          <a:xfrm>
            <a:off x="895350" y="2381250"/>
            <a:ext cx="5143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E74B5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71DE88-3A85-4F30-A09E-7BDB071A560E}"/>
              </a:ext>
            </a:extLst>
          </p:cNvPr>
          <p:cNvSpPr>
            <a:spLocks noGrp="1"/>
          </p:cNvSpPr>
          <p:nvPr/>
        </p:nvSpPr>
        <p:spPr>
          <a:xfrm>
            <a:off x="895350" y="2800350"/>
            <a:ext cx="19621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00:00–00:45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852D22-685C-4870-A3CD-D7B8E690314C}"/>
              </a:ext>
            </a:extLst>
          </p:cNvPr>
          <p:cNvSpPr>
            <a:spLocks noGrp="1"/>
          </p:cNvSpPr>
          <p:nvPr/>
        </p:nvSpPr>
        <p:spPr>
          <a:xfrm>
            <a:off x="895350" y="3314700"/>
            <a:ext cx="1962150" cy="4953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Freeze + Upload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35C675-8A71-41C9-AF4A-1A40438F4F81}"/>
              </a:ext>
            </a:extLst>
          </p:cNvPr>
          <p:cNvSpPr>
            <a:spLocks noGrp="1"/>
          </p:cNvSpPr>
          <p:nvPr/>
        </p:nvSpPr>
        <p:spPr>
          <a:xfrm>
            <a:off x="895350" y="4000500"/>
            <a:ext cx="196215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Final backup
SFTP + SHA‑256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B333B3-A6F1-42C4-B6A4-70D2FA54CD99}"/>
              </a:ext>
            </a:extLst>
          </p:cNvPr>
          <p:cNvSpPr>
            <a:spLocks noGrp="1"/>
          </p:cNvSpPr>
          <p:nvPr/>
        </p:nvSpPr>
        <p:spPr>
          <a:xfrm>
            <a:off x="3238500" y="2209800"/>
            <a:ext cx="2381250" cy="2514600"/>
          </a:xfrm>
          <a:prstGeom prst="rect">
            <a:avLst/>
          </a:prstGeom>
          <a:solidFill>
            <a:srgbClr val="DDEFE5"/>
          </a:solidFill>
          <a:ln w="0">
            <a:solidFill>
              <a:srgbClr val="DDEFE5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D41083-9B9A-4B24-84E2-8C95B53EF2E0}"/>
              </a:ext>
            </a:extLst>
          </p:cNvPr>
          <p:cNvSpPr>
            <a:spLocks noGrp="1"/>
          </p:cNvSpPr>
          <p:nvPr/>
        </p:nvSpPr>
        <p:spPr>
          <a:xfrm>
            <a:off x="3448050" y="2381250"/>
            <a:ext cx="5143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E74B5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0821FA-6E3E-4D61-B8F7-89C7ADE45A77}"/>
              </a:ext>
            </a:extLst>
          </p:cNvPr>
          <p:cNvSpPr>
            <a:spLocks noGrp="1"/>
          </p:cNvSpPr>
          <p:nvPr/>
        </p:nvSpPr>
        <p:spPr>
          <a:xfrm>
            <a:off x="3448050" y="2800350"/>
            <a:ext cx="19621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00:45–01:55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3932E5-5F82-4470-AA6F-269A08CA1324}"/>
              </a:ext>
            </a:extLst>
          </p:cNvPr>
          <p:cNvSpPr>
            <a:spLocks noGrp="1"/>
          </p:cNvSpPr>
          <p:nvPr/>
        </p:nvSpPr>
        <p:spPr>
          <a:xfrm>
            <a:off x="3448050" y="3314700"/>
            <a:ext cx="1962150" cy="4953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Restore DB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577AFA-D3D2-46CC-808B-031636604F20}"/>
              </a:ext>
            </a:extLst>
          </p:cNvPr>
          <p:cNvSpPr>
            <a:spLocks noGrp="1"/>
          </p:cNvSpPr>
          <p:nvPr/>
        </p:nvSpPr>
        <p:spPr>
          <a:xfrm>
            <a:off x="3448050" y="4000500"/>
            <a:ext cx="196215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MSSQL + DBCC
MySQL + row checks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6A7BEE-E1B7-4C3E-AEF7-C4958B51F148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2381250" cy="2514600"/>
          </a:xfrm>
          <a:prstGeom prst="rect">
            <a:avLst/>
          </a:prstGeom>
          <a:solidFill>
            <a:srgbClr val="F6F8FA"/>
          </a:solidFill>
          <a:ln w="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930A34-12AC-40B0-A8CE-732949233088}"/>
              </a:ext>
            </a:extLst>
          </p:cNvPr>
          <p:cNvSpPr>
            <a:spLocks noGrp="1"/>
          </p:cNvSpPr>
          <p:nvPr/>
        </p:nvSpPr>
        <p:spPr>
          <a:xfrm>
            <a:off x="6000750" y="2381250"/>
            <a:ext cx="5143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E74B5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96B057-F941-4A57-A57D-B0944E78C700}"/>
              </a:ext>
            </a:extLst>
          </p:cNvPr>
          <p:cNvSpPr>
            <a:spLocks noGrp="1"/>
          </p:cNvSpPr>
          <p:nvPr/>
        </p:nvSpPr>
        <p:spPr>
          <a:xfrm>
            <a:off x="6000750" y="2800350"/>
            <a:ext cx="19621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01:55–03:10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DA2CCC-774D-4426-8514-C310A7FBE077}"/>
              </a:ext>
            </a:extLst>
          </p:cNvPr>
          <p:cNvSpPr>
            <a:spLocks noGrp="1"/>
          </p:cNvSpPr>
          <p:nvPr/>
        </p:nvSpPr>
        <p:spPr>
          <a:xfrm>
            <a:off x="6000750" y="3314700"/>
            <a:ext cx="1962150" cy="4953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Deploy + UAT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EC6393-D38B-465B-8179-7848AF87F918}"/>
              </a:ext>
            </a:extLst>
          </p:cNvPr>
          <p:cNvSpPr>
            <a:spLocks noGrp="1"/>
          </p:cNvSpPr>
          <p:nvPr/>
        </p:nvSpPr>
        <p:spPr>
          <a:xfrm>
            <a:off x="6000750" y="4000500"/>
            <a:ext cx="196215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Containers/API
Critical business flows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EA6A76-8062-438F-8D03-226A6F7D3837}"/>
              </a:ext>
            </a:extLst>
          </p:cNvPr>
          <p:cNvSpPr>
            <a:spLocks noGrp="1"/>
          </p:cNvSpPr>
          <p:nvPr/>
        </p:nvSpPr>
        <p:spPr>
          <a:xfrm>
            <a:off x="8343900" y="2209800"/>
            <a:ext cx="3162300" cy="2514600"/>
          </a:xfrm>
          <a:prstGeom prst="rect">
            <a:avLst/>
          </a:prstGeom>
          <a:solidFill>
            <a:srgbClr val="FFF0C2"/>
          </a:solidFill>
          <a:ln w="0">
            <a:solidFill>
              <a:srgbClr val="FFF0C2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5F7437-C269-4079-BBB9-21F4799D5ACE}"/>
              </a:ext>
            </a:extLst>
          </p:cNvPr>
          <p:cNvSpPr>
            <a:spLocks noGrp="1"/>
          </p:cNvSpPr>
          <p:nvPr/>
        </p:nvSpPr>
        <p:spPr>
          <a:xfrm>
            <a:off x="8553450" y="2381250"/>
            <a:ext cx="5143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E74B5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04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ACA519-690F-4B18-8CAD-2080D8C186BD}"/>
              </a:ext>
            </a:extLst>
          </p:cNvPr>
          <p:cNvSpPr>
            <a:spLocks noGrp="1"/>
          </p:cNvSpPr>
          <p:nvPr/>
        </p:nvSpPr>
        <p:spPr>
          <a:xfrm>
            <a:off x="8553450" y="2800350"/>
            <a:ext cx="27432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03:10–04:00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6194FD-1317-4FC4-A961-245E44C91025}"/>
              </a:ext>
            </a:extLst>
          </p:cNvPr>
          <p:cNvSpPr>
            <a:spLocks noGrp="1"/>
          </p:cNvSpPr>
          <p:nvPr/>
        </p:nvSpPr>
        <p:spPr>
          <a:xfrm>
            <a:off x="8553450" y="3314700"/>
            <a:ext cx="2743200" cy="4953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Go‑Live + Monitor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3EFD8E-1E59-4A41-BD9D-CDF59A77AF15}"/>
              </a:ext>
            </a:extLst>
          </p:cNvPr>
          <p:cNvSpPr>
            <a:spLocks noGrp="1"/>
          </p:cNvSpPr>
          <p:nvPr/>
        </p:nvSpPr>
        <p:spPr>
          <a:xfrm>
            <a:off x="8553450" y="4000500"/>
            <a:ext cx="2743200" cy="571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DNS / clients
Post‑cutover backup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F9E2438-DDA3-43C6-BC19-A90C71E4D268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5257800" cy="838200"/>
          </a:xfrm>
          <a:prstGeom prst="rect">
            <a:avLst/>
          </a:prstGeom>
          <a:solidFill>
            <a:srgbClr val="DDEFE5"/>
          </a:solidFill>
          <a:ln w="0">
            <a:solidFill>
              <a:srgbClr val="DDEFE5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7AB583-0E6A-483F-B958-8EE5DFF9F3E4}"/>
              </a:ext>
            </a:extLst>
          </p:cNvPr>
          <p:cNvSpPr>
            <a:spLocks noGrp="1"/>
          </p:cNvSpPr>
          <p:nvPr/>
        </p:nvSpPr>
        <p:spPr>
          <a:xfrm>
            <a:off x="914400" y="5286375"/>
            <a:ext cx="8382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73F67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GO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5698065-6A76-429B-B31F-30B81C76B1ED}"/>
              </a:ext>
            </a:extLst>
          </p:cNvPr>
          <p:cNvSpPr>
            <a:spLocks noGrp="1"/>
          </p:cNvSpPr>
          <p:nvPr/>
        </p:nvSpPr>
        <p:spPr>
          <a:xfrm>
            <a:off x="1790700" y="5305425"/>
            <a:ext cx="39243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DB checks + API + Critical UAT ผ่าน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8D7ED1B-47B0-4DCF-ACC2-54B9DD7B75E4}"/>
              </a:ext>
            </a:extLst>
          </p:cNvPr>
          <p:cNvSpPr>
            <a:spLocks noGrp="1"/>
          </p:cNvSpPr>
          <p:nvPr/>
        </p:nvSpPr>
        <p:spPr>
          <a:xfrm>
            <a:off x="6153150" y="5105400"/>
            <a:ext cx="5353050" cy="838200"/>
          </a:xfrm>
          <a:prstGeom prst="rect">
            <a:avLst/>
          </a:prstGeom>
          <a:solidFill>
            <a:srgbClr val="F7DDDD"/>
          </a:solidFill>
          <a:ln w="0">
            <a:solidFill>
              <a:srgbClr val="F7DDDD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F1CA24B-05EC-482D-B66E-7047ED29727E}"/>
              </a:ext>
            </a:extLst>
          </p:cNvPr>
          <p:cNvSpPr>
            <a:spLocks noGrp="1"/>
          </p:cNvSpPr>
          <p:nvPr/>
        </p:nvSpPr>
        <p:spPr>
          <a:xfrm>
            <a:off x="6381750" y="5286375"/>
            <a:ext cx="1104900" cy="342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8B2E2E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NO‑GO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4D8DA85-196A-46C3-BAFE-5DBC47A277BE}"/>
              </a:ext>
            </a:extLst>
          </p:cNvPr>
          <p:cNvSpPr>
            <a:spLocks noGrp="1"/>
          </p:cNvSpPr>
          <p:nvPr/>
        </p:nvSpPr>
        <p:spPr>
          <a:xfrm>
            <a:off x="7581900" y="5305425"/>
            <a:ext cx="3695700" cy="4381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เหลือ &lt;30 นาทีและ Critical UAT ยังไม่ผ่าน</a:t>
            </a:r>
          </a:p>
        </p:txBody>
      </p:sp>
    </p:spTree>
    <p:extLst>
      <p:ext uri="{BB962C8B-B14F-4D97-AF65-F5344CB8AC3E}">
        <p14:creationId xmlns:p14="http://schemas.microsoft.com/office/powerpoint/2010/main" val="1822558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C3A4A61F-98BA-4335-ADF6-A60797B0BE38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4762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E74B5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WORLDFERT / CLOUD MIGRATION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D31361-F167-47A0-AE89-87E63F5A90FD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76200" cy="514350"/>
          </a:xfrm>
          <a:prstGeom prst="rect">
            <a:avLst/>
          </a:prstGeom>
          <a:solidFill>
            <a:srgbClr val="2E74B5"/>
          </a:solidFill>
          <a:ln w="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4B3F34-84F7-4A59-9943-C6033BC705EA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10572750" cy="571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4 ความเสี่ยงหลักและมาตรการควบคุม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457200" y="6381750"/>
            <a:ext cx="11277600" cy="286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15520CFF-9FDB-4AE3-8019-13D69913B198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33337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C‑LEVEL DECISION BRIEF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276F41-9263-449F-AF33-3B35CCB916CF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905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09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FB31D5-BA56-41D7-8CA2-A0A2D7357A2D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5314950" cy="1847850"/>
          </a:xfrm>
          <a:prstGeom prst="rect">
            <a:avLst/>
          </a:prstGeom>
          <a:solidFill>
            <a:srgbClr val="FFF0C2"/>
          </a:solidFill>
          <a:ln w="0">
            <a:solidFill>
              <a:srgbClr val="FFF0C2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3D6E2D-3EF3-4988-9701-A50CCB2031E4}"/>
              </a:ext>
            </a:extLst>
          </p:cNvPr>
          <p:cNvSpPr>
            <a:spLocks noGrp="1"/>
          </p:cNvSpPr>
          <p:nvPr/>
        </p:nvSpPr>
        <p:spPr>
          <a:xfrm>
            <a:off x="914400" y="1828800"/>
            <a:ext cx="19050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73F67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Single VPS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3A8808-4700-4C9A-A441-5652F383ECBE}"/>
              </a:ext>
            </a:extLst>
          </p:cNvPr>
          <p:cNvSpPr>
            <a:spLocks noGrp="1"/>
          </p:cNvSpPr>
          <p:nvPr/>
        </p:nvSpPr>
        <p:spPr>
          <a:xfrm>
            <a:off x="914400" y="2257425"/>
            <a:ext cx="48577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มี Single Point of Failure</a:t>
            </a: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914400" y="2628900"/>
            <a:ext cx="4857750" cy="286"/>
          </a:xfrm>
          <a:prstGeom prst="straightConnector1">
            <a:avLst/>
          </a:prstGeom>
          <a:ln w="9525">
            <a:solidFill>
              <a:srgbClr val="CBD8E2"/>
            </a:solidFill>
            <a:prstDash val="solid"/>
          </a:ln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F4CB26AB-7B16-4332-A05F-F6D1F8E0A158}"/>
              </a:ext>
            </a:extLst>
          </p:cNvPr>
          <p:cNvSpPr>
            <a:spLocks noGrp="1"/>
          </p:cNvSpPr>
          <p:nvPr/>
        </p:nvSpPr>
        <p:spPr>
          <a:xfrm>
            <a:off x="914400" y="2781300"/>
            <a:ext cx="485775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Snapshot เสริม + SFTP copy นอก VPS
พิจารณาแยก DB/HA ภายใน 90 วัน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CB8879-8A7E-4BF3-BE5C-E704DDFC2620}"/>
              </a:ext>
            </a:extLst>
          </p:cNvPr>
          <p:cNvSpPr>
            <a:spLocks noGrp="1"/>
          </p:cNvSpPr>
          <p:nvPr/>
        </p:nvSpPr>
        <p:spPr>
          <a:xfrm>
            <a:off x="6191250" y="1638300"/>
            <a:ext cx="5314950" cy="1847850"/>
          </a:xfrm>
          <a:prstGeom prst="rect">
            <a:avLst/>
          </a:prstGeom>
          <a:solidFill>
            <a:srgbClr val="F7DDDD"/>
          </a:solidFill>
          <a:ln w="0">
            <a:solidFill>
              <a:srgbClr val="F7DDDD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3207A0-1C38-43E8-AE48-365F01904FB7}"/>
              </a:ext>
            </a:extLst>
          </p:cNvPr>
          <p:cNvSpPr>
            <a:spLocks noGrp="1"/>
          </p:cNvSpPr>
          <p:nvPr/>
        </p:nvSpPr>
        <p:spPr>
          <a:xfrm>
            <a:off x="6419850" y="1828800"/>
            <a:ext cx="19050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73F67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Public DB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695A5F-B2B1-4F67-8E20-A55B9CA46B43}"/>
              </a:ext>
            </a:extLst>
          </p:cNvPr>
          <p:cNvSpPr>
            <a:spLocks noGrp="1"/>
          </p:cNvSpPr>
          <p:nvPr/>
        </p:nvSpPr>
        <p:spPr>
          <a:xfrm>
            <a:off x="6419850" y="2257425"/>
            <a:ext cx="48577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เพิ่มพื้นที่โจมตี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6419850" y="2628900"/>
            <a:ext cx="4857750" cy="286"/>
          </a:xfrm>
          <a:prstGeom prst="straightConnector1">
            <a:avLst/>
          </a:prstGeom>
          <a:ln w="9525">
            <a:solidFill>
              <a:srgbClr val="CBD8E2"/>
            </a:solidFill>
            <a:prstDash val="solid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A77D597-2C97-4EC0-89F7-8C32C55A1BEB}"/>
              </a:ext>
            </a:extLst>
          </p:cNvPr>
          <p:cNvSpPr>
            <a:spLocks noGrp="1"/>
          </p:cNvSpPr>
          <p:nvPr/>
        </p:nvSpPr>
        <p:spPr>
          <a:xfrm>
            <a:off x="6419850" y="2781300"/>
            <a:ext cx="485775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Provider Firewall + UFW allowlist
TLS + login เฉพาะงาน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45DF62-82C2-4BDC-A28E-EFFF0F87EA7B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5314950" cy="1847850"/>
          </a:xfrm>
          <a:prstGeom prst="rect">
            <a:avLst/>
          </a:prstGeom>
          <a:solidFill>
            <a:srgbClr val="EAF2F8"/>
          </a:solidFill>
          <a:ln w="0">
            <a:solidFill>
              <a:srgbClr val="EAF2F8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FB515A-4A50-4C0A-B73A-C925E32F1C41}"/>
              </a:ext>
            </a:extLst>
          </p:cNvPr>
          <p:cNvSpPr>
            <a:spLocks noGrp="1"/>
          </p:cNvSpPr>
          <p:nvPr/>
        </p:nvSpPr>
        <p:spPr>
          <a:xfrm>
            <a:off x="914400" y="4019550"/>
            <a:ext cx="19050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73F67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SQL Express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F0D3BD-ABDA-48FD-80AE-221C113D625A}"/>
              </a:ext>
            </a:extLst>
          </p:cNvPr>
          <p:cNvSpPr>
            <a:spLocks noGrp="1"/>
          </p:cNvSpPr>
          <p:nvPr/>
        </p:nvSpPr>
        <p:spPr>
          <a:xfrm>
            <a:off x="914400" y="4448175"/>
            <a:ext cx="48577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เพดาน 10 GB ต่อฐาน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914400" y="4819650"/>
            <a:ext cx="4857750" cy="286"/>
          </a:xfrm>
          <a:prstGeom prst="straightConnector1">
            <a:avLst/>
          </a:prstGeom>
          <a:ln w="9525">
            <a:solidFill>
              <a:srgbClr val="CBD8E2"/>
            </a:solidFill>
            <a:prstDash val="solid"/>
          </a:ln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AD010A7-A838-405C-88EC-FF399AC77F0C}"/>
              </a:ext>
            </a:extLst>
          </p:cNvPr>
          <p:cNvSpPr>
            <a:spLocks noGrp="1"/>
          </p:cNvSpPr>
          <p:nvPr/>
        </p:nvSpPr>
        <p:spPr>
          <a:xfrm>
            <a:off x="914400" y="4972050"/>
            <a:ext cx="485775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Alert ที่ 8 GB
อนุมัติ Edition ก่อนชนเพดาน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774ACE-1AB8-4CA8-B167-0E7E179F5FF7}"/>
              </a:ext>
            </a:extLst>
          </p:cNvPr>
          <p:cNvSpPr>
            <a:spLocks noGrp="1"/>
          </p:cNvSpPr>
          <p:nvPr/>
        </p:nvSpPr>
        <p:spPr>
          <a:xfrm>
            <a:off x="6191250" y="3829050"/>
            <a:ext cx="5314950" cy="1847850"/>
          </a:xfrm>
          <a:prstGeom prst="rect">
            <a:avLst/>
          </a:prstGeom>
          <a:solidFill>
            <a:srgbClr val="DDEFE5"/>
          </a:solidFill>
          <a:ln w="0">
            <a:solidFill>
              <a:srgbClr val="DDEFE5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785AD6-F5FC-4496-9B08-020813B488AE}"/>
              </a:ext>
            </a:extLst>
          </p:cNvPr>
          <p:cNvSpPr>
            <a:spLocks noGrp="1"/>
          </p:cNvSpPr>
          <p:nvPr/>
        </p:nvSpPr>
        <p:spPr>
          <a:xfrm>
            <a:off x="6419850" y="4019550"/>
            <a:ext cx="1905000" cy="323850"/>
          </a:xfrm>
          <a:prstGeom prst="rect">
            <a:avLst/>
          </a:prstGeom>
        </p:spPr>
        <p:txBody>
          <a:bodyPr wrap="square" lIns="0" tIns="0" rIns="0" bIns="0" anchor="t">
            <a:normAutofit fontScale="85000" lnSpcReduction="10000"/>
          </a:bodyPr>
          <a:lstStyle/>
          <a:p>
            <a:pPr algn="l">
              <a:defRPr sz="1800" b="1">
                <a:solidFill>
                  <a:srgbClr val="173F67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Backup / Recovery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B9DF4E2-8843-4CA3-8188-3D9C88B643CE}"/>
              </a:ext>
            </a:extLst>
          </p:cNvPr>
          <p:cNvSpPr>
            <a:spLocks noGrp="1"/>
          </p:cNvSpPr>
          <p:nvPr/>
        </p:nvSpPr>
        <p:spPr>
          <a:xfrm>
            <a:off x="6419850" y="4448175"/>
            <a:ext cx="4857750" cy="2667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Weekly RPO สูงสุด 7 วัน</a:t>
            </a:r>
          </a:p>
        </p:txBody>
      </p:sp>
      <p:cxnSp>
        <p:nvCxnSpPr>
          <p:cNvPr id="52" name="Straight Arrow Connector 51"/>
          <p:cNvCxnSpPr/>
          <p:nvPr/>
        </p:nvCxnSpPr>
        <p:spPr>
          <a:xfrm>
            <a:off x="6419850" y="4819650"/>
            <a:ext cx="4857750" cy="286"/>
          </a:xfrm>
          <a:prstGeom prst="straightConnector1">
            <a:avLst/>
          </a:prstGeom>
          <a:ln w="9525">
            <a:solidFill>
              <a:srgbClr val="CBD8E2"/>
            </a:solidFill>
            <a:prstDash val="solid"/>
          </a:ln>
        </p:spPr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C93754D2-4BBF-49DD-A402-493C79545CF4}"/>
              </a:ext>
            </a:extLst>
          </p:cNvPr>
          <p:cNvSpPr>
            <a:spLocks noGrp="1"/>
          </p:cNvSpPr>
          <p:nvPr/>
        </p:nvSpPr>
        <p:spPr>
          <a:xfrm>
            <a:off x="6419850" y="4972050"/>
            <a:ext cx="4857750" cy="552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Final backup ก่อน cutover
Restore Drill เพื่อยืนยัน RTO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1B9ECE5-9892-4603-AC17-176F6928A9C0}"/>
              </a:ext>
            </a:extLst>
          </p:cNvPr>
          <p:cNvSpPr>
            <a:spLocks noGrp="1"/>
          </p:cNvSpPr>
          <p:nvPr/>
        </p:nvSpPr>
        <p:spPr>
          <a:xfrm>
            <a:off x="685800" y="5962650"/>
            <a:ext cx="108204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Recovery target: RTO ต้องยืนยันจาก Restore Drill — ไม่ควรตั้งสมมติฐานจากสเปกเพียงอย่างเดียว</a:t>
            </a:r>
          </a:p>
        </p:txBody>
      </p:sp>
    </p:spTree>
    <p:extLst>
      <p:ext uri="{BB962C8B-B14F-4D97-AF65-F5344CB8AC3E}">
        <p14:creationId xmlns:p14="http://schemas.microsoft.com/office/powerpoint/2010/main" val="144746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46478262-CF2F-4F78-9E65-05DC3560EDEA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47625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E74B5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WORLDFERT / CLOUD MIGRATION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CB240B-9CEA-4699-8F38-84CA8FAB802F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76200" cy="514350"/>
          </a:xfrm>
          <a:prstGeom prst="rect">
            <a:avLst/>
          </a:prstGeom>
          <a:solidFill>
            <a:srgbClr val="2E74B5"/>
          </a:solidFill>
          <a:ln w="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FA5456-F473-4123-B4A0-0192CEA2C575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10572750" cy="571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มติที่ต้องการและขั้นตอนถัดไป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457200" y="6381750"/>
            <a:ext cx="11277600" cy="286"/>
          </a:xfrm>
          <a:prstGeom prst="straightConnector1">
            <a:avLst/>
          </a:prstGeom>
          <a:ln w="9525">
            <a:solidFill>
              <a:srgbClr val="D9E2EA"/>
            </a:solidFill>
            <a:prstDash val="solid"/>
          </a:ln>
        </p:spPr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26458E3C-7915-4A10-B35C-A5D55C6F75F9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3333750" cy="1714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C‑LEVEL DECISION BRIEF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B96DE6-6637-4EDB-B85B-594F30AAC8AE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90550" cy="190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5F6F7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9E82E9-B354-4ADC-BFAB-D47DD3646D4D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6705600" cy="4171950"/>
          </a:xfrm>
          <a:prstGeom prst="rect">
            <a:avLst/>
          </a:prstGeom>
          <a:solidFill>
            <a:srgbClr val="173F67"/>
          </a:solidFill>
          <a:ln w="0">
            <a:solidFill>
              <a:srgbClr val="173F67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B58205-3108-4D97-9B77-0C9CBE01123F}"/>
              </a:ext>
            </a:extLst>
          </p:cNvPr>
          <p:cNvSpPr>
            <a:spLocks noGrp="1"/>
          </p:cNvSpPr>
          <p:nvPr/>
        </p:nvSpPr>
        <p:spPr>
          <a:xfrm>
            <a:off x="990600" y="1885950"/>
            <a:ext cx="28575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A9D7B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ขออนุมัติ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681EBF-5E4B-40F4-99A9-B29A2B9DDBBD}"/>
              </a:ext>
            </a:extLst>
          </p:cNvPr>
          <p:cNvSpPr>
            <a:spLocks noGrp="1"/>
          </p:cNvSpPr>
          <p:nvPr/>
        </p:nvSpPr>
        <p:spPr>
          <a:xfrm>
            <a:off x="990600" y="2419350"/>
            <a:ext cx="5810250" cy="11049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Hostinger KVM 4
Production Pilot 7 วัน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990600" y="3810000"/>
            <a:ext cx="5810250" cy="286"/>
          </a:xfrm>
          <a:prstGeom prst="straightConnector1">
            <a:avLst/>
          </a:prstGeom>
          <a:ln w="9525">
            <a:solidFill>
              <a:srgbClr val="557A9D"/>
            </a:solidFill>
            <a:prstDash val="solid"/>
          </a:ln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B865CCE-A706-4CFF-9084-7277A51E7793}"/>
              </a:ext>
            </a:extLst>
          </p:cNvPr>
          <p:cNvSpPr>
            <a:spLocks noGrp="1"/>
          </p:cNvSpPr>
          <p:nvPr/>
        </p:nvSpPr>
        <p:spPr>
          <a:xfrm>
            <a:off x="990600" y="4076700"/>
            <a:ext cx="15240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C9DCEA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งบฐาน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99D85B-317A-45CC-AB68-D9660F029189}"/>
              </a:ext>
            </a:extLst>
          </p:cNvPr>
          <p:cNvSpPr>
            <a:spLocks noGrp="1"/>
          </p:cNvSpPr>
          <p:nvPr/>
        </p:nvSpPr>
        <p:spPr>
          <a:xfrm>
            <a:off x="990600" y="4400550"/>
            <a:ext cx="31432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≈ ฿957 / เดือน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EAAEB3-CD3E-48A9-8B00-6E8B1C4AA924}"/>
              </a:ext>
            </a:extLst>
          </p:cNvPr>
          <p:cNvSpPr>
            <a:spLocks noGrp="1"/>
          </p:cNvSpPr>
          <p:nvPr/>
        </p:nvSpPr>
        <p:spPr>
          <a:xfrm>
            <a:off x="990600" y="5067300"/>
            <a:ext cx="19050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C9DCEA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เงื่อนไขผ่าน Pilot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767D86-8D95-4D0F-A166-A5F018B12718}"/>
              </a:ext>
            </a:extLst>
          </p:cNvPr>
          <p:cNvSpPr>
            <a:spLocks noGrp="1"/>
          </p:cNvSpPr>
          <p:nvPr/>
        </p:nvSpPr>
        <p:spPr>
          <a:xfrm>
            <a:off x="2895600" y="5048250"/>
            <a:ext cx="390525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r">
              <a:defRPr sz="14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IOPS • latency • backup • support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71B156-F96B-449D-B408-83C7E38C7715}"/>
              </a:ext>
            </a:extLst>
          </p:cNvPr>
          <p:cNvSpPr>
            <a:spLocks noGrp="1"/>
          </p:cNvSpPr>
          <p:nvPr/>
        </p:nvSpPr>
        <p:spPr>
          <a:xfrm>
            <a:off x="7848600" y="1600200"/>
            <a:ext cx="142875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2E74B5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NEXT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59BD19-1B8F-495C-BA24-5B3A10B1F61D}"/>
              </a:ext>
            </a:extLst>
          </p:cNvPr>
          <p:cNvSpPr>
            <a:spLocks noGrp="1"/>
          </p:cNvSpPr>
          <p:nvPr/>
        </p:nvSpPr>
        <p:spPr>
          <a:xfrm>
            <a:off x="7848600" y="2095500"/>
            <a:ext cx="4000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>
                <a:solidFill>
                  <a:srgbClr val="2E74B5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62F816-E1BE-41B6-9DE4-B07149C41C52}"/>
              </a:ext>
            </a:extLst>
          </p:cNvPr>
          <p:cNvSpPr>
            <a:spLocks noGrp="1"/>
          </p:cNvSpPr>
          <p:nvPr/>
        </p:nvSpPr>
        <p:spPr>
          <a:xfrm>
            <a:off x="8458200" y="2133600"/>
            <a:ext cx="3048000" cy="3238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Provision + Firewall + DNS</a:t>
            </a:r>
          </a:p>
        </p:txBody>
      </p:sp>
      <p:cxnSp>
        <p:nvCxnSpPr>
          <p:cNvPr id="46" name="Straight Arrow Connector 45"/>
          <p:cNvCxnSpPr/>
          <p:nvPr/>
        </p:nvCxnSpPr>
        <p:spPr>
          <a:xfrm>
            <a:off x="8058150" y="2600325"/>
            <a:ext cx="286" cy="457200"/>
          </a:xfrm>
          <a:prstGeom prst="straightConnector1">
            <a:avLst/>
          </a:prstGeom>
          <a:ln w="19050">
            <a:solidFill>
              <a:srgbClr val="D9E2EA"/>
            </a:solidFill>
            <a:prstDash val="solid"/>
          </a:ln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B29A173-73EE-4EEB-AC05-79099BEDA6A3}"/>
              </a:ext>
            </a:extLst>
          </p:cNvPr>
          <p:cNvSpPr>
            <a:spLocks noGrp="1"/>
          </p:cNvSpPr>
          <p:nvPr/>
        </p:nvSpPr>
        <p:spPr>
          <a:xfrm>
            <a:off x="7848600" y="3105150"/>
            <a:ext cx="4000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>
                <a:solidFill>
                  <a:srgbClr val="2E74B5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CE9C56-22B8-4FDF-A736-E6E1767C8D51}"/>
              </a:ext>
            </a:extLst>
          </p:cNvPr>
          <p:cNvSpPr>
            <a:spLocks noGrp="1"/>
          </p:cNvSpPr>
          <p:nvPr/>
        </p:nvSpPr>
        <p:spPr>
          <a:xfrm>
            <a:off x="8458200" y="3143250"/>
            <a:ext cx="3048000" cy="419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Deploy empty stack + Pre‑stage</a:t>
            </a:r>
          </a:p>
        </p:txBody>
      </p:sp>
      <p:cxnSp>
        <p:nvCxnSpPr>
          <p:cNvPr id="49" name="Straight Arrow Connector 48"/>
          <p:cNvCxnSpPr/>
          <p:nvPr/>
        </p:nvCxnSpPr>
        <p:spPr>
          <a:xfrm>
            <a:off x="8058150" y="3609975"/>
            <a:ext cx="286" cy="457200"/>
          </a:xfrm>
          <a:prstGeom prst="straightConnector1">
            <a:avLst/>
          </a:prstGeom>
          <a:ln w="19050">
            <a:solidFill>
              <a:srgbClr val="D9E2EA"/>
            </a:solidFill>
            <a:prstDash val="solid"/>
          </a:ln>
        </p:spPr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3758E80-12D7-4EF4-8DE4-F3FFBD993856}"/>
              </a:ext>
            </a:extLst>
          </p:cNvPr>
          <p:cNvSpPr>
            <a:spLocks noGrp="1"/>
          </p:cNvSpPr>
          <p:nvPr/>
        </p:nvSpPr>
        <p:spPr>
          <a:xfrm>
            <a:off x="7848600" y="4114800"/>
            <a:ext cx="4000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>
                <a:solidFill>
                  <a:srgbClr val="2E74B5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3F01D5-1AAE-42E5-9A2E-4B842FB7F467}"/>
              </a:ext>
            </a:extLst>
          </p:cNvPr>
          <p:cNvSpPr>
            <a:spLocks noGrp="1"/>
          </p:cNvSpPr>
          <p:nvPr/>
        </p:nvSpPr>
        <p:spPr>
          <a:xfrm>
            <a:off x="8458200" y="4152900"/>
            <a:ext cx="304800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Restore Drill + UAT rehearsal</a:t>
            </a:r>
          </a:p>
        </p:txBody>
      </p:sp>
      <p:cxnSp>
        <p:nvCxnSpPr>
          <p:cNvPr id="52" name="Straight Arrow Connector 51"/>
          <p:cNvCxnSpPr/>
          <p:nvPr/>
        </p:nvCxnSpPr>
        <p:spPr>
          <a:xfrm>
            <a:off x="8058150" y="4619625"/>
            <a:ext cx="286" cy="457200"/>
          </a:xfrm>
          <a:prstGeom prst="straightConnector1">
            <a:avLst/>
          </a:prstGeom>
          <a:ln w="19050">
            <a:solidFill>
              <a:srgbClr val="D9E2EA"/>
            </a:solidFill>
            <a:prstDash val="solid"/>
          </a:ln>
        </p:spPr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B72E4C77-3E0C-474D-B1C7-600F314EA1FF}"/>
              </a:ext>
            </a:extLst>
          </p:cNvPr>
          <p:cNvSpPr>
            <a:spLocks noGrp="1"/>
          </p:cNvSpPr>
          <p:nvPr/>
        </p:nvSpPr>
        <p:spPr>
          <a:xfrm>
            <a:off x="7848600" y="5124450"/>
            <a:ext cx="400050" cy="4000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>
                <a:solidFill>
                  <a:srgbClr val="2E74B5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609C197-A685-458A-8759-EBB8802211FA}"/>
              </a:ext>
            </a:extLst>
          </p:cNvPr>
          <p:cNvSpPr>
            <a:spLocks noGrp="1"/>
          </p:cNvSpPr>
          <p:nvPr/>
        </p:nvSpPr>
        <p:spPr>
          <a:xfrm>
            <a:off x="8458200" y="5162550"/>
            <a:ext cx="3048000" cy="4191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7212B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Go / No‑Go ภายใน 4 ชั่วโมง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22689A4-F3E8-4716-8905-6FD3596A78A8}"/>
              </a:ext>
            </a:extLst>
          </p:cNvPr>
          <p:cNvSpPr>
            <a:spLocks noGrp="1"/>
          </p:cNvSpPr>
          <p:nvPr/>
        </p:nvSpPr>
        <p:spPr>
          <a:xfrm>
            <a:off x="7848600" y="5848350"/>
            <a:ext cx="3657600" cy="400050"/>
          </a:xfrm>
          <a:prstGeom prst="rect">
            <a:avLst/>
          </a:prstGeom>
          <a:solidFill>
            <a:srgbClr val="FFF0C2"/>
          </a:solidFill>
          <a:ln w="0">
            <a:solidFill>
              <a:srgbClr val="FFF0C2"/>
            </a:solidFill>
            <a:prstDash val="solid"/>
          </a:ln>
        </p:spPr>
        <p:txBody>
          <a:bodyPr/>
          <a:lstStyle/>
          <a:p>
            <a:endParaRPr lang="en-US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EF72BB-BB44-488F-9FC4-A4CEE9CC6AA1}"/>
              </a:ext>
            </a:extLst>
          </p:cNvPr>
          <p:cNvSpPr>
            <a:spLocks noGrp="1"/>
          </p:cNvSpPr>
          <p:nvPr/>
        </p:nvSpPr>
        <p:spPr>
          <a:xfrm>
            <a:off x="8001000" y="5953125"/>
            <a:ext cx="3352800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>
                <a:solidFill>
                  <a:srgbClr val="173F67"/>
                </a:solidFill>
                <a:latin typeface="Noto Sans Thai"/>
                <a:ea typeface="Noto Sans Thai"/>
                <a:cs typeface="Noto Sans Thai"/>
              </a:defRPr>
            </a:pPr>
            <a:r>
              <a:rPr>
                <a:latin typeface="Kanit" pitchFamily="2" charset="-34"/>
                <a:cs typeface="Kanit" pitchFamily="2" charset="-34"/>
              </a:rPr>
              <a:t>Fallback: Vultr / DigitalOcean</a:t>
            </a:r>
          </a:p>
        </p:txBody>
      </p:sp>
    </p:spTree>
    <p:extLst>
      <p:ext uri="{BB962C8B-B14F-4D97-AF65-F5344CB8AC3E}">
        <p14:creationId xmlns:p14="http://schemas.microsoft.com/office/powerpoint/2010/main" val="187863861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1923</Words>
  <Application>Microsoft Office PowerPoint</Application>
  <DocSecurity>0</DocSecurity>
  <PresentationFormat>Widescreen</PresentationFormat>
  <Paragraphs>291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Kanit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Thirayu Meererksom</cp:lastModifiedBy>
  <cp:revision>2</cp:revision>
  <dcterms:created xsi:type="dcterms:W3CDTF">2026-08-26T15:08:33Z</dcterms:created>
  <dcterms:modified xsi:type="dcterms:W3CDTF">2026-08-26T15:26:28Z</dcterms:modified>
</cp:coreProperties>
</file>