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274320" cy="1143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WS-Sale-App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ระบบจัดการสั่งขายปุ๋ยและส่วนลดรีเบท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3E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บริษัท เวิลด์ เฟอท จำกัด  |  World Fert Co., Ltd.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8F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Prosoft WINSpeed v9.0  ·  SQL Server 2022  ·  dbwins_worldfert9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C8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v5.0 (Production)  ·  23 มิถุนายน 2569  ·  React 19 + Express + SQL Server (msnodesqlv8)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8F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ข้อมูลยืนยันจาก query DB จริง  ·  282,087 ใบกำกับ  ·  790 ลูกค้า  ·  417 สินค้า  ·  ปี 2555–2568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ภาพรวมฐานข้อมูล WINSpeed v9.0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dbwins_worldfert9 · SQL Server 2022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669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8,987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คอลัมน์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282,087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ใบกำกับ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107,018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ใบจอง/SO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790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64008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676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417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10424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สินค้า/ปุ๋ย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1417320"/>
            <a:ext cx="8778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4630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FK จริงมีแค่ 4 รายการ — ความสัมพันธ์ทั้งหมดใช้ Naming Convention (*ID → PK master)  |  ICStock, SOPickingHD/DT, ICPriceHD/DT, EMCreditTerm = ว่าง (ไม่ใช้)  |  EMCust.CreditAmnt = 0 ทุกราย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645920"/>
            <a:ext cx="877824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64592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74520" y="164592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แถว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1645920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หมายเหตุ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1865376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86537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186537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107,018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20440" y="1865376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DocuType 103=54,095 / 104=52,923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084832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08483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74520" y="208483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282,087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20440" y="2084832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107=146,276 / 202=113,043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2304288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30428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SOInvDT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2304288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471,641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2304288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GoodID=NULL 224,571 rows (misc/service)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523744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523744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GLHD/GLDT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74520" y="2523744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384,400 / 813,085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0440" y="2523744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DocuType=501 ทุกแถว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2743200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7432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EMGood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74520" y="274320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20440" y="2743200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StockFlag='Y' 193 ตัว (ปุ๋ย FG)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2962656"/>
            <a:ext cx="87782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96265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EMSetPriceHD/DT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74520" y="2962656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129 / 4,054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20440" y="2962656"/>
            <a:ext cx="5230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 NET 2022–2025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Document Flow — DocuType &amp; Join Keys (ยืนยันจากข้อมูลจริง)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877824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94360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Type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594360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ชื่อ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80360" y="594360"/>
            <a:ext cx="17556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09160" y="59436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97880" y="594360"/>
            <a:ext cx="2852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หมายเหตุ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22960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2296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82296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ใบจอง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8229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82296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822960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AppvFlag=W→Y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060704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06070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1060704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ใบสั่งขาย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80360" y="106070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06070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106070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RefNo=AI68-XXXXX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1298448"/>
            <a:ext cx="8778240" cy="237744"/>
          </a:xfrm>
          <a:prstGeom prst="rect">
            <a:avLst/>
          </a:prstGeom>
          <a:solidFill>
            <a:srgbClr val="EAF3DE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2984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1298448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ใบกำกับขายเชื่อ★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80360" y="1298448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29844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97880" y="129844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PostGL='Y'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1536192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153619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153619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Flow ลัด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80360" y="153619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153619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97880" y="1536192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DocuNo=SONo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1773936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77393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" y="1773936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Credit Note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80360" y="1773936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177393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97880" y="1773936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RefSOID→orig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2011680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01168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" y="201168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Debit Note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80360" y="201168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SOInvHD/DT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201168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SOInvID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97880" y="2011680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RefNo→orig.DocuNo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2249424"/>
            <a:ext cx="8778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24942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" y="2249424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 Journal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880360" y="2249424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GLHD/GLDT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224942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97880" y="224942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FromFlag=107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2487168"/>
            <a:ext cx="8778240" cy="73152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5237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Join Keys ที่ยืนยันแล้ว: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270662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SOHD104.RefNo = SOHD103.AppvDocuNo  ·  SOInvHD.SONo = SOHD104.DocuNo  ·  GLHD.DocuNo = SOInvHD.DocuNo AND FromFlag=107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288950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CN 109: SOInvHD.RefSOID = orig.SOInvID  ·  DN 110: SOInvHD.RefNo = orig.DocuNo (RefSOID=NULL!)  ·  รับชำระ: ARReceDT.SOInvID = SOInvHD.SOInvID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82880" y="3291840"/>
            <a:ext cx="8778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328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GL Flow (ยืนยันแล้ว):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0040" y="351129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SOHD(103→104) → SOInvHD(107, PostGL='Y') → GLHD(501, FromFlag=107) → GLDT → EMAcc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0040" y="36941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Join ถูก: GLHD.DocuNo = SOInvHD.DocuNo AND FromFlag=107  |  ✓ GLHD.FromID = SOInvHD.PostID  |  ✗ ผิด: GLHD.FromID = SOInvHD.SOInvID  |  GL: Dr 1037 / Cr 1120 · ปุ๋ยยกเว้น VAT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ตั๋วคุม / เข้าชั่ง-ชั่งออก — กระบวนการและข้อมูลจริง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103120" cy="18288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 ลูกค้าจอง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 DocuType=103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AppvFlag='W' (รอชั่ง)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TransRegistration=ทะเบียนรถ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76272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95728" y="594360"/>
            <a:ext cx="2103120" cy="182880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 เข้าชั่ง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AppvFlag → 'Y'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AppvDocuNo → 'AI68-XXXXX'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AppvDate → วันที่ชั่ง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08576" y="594360"/>
            <a:ext cx="2103120" cy="18288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 ชั่งออก / ปิด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 DocuType=104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RefNo = AppvDocuNo (AI...)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SODT.Refno = 'AI68-XXXXX'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01968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21424" y="594360"/>
            <a:ext cx="2103120" cy="182880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 ออกใบกำกับ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94576" y="950976"/>
            <a:ext cx="1956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SOInvHD DocuType=107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SONo = SOHD104.DocuNo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PostGL='Y'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514600"/>
            <a:ext cx="8778240" cy="548640"/>
          </a:xfrm>
          <a:prstGeom prst="rect">
            <a:avLst/>
          </a:prstGeom>
          <a:solidFill>
            <a:srgbClr val="FFF3CD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542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ไม่มีใน WINSpeed — ต้องสร้างใน schema wf: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wf.WeighTicket: Gross/Tare/Net weight (kg) + weighInAt + weighOutAt timestamps  |  ไม่มี Gross/Tare/Net weight ใน WS  |  ไม่มี Weigh timestamp  |  BTCar/TMTruck ว่าง (0 rows)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154680"/>
            <a:ext cx="8778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82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ข้อมูลจริง: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 Active (W,Y):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28,290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ผ่านชั่ง Active (Y,Y):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1460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24,632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AppvDocuNo prefix 'AI':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25,639 (99.8%)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383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104 อ้างตั๋วคุม: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3566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52,923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UI/UX Design System — Light Theme Standard v5.0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React 19 + Vite + TypeScript + Tailwind v4 + lucide-react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640080" cy="365760"/>
          </a:xfrm>
          <a:prstGeom prst="rect">
            <a:avLst/>
          </a:prstGeom>
          <a:solidFill>
            <a:srgbClr val="0C447C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594360"/>
            <a:ext cx="640080" cy="36576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Primary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#0C447C / #E6F1FB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288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Header, primary actions / Light hover, selected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0" y="59436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2576" y="594360"/>
            <a:ext cx="640080" cy="36576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Surface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#FFFFFF / #F1EFE8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4592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Card background / Page background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08960" y="594360"/>
            <a:ext cx="640080" cy="365760"/>
          </a:xfrm>
          <a:prstGeom prst="rect">
            <a:avLst/>
          </a:prstGeom>
          <a:solidFill>
            <a:srgbClr val="D3D1C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594360"/>
            <a:ext cx="640080" cy="365760"/>
          </a:xfrm>
          <a:prstGeom prst="rect">
            <a:avLst/>
          </a:prstGeom>
          <a:solidFill>
            <a:srgbClr val="888780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Border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#D3D1C7 / #888780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0896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0.5px all cards / Text secondary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"/>
            <a:ext cx="640080" cy="365760"/>
          </a:xfrm>
          <a:prstGeom prst="rect">
            <a:avLst/>
          </a:prstGeom>
          <a:solidFill>
            <a:srgbClr val="3B6D11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48656" y="594360"/>
            <a:ext cx="640080" cy="365760"/>
          </a:xfrm>
          <a:prstGeom prst="rect">
            <a:avLst/>
          </a:prstGeom>
          <a:solidFill>
            <a:srgbClr val="EAF3D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Success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#3B6D11 / #EAF3DE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Confirmed, shipped / Success bg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35040" y="594360"/>
            <a:ext cx="640080" cy="365760"/>
          </a:xfrm>
          <a:prstGeom prst="rect">
            <a:avLst/>
          </a:prstGeom>
          <a:solidFill>
            <a:srgbClr val="BA7517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1696" y="594360"/>
            <a:ext cx="640080" cy="36576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#BA7517 / #FAEEDA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3504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accrual / Rebate bg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98080" y="594360"/>
            <a:ext cx="640080" cy="365760"/>
          </a:xfrm>
          <a:prstGeom prst="rect">
            <a:avLst/>
          </a:prstGeom>
          <a:solidFill>
            <a:srgbClr val="A32D2D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594360"/>
            <a:ext cx="640080" cy="365760"/>
          </a:xfrm>
          <a:prstGeom prst="rect">
            <a:avLst/>
          </a:prstGeom>
          <a:solidFill>
            <a:srgbClr val="F09595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97840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Danger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98080" y="114300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#A32D2D / #F09595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98080" y="13075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Error, late &gt;45d / Danger bg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15544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1554480"/>
            <a:ext cx="50292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155448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Status Pills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243584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12848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12848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82112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51376" y="181051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F09595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51376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131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CANCELLED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204825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&gt;30 วัน = เหลือง  |  &gt;45 วัน = แดง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22677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Font: Prompt (Thai) / System-UI  |  Touch target ≥ 44px  |  Tablet-first 768–1024px  |  Radius: 8px card / 6px input / 4px pill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03520" y="1554480"/>
            <a:ext cx="3657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1554480"/>
            <a:ext cx="36576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672" y="1554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Typography Scale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17922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Title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94960" y="1993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Section Header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94960" y="215798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Body text / 46-0-0 ยูเรีย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394960" y="23225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LABEL  ·  Caption ฿18,500/ตัน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2633472"/>
            <a:ext cx="8778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2633472"/>
            <a:ext cx="87782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263347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Component Tokens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287121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Border: 0.5px solid #D3D1C7  |  Card radius: 8px  |  Page bg: #F1EFE8  |  Card bg: #FFFFFF  |  Header bg: #0C447C  |  Btn Primary: #0C447C/#E6F1FB  |  Btn Confirm: #3B6D11/#EAF3DE  |  Input height: 44px  |  Icon: Tabler Outline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0040" y="307238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บทบาทผู้ใช้: SALES · COUNTER_SALES · WAREHOUSE · WEIGHBRIDGE · APPROVER · ACCOUNTING · ADMIN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13.2 Dashboard (real-time)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Counter Sales / Warehouse / Approver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ตั๋วคงค้าง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92808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92808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92808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รอชั่งวันนี้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48456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48456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รถในโรงงาน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04104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104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฿2.4M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04104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59752" y="868680"/>
            <a:ext cx="1691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9611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9752" y="118872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วันนี้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7160" y="1481328"/>
            <a:ext cx="43891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481328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" y="14813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ตั๋วคงค้าง aging  (&gt;30d=🟡 &gt;45d=🔴)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719072"/>
            <a:ext cx="438912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719072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45920" y="171907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สูตร/ตัน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26080" y="171907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0" y="171907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" y="1947672"/>
            <a:ext cx="4389120" cy="228600"/>
          </a:xfrm>
          <a:prstGeom prst="rect">
            <a:avLst/>
          </a:prstGeom>
          <a:solidFill>
            <a:srgbClr val="F09595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9476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618488" y="19476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46-0-0/40ต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871216" y="19476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52 วัน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75304" y="19476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รอชั่ง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37160" y="2176272"/>
            <a:ext cx="4389120" cy="228600"/>
          </a:xfrm>
          <a:prstGeom prst="rect">
            <a:avLst/>
          </a:prstGeom>
          <a:solidFill>
            <a:srgbClr val="FFF3CD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1762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หจก.เกษตรอีสาน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618488" y="21762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15-15-15/20ต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71216" y="21762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38 วัน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75304" y="21762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37160" y="2404872"/>
            <a:ext cx="4389120" cy="228600"/>
          </a:xfrm>
          <a:prstGeom prst="rect">
            <a:avLst/>
          </a:prstGeom>
          <a:solidFill>
            <a:srgbClr val="FFF3CD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24048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ร้านชัยเกษตร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618488" y="2404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0-0-60/10ต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871216" y="24048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31 วัน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575304" y="24048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" y="2633472"/>
            <a:ext cx="43891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26334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18488" y="26334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16-20-0/60ต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871216" y="26334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 วัน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575304" y="26334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37160" y="2862072"/>
            <a:ext cx="43891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28620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บ.รุ่งเรือง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618488" y="28620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21-0-0/35ต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871216" y="28620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 วัน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575304" y="286207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1481328"/>
            <a:ext cx="43891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1481328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90872" y="14813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สถานะรถ / Rebate Pool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173736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1737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สท 70-4239/40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25312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46-0-0(40t)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15200" y="177393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17739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กำลังรับ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201168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2011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นบ 80-1234/35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925312" y="2011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21-0-0(35t)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315200" y="204825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0" y="20482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กำลังรับ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663440" y="228600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22860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ชม 90-5678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25312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0-0-60(10t)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15200" y="232257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0" y="2322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รอคิว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663440" y="256032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09160" y="2560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กก 60-9012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925312" y="2560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16-20-0(60t)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15200" y="2596896"/>
            <a:ext cx="868680" cy="182880"/>
          </a:xfrm>
          <a:prstGeom prst="roundRect">
            <a:avLst>
              <a:gd name="adj" fmla="val 3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259689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ออกแล้ว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617720" y="2834640"/>
            <a:ext cx="438912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90872" y="28346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 (Sales)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663440" y="3072384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36592" y="3072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ภาคเหนือ — สมชาย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766560" y="3108960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66560" y="3108960"/>
            <a:ext cx="704088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92440" y="30723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฿684,000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663440" y="3383280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36592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ภาคกลาง — วิชัย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766560" y="3419856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0" y="3419856"/>
            <a:ext cx="448056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92440" y="3383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฿432,000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63440" y="3694176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736592" y="3694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ภาคตะวันออก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766560" y="3730752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3730752"/>
            <a:ext cx="1049731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92440" y="36941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฿1,230,000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663440" y="4005072"/>
            <a:ext cx="429768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36592" y="4005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ภาคใต้ — ปิยะ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766560" y="4041648"/>
            <a:ext cx="1280160" cy="91440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041648"/>
            <a:ext cx="230429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92440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฿54,800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13.3 ใบสั่งขาย (SO) — POS Mode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Counter Sales · Tablet-first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 — เชื่อม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515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— คลัง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65960" y="850392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850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— ตั๋วคุม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71800" y="8778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877824"/>
            <a:ext cx="731520" cy="164592"/>
          </a:xfrm>
          <a:prstGeom prst="roundRect">
            <a:avLst>
              <a:gd name="adj" fmla="val 33333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87782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8778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 มิ.ย. 2569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" y="11155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ลูกค้า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37160" y="1261872"/>
            <a:ext cx="20116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12618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 จก.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111556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ทะเบียนรถ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40280" y="1261872"/>
            <a:ext cx="16459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12618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สท 70-4239/40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77640" y="111556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วันส่ง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977640" y="1261872"/>
            <a:ext cx="12801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12618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22/06/2569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1115568"/>
            <a:ext cx="16459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111556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pool: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49240" y="1261872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12618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 42,800 คงเหลือ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7160" y="1572768"/>
            <a:ext cx="5257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" y="1572768"/>
            <a:ext cx="52578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" y="157276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สินค้า / ปุ๋ย (แตะเพื่อเพิ่ม)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1810512"/>
            <a:ext cx="525780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1810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🔍  ค้นหาสูตรปุ๋ย เช่น 46-0-0, 15-5...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7180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ทั้งหมด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2044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 สูง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06908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NPK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17720" y="184708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184708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สูง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01168" y="2121408"/>
            <a:ext cx="1645920" cy="114300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56032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ยูเรีย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6032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฿18,500/ตัน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6032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฿17,200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56032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฿1,300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3090672"/>
            <a:ext cx="1536192" cy="1371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เพิ่มแล้ว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920240" y="212140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75104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975104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แอมโมเนียม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975104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฿15,900/ตัน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975104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฿14,800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975104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75104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975104" y="309067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75104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639312" y="212140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94176" y="217627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94176" y="237744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สูตรกลาง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694176" y="25420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฿17,200/ตัน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694176" y="274320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฿16,100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94176" y="290779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94176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94176" y="309067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94176" y="309067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01168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256032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โพแทส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56032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฿19,800/ตัน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56032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฿18,500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56032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6032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฿1,300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56032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6032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920240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75104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975104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สูง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975104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฿18,100/ตัน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975104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฿17,000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975104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975104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฿1,100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975104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75104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639312" y="3401568"/>
            <a:ext cx="1645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94176" y="345643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3694176" y="3657600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แอมโมเนียมP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694176" y="3822192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฿16,800/ตัน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694176" y="4023360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 ฿15,600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3694176" y="4187952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94176" y="4187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 ฿1,200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694176" y="4370832"/>
            <a:ext cx="1536192" cy="1371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94176" y="4370832"/>
            <a:ext cx="1536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 เพิ่ม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37160" y="4617720"/>
            <a:ext cx="5257800" cy="320040"/>
          </a:xfrm>
          <a:prstGeom prst="rect">
            <a:avLst/>
          </a:prstGeom>
          <a:solidFill>
            <a:srgbClr val="FFF8E6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2860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🎁  ของแถม — งบ ฿18,500 คงเหลือ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19456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19456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เสื้อ WF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20040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กระเป๋า WF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206240" y="4663440"/>
            <a:ext cx="914400" cy="201168"/>
          </a:xfrm>
          <a:prstGeom prst="roundRect">
            <a:avLst>
              <a:gd name="adj" fmla="val 2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206240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กระสอบเปล่า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486400" y="1572768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486400" y="1572768"/>
            <a:ext cx="35204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559552" y="157276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รายการสั่ง (Order Summary)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486400" y="1810512"/>
            <a:ext cx="3520440" cy="1005840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577840" y="1847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  ยูเรีย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577840" y="20482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 ตัน = 600 กระสอบ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858000" y="184708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฿555,000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5577840" y="2231136"/>
            <a:ext cx="1005840" cy="256032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577840" y="22311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−  30  +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6629400" y="2267712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AEEDA"/>
          </a:solidFill>
          <a:ln w="3810">
            <a:solidFill>
              <a:srgbClr val="BA751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29400" y="22677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฿39,000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486400" y="2871216"/>
            <a:ext cx="3520440" cy="4572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577840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ยอดสินค้า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7589520" y="2898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฿555,000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5577840" y="3063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accrual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7589520" y="3063240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฿39,000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486400" y="3328416"/>
            <a:ext cx="352044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577840" y="332841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ยอดสุทธิ  ฿555,000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5532120" y="3712464"/>
            <a:ext cx="342900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32120" y="3712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D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 ยืนยัน SO — ตั้ง Rebate accrual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13.5 Rebate Pool — FIFO Ledger + Claim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Accounting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฿1,240,000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Allocated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3172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฿684,000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3172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 ตั้งไว้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฿280,000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Claimed แล้ว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20840" y="80467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822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฿404,000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10789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160" y="1389888"/>
            <a:ext cx="88696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1389888"/>
            <a:ext cx="8869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" y="138988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FIFO Ledger — สมชาย / ภาคเหนือ / มิ.ย. 2569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1627632"/>
            <a:ext cx="886968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162763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162763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SO/Invoice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5920" y="1627632"/>
            <a:ext cx="1207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26080" y="1627632"/>
            <a:ext cx="5669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ตัน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66160" y="1627632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ราคาขาย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80560" y="1627632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NET/ตัน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1627632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Reb/ตัน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1627632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1627632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37160" y="1856232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" y="1856232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936" y="1856232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I69-03511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36776" y="1856232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16936" y="1856232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557016" y="1856232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71416" y="1856232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85816" y="1856232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91656" y="1856232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฿52,000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88936" y="1856232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55280" y="1883664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18836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37160" y="2103120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2103120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" y="2103120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I69-03598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36776" y="2103120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916936" y="2103120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557016" y="2103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471416" y="2103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฿16,100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385816" y="2103120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฿1,100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91656" y="2103120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฿22,000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488936" y="2103120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955280" y="2130552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0" y="213055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ตัดแล้ว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37160" y="2350008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3736" y="2350008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0936" y="2350008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I69-03720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636776" y="2350008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2916936" y="2350008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557016" y="2350008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฿19,800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471416" y="2350008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85816" y="2350008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391656" y="2350008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฿20,800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488936" y="2350008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3380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pending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955280" y="2377440"/>
            <a:ext cx="1005840" cy="164592"/>
          </a:xfrm>
          <a:prstGeom prst="roundRect">
            <a:avLst>
              <a:gd name="adj" fmla="val 22222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55280" y="237744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pending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37160" y="2596896"/>
            <a:ext cx="88696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2596896"/>
            <a:ext cx="4023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30936" y="2596896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636776" y="2596896"/>
            <a:ext cx="12252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2916936" y="2596896"/>
            <a:ext cx="5852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557016" y="2596896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฿18,500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471416" y="2596896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฿17,200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385816" y="2596896"/>
            <a:ext cx="950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฿1,300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391656" y="2596896"/>
            <a:ext cx="10424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฿39,000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88936" y="2596896"/>
            <a:ext cx="1499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37160" y="3822192"/>
            <a:ext cx="8869680" cy="2926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" y="3858768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3D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สร้าง Claim → CN (109)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606040" y="3877056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 pending: ฿20,800  ·  ต้องการอนุมัติ Accounting  ·  Claim ประเภท: คืนรีเบท / คืนส่วนต่าง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37160" y="4187952"/>
            <a:ext cx="8869680" cy="822960"/>
          </a:xfrm>
          <a:prstGeom prst="rect">
            <a:avLst/>
          </a:prstGeom>
          <a:solidFill>
            <a:srgbClr val="FFF8E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4224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ตัวอย่างจริง — RBD68-019 (฿55,800)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" y="4407408"/>
            <a:ext cx="6217920" cy="228600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4407408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สูตร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188720" y="440740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ตัน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7373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ราคาขาย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6517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NET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35661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Reb/ตัน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480560" y="44074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37160" y="4636008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82880" y="4636008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188720" y="4636008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19ต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7373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฿18,200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6517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฿17,000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35661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฿1,200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480560" y="4636008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฿22,800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7160" y="4837176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82880" y="4837176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188720" y="4837176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16ต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7373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฿13,200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6517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฿12,500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5661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฿700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4480560" y="4837176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฿11,200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37160" y="5038344"/>
            <a:ext cx="62179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82880" y="5038344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188720" y="5038344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8ต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7373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฿8,200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26517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฿7,700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35661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฿500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4480560" y="5038344"/>
            <a:ext cx="841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฿4,000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13.9 Paper Trail Kanban + 13.4 SO State Machine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Warehouse / Counter Sales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30352"/>
            <a:ext cx="8869680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30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🌾 WS-Sale-App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52344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สั่งขาย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47288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42232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ของแถม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37176" y="585216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5852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Paper Trail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37160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รอพิมพ์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325880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2024" y="1097280"/>
            <a:ext cx="1581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I69-03842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46-0-0/30ต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463040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K69-01512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8600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15-15-15/20ต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63040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" y="2414016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4505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I69-03801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8600" y="2615184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76148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0-0-60/10ต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463040" y="2798064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92808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92808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47672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พิมพ์แล้ว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81528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81528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947672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4248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I69-03798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84248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984248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16-20-0/60ต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18688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47672" y="1755648"/>
            <a:ext cx="15819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84248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I69-03750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84248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984248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21-0-0/25ต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18688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47672" y="2414016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84248" y="24505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K69-01508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984248" y="2615184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ร้านชัย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84248" y="276148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15-5-35/8ต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18688" y="2798064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48456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48456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3320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จ่ายออก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37176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37176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03320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9896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I69-03789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739896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บ.รุ่งเรือง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39896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46-0-0/50ต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974336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03320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9896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I69-03777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739896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หจก.สมบูรณ์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739896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16-16-16/30ต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974336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04104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04104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58968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รับคืน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592824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92824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458968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95544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I69-03701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495544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บ.เจริญผล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495544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13-13-21/15ต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729984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58968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95544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K69-01490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95544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ร้านรุ่งสว่าง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495544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46-0-0/20ต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729984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59752" y="822960"/>
            <a:ext cx="1691640" cy="3200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159752" y="822960"/>
            <a:ext cx="1691640" cy="2286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14616" y="822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ยืนยันครบ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8348472" y="859536"/>
            <a:ext cx="411480" cy="155448"/>
          </a:xfrm>
          <a:prstGeom prst="roundRect">
            <a:avLst>
              <a:gd name="adj" fmla="val 23529"/>
            </a:avLst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48472" y="859536"/>
            <a:ext cx="411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500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214616" y="1097280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51192" y="113385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I69-03680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251192" y="1298448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บ.ปุ๋ยสุโขทัย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251192" y="1444752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46-0-0/80ต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485632" y="1481328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14616" y="1755648"/>
            <a:ext cx="15819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51192" y="179222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K69-01450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251192" y="1956816"/>
            <a:ext cx="1508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หจก.เกษตร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251192" y="2103120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0-0-60/12ต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485632" y="2139696"/>
            <a:ext cx="201168" cy="146304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37160" y="4133088"/>
            <a:ext cx="8869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7160" y="4133088"/>
            <a:ext cx="8869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0312" y="413308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State Machine — wf.SalesOrder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28600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8600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DRAFT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228600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แก้ได้ทุก field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2148840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2404872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404872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2404872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ตั้ง Rebate accrual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325112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4581144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581144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PICKING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4581144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จัดของ (ห้ามแก้)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6501384" y="444398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6757416" y="437083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1EFE8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57416" y="43708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SHIPPED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6757416" y="45720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 import → WS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228600" y="475488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Unlock → กลับ DRAFT + Reverse accrual (reversedFlag=1, ไม่ลบ)  ·  ทุก transition → wf.SalesOrderAudit (actor, IP, timestamp, before/after JSON) · immutable 7 ปี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UI — 13.7 ของแถม &amp; 13.10 อนุมัติ/Unlock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/ Approver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66928"/>
            <a:ext cx="43434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66928"/>
            <a:ext cx="434340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566928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13.7 ของแถม (Giveaway)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59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เสื้อ World Fert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06070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225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48 ชิ้น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138988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เหนือ ฿45,000 / ฿62,000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08960" y="87782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8778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164592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6824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กระเป๋า WF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8836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" y="204825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12 ชิ้น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221284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กลาง ฿18,500 / ฿30,000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08960" y="170078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700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2468880"/>
            <a:ext cx="4206240" cy="749808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054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กระสอบเปล่า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70662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P00010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287121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คงเหลือ: 200 ชิ้น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30358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ตะวันออก ฿22,000 / ฿40,000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2523744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5237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" y="3310128"/>
            <a:ext cx="4343400" cy="914400"/>
          </a:xfrm>
          <a:prstGeom prst="rect">
            <a:avLst/>
          </a:prstGeom>
          <a:solidFill>
            <a:srgbClr val="FFF8E6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364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54F0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  งบเบิกเกิน → แจ้งเตือน (ติดลบได้ตามพฤติกรรมจริง)  ·  สต็อกของแถมจัดใน schema wf  ·  แยกงบต่อภาค→Sales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566928"/>
            <a:ext cx="4434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566928"/>
            <a:ext cx="44348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566928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13.10 Approval Levels — กฎเฉพาะ (ยืนยันจากทีมขาย)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82296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5152" y="822960"/>
            <a:ext cx="109728" cy="7863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8595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แก้ไขตอน Picking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106070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สุรชัย คนเดียว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122529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ApproveFlagPicking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169164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691640"/>
            <a:ext cx="109728" cy="78638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7282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ขายเกินราคาตั้ง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19293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รุ่งนิรันดร์ (1 คน)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209397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 SO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45152" y="2560320"/>
            <a:ext cx="4297680" cy="78638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5152" y="2560320"/>
            <a:ext cx="109728" cy="78638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5968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ขายต่ำกว่า ≤500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279806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ผู้อนุมัติ: ผจก. 3 ท่าน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29626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Flag: ApproveFlag SO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3493008"/>
            <a:ext cx="4434840" cy="150876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493008"/>
            <a:ext cx="443484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3493008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Unlock Request Flow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81728" y="373075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 ขอ Unlock → Approver รับแจ้ง real-time (WebSocket)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อนุมัติ: SO กลับ DRAFT + Reverse RebateLedger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ปฏิเสธ: SO คงสถานะ + บันทึก Audit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action → wf.SalesOrderAudit (immutable)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สถาปัตยกรรมระบบ — 2-Tier, SQL Server เดียว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ไม่ใช้ PostgreSQL / Redis / Message Queue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560320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React 19 + Vite + TypeScript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Tailwind v4 + lucide-react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Tablet-first (768–1024px)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auth · polling (5s)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685800"/>
            <a:ext cx="2560320" cy="1371600"/>
          </a:xfrm>
          <a:prstGeom prst="rect">
            <a:avLst/>
          </a:prstGeom>
          <a:solidFill>
            <a:srgbClr val="F1EFE8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Express (Node 22) + REST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(jsonwebtoken+bcrypt)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RBAC 7 roles · polling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mssql/msnodesqlv8 (named-pipe)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685800"/>
            <a:ext cx="2560320" cy="137160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758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SQL Server 2022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332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dbwins_worldfert9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wf_owner: CONTROL wf เท่านั้น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wf_reader: db_datareader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dbo เขียนไม่ได้ (permission)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0" y="1143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1143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311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ข้อจำกัดและการรักษาความถูกต้อง (Non-Invasive)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450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wf และ dbo อยู่ DB เดียวกัน → JOIN ข้ามได้ตรง ไม่ต้อง sync/cache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dbo = READ-ONLY ผ่าน View เท่านั้น · ห้ามเขียน dbo เด็ดขาด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ส่งข้อมูลเข้า WINSpeed ผ่าน SO Export/Import (SOHD/SODT.TXT) · WINSpeed post GL เอง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ระบบใหม่ล่ม → กลับไปคีย์ WINSpeed ได้ปกติ · ไม่มี trigger/SP post GL อัตโนมัติใน DB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9144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08960"/>
            <a:ext cx="85953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08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schema wf — Entities หลัก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AppUser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664208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SalesOrderLine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322576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SalesOrderAudit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980944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RebatePool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639312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RebateLedger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297680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RebateClaim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956048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GiveawayBudget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614416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4416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GiveawayIssue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272784" y="336499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C44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336499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GoodExtra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47472" y="3621024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 ตาราง + 4 Views READ-ONLY บน dbo: v_Customer · v_FertGood · v_CurrentPrice · v_ControlTicket   |   dbo: EMGood (417) · EMCust (790) · EMEmp (59) · SOInvHD (282,087)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114800"/>
            <a:ext cx="85953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11480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Integration — SO Import Flow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3342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 (CONFIRMED→PICKING→SHIPPED) → SOHD.TXT + SODT.TXT (Tab-delimited, DocuType=104, VATType=3, EmpID จาก AppUser↔EMEmp) → WINSpeed Import (w_importexport_so)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WINSpeed ออกใบกำกับ (107) + post GL เอง (WINSpeed = เจ้าของบัญชี 100%) → poll DocuNo กลับมา sync สถานะ (read-only)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แผนการพัฒนา v5 — Timeline 20 พ.ค. – 31 ก.ค. 2569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คืบหน้า 65% · เกินแผน 20%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คืบหน้าจริง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เกินแผน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30 มิ.ย.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เสร็จ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56692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603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31 ก.ค.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969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Go-Live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พ.ค. 2569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9664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มิ.ย. 2569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87440" y="13258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ก.ค. 2569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7160" y="1554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เก็บ Requirement &amp; SRS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1609344"/>
            <a:ext cx="103632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609344"/>
            <a:ext cx="94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7160" y="20116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DB Schema + Auth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51200" y="2066544"/>
            <a:ext cx="94996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6920" y="2066544"/>
            <a:ext cx="858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7160" y="2468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 State Machine (Frontend+API)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69360" y="2523744"/>
            <a:ext cx="1122680" cy="274320"/>
          </a:xfrm>
          <a:prstGeom prst="roundRect">
            <a:avLst>
              <a:gd name="adj" fmla="val 1333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5080" y="2523744"/>
            <a:ext cx="1031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7160" y="29260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FIFO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3880" y="2980944"/>
            <a:ext cx="129540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3880" y="29809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3880" y="29809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9600" y="2980944"/>
            <a:ext cx="1203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60%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37160" y="33832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Paper Trail + Unlock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64760" y="343814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4760" y="3438144"/>
            <a:ext cx="3108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64760" y="3438144"/>
            <a:ext cx="310896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10480" y="343814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40%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37160" y="3840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UI (ไม่เชื่อม WS)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37480" y="3895344"/>
            <a:ext cx="86360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37480" y="3895344"/>
            <a:ext cx="3022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37480" y="3895344"/>
            <a:ext cx="302260" cy="27432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3200" y="3895344"/>
            <a:ext cx="77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35%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37160" y="42976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Integration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87440" y="4352544"/>
            <a:ext cx="1468120" cy="274320"/>
          </a:xfrm>
          <a:prstGeom prst="roundRect">
            <a:avLst>
              <a:gd name="adj" fmla="val 1333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3160" y="4352544"/>
            <a:ext cx="137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37160" y="47548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UAT + Go-Live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14640" y="4809744"/>
            <a:ext cx="863600" cy="274320"/>
          </a:xfrm>
          <a:prstGeom prst="roundRect">
            <a:avLst>
              <a:gd name="adj" fmla="val 13333"/>
            </a:avLst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60360" y="4809744"/>
            <a:ext cx="77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10200" y="1463040"/>
            <a:ext cx="0" cy="3840480"/>
          </a:xfrm>
          <a:prstGeom prst="line">
            <a:avLst/>
          </a:prstGeom>
          <a:noFill/>
          <a:ln w="19050">
            <a:solidFill>
              <a:srgbClr val="E24B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27320" y="1298448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วันนี้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01080" y="1463040"/>
            <a:ext cx="0" cy="3840480"/>
          </a:xfrm>
          <a:prstGeom prst="line">
            <a:avLst/>
          </a:prstGeom>
          <a:noFill/>
          <a:ln w="12700">
            <a:solidFill>
              <a:srgbClr val="3B6D11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826760" y="12984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Complete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8759952" y="1463040"/>
            <a:ext cx="0" cy="3840480"/>
          </a:xfrm>
          <a:prstGeom prst="line">
            <a:avLst/>
          </a:prstGeom>
          <a:noFill/>
          <a:ln w="12700">
            <a:solidFill>
              <a:srgbClr val="0C447C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8412480" y="129844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Go-Live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Traceability + สถานะการพัฒนา — v5.0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D4F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23 มิ.ย. 2569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59436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94360"/>
            <a:ext cx="429768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" y="59436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Requirement ↔ FR Traceability (ครบทุกข้อ)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84124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412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841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#1 แม่-ลูกตัน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841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FR-019 Mother/Baby Load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11556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11556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#2 รายงานชุดตั๋ว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1115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FR-021 Control Ticket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138988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3898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389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#3 ของแถม+สต็อก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FR-020 Giveaway Budget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166420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#4 รับเฉพาะชุด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FR-021 Ticket Set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193852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9385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1938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 #5 ตรวจซ้ำ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31720" y="1938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FR-022 Verification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21284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1284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212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FIFO แยก Sales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31720" y="2212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FR-008/9/10/11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48716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48716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 WINSpeed ถูกต้อง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31720" y="2487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D-03(B) SO Import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82880" y="2761488"/>
            <a:ext cx="4206240" cy="256032"/>
          </a:xfrm>
          <a:prstGeom prst="rect">
            <a:avLst/>
          </a:prstGeom>
          <a:solidFill>
            <a:srgbClr val="F1EFE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76148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 aging 30/45 วัน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2761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FR-017 Dashboard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3035808"/>
            <a:ext cx="4206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358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Approval เฉพาะคน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3172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47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FR-006/007 §5.5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26280" y="594360"/>
            <a:ext cx="44805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594360"/>
            <a:ext cx="4480560" cy="237744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9432" y="5943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สถานะการพัฒนา — Implemented 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5152" y="8229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74336" y="82296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wf schema (deployed)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74336" y="98755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 ตาราง + 4 views · wf_reader/wf_owner · dbo เขียนไม่ได้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45152" y="13258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74336" y="132588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Backend API (Express)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74336" y="149047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JWT + RBAC · SO state machine · msnodesqlv8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45152" y="18288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45152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74336" y="182880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Rebate Engine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74336" y="199339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accrual ต่อบรรทัด → FIFO cut → Claim → CN (109)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45152" y="23317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74336" y="233172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WINSpeed Import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74336" y="24963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SOHD/SODT.TXT (EmpID map) → poll DocuNo กลับ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45152" y="28346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F1F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974336" y="283464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+ Admin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974336" y="299923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POS · Picking · Map พนักงาน · ทดสอบ E2E ผ่าน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26280" y="3200400"/>
            <a:ext cx="4480560" cy="868680"/>
          </a:xfrm>
          <a:prstGeom prst="rect">
            <a:avLst/>
          </a:prstGeom>
          <a:solidFill>
            <a:srgbClr val="EAF3DE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45152" y="3246120"/>
            <a:ext cx="42976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Frontend (ไม่เชื่อม WS) → 30 มิ.ย. 2569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Go-Live เต็มระบบ → 31 ก.ค. 2569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Warranty 30 วันหลัง Go-Live · MA option 12 เดือน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754880"/>
            <a:ext cx="9144000" cy="5029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754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DC8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World Fert Co., Ltd.  ·  WS-Sale-App v5.0 (Production)  ·  22 มิ.ย. 2569  ·  ข้อมูลยืนยันจาก query DB จริง  |  dbo = READ-ONLY  |  schema wf = สร้างใหม่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v5.0 — World Fert</dc:title>
  <dc:subject>PptxGenJS Presentation</dc:subject>
  <dc:creator>World Fert</dc:creator>
  <cp:lastModifiedBy>World Fert</cp:lastModifiedBy>
  <cp:revision>1</cp:revision>
  <dcterms:created xsi:type="dcterms:W3CDTF">2026-06-23T05:58:57Z</dcterms:created>
  <dcterms:modified xsi:type="dcterms:W3CDTF">2026-06-23T05:58:57Z</dcterms:modified>
</cp:coreProperties>
</file>