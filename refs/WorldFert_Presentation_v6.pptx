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20"/>
    <p:sldId id="270" r:id="rId21"/>
    <p:sldId id="271" r:id="rId22"/>
    <p:sldId id="272" r:id="rId23"/>
    <p:sldId id="273" r:id="rId2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4800"/>
            <a:ext cx="9144000" cy="114300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0"/>
            <a:ext cx="274320" cy="1143000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315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WS-Sale-App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ระบบจัดการสั่งขายปุ๋ยและส่วนลดรีเบท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240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FB3E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บริษัท เวิลด์ เฟอท จำกัด  |  World Fert Co., Ltd.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6517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8FB8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Prosoft WINSpeed v9.0  ·  SQL Server 2022  ·  dbwins_worldfert9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DC8E8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v6.2 (Production)  ·  27 มิถุนายน 2569  ·  React 19 + Express + SQL Server (msnodesqlv8)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8FB8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ข้อมูลยืนยันจาก query DB จริง  ·  282,087 ใบกำกับ  ·  790 ลูกค้า  ·  417 สินค้า  ·  ปี 2555–2568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ภาพรวมฐานข้อมูล WINSpeed v9.0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dbwins_worldfert9 · SQL Server 2022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2880" y="640080"/>
            <a:ext cx="1371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7665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669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28600" y="10424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ตาราง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45920" y="640080"/>
            <a:ext cx="1371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37360" y="67665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8,987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91640" y="10424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คอลัมน์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08960" y="640080"/>
            <a:ext cx="1371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67665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282,087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154680" y="10424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ใบกำกับ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0" y="640080"/>
            <a:ext cx="1371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67665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107,018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617720" y="10424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ใบจอง/SO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035040" y="640080"/>
            <a:ext cx="1371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67665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790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080760" y="10424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ลูกค้า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640080"/>
            <a:ext cx="1371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89520" y="67665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417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543800" y="10424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สินค้า/ปุ๋ย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82880" y="1417320"/>
            <a:ext cx="877824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14630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⚠  FK จริงมีแค่ 4 รายการ — ความสัมพันธ์ทั้งหมดใช้ Naming Convention (*ID → PK master)  |  ICStock, SOPickingHD/DT, ICPriceHD/DT, EMCreditTerm = ว่าง (ไม่ใช้)  |  EMCust.CreditAmnt = 0 ทุกราย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182880" y="1645920"/>
            <a:ext cx="8778240" cy="228600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8600" y="1645920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ตาราง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874520" y="1645920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แถว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520440" y="1645920"/>
            <a:ext cx="5230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หมายเหตุ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82880" y="1865376"/>
            <a:ext cx="877824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28600" y="1865376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SOHD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874520" y="1865376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107,018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520440" y="1865376"/>
            <a:ext cx="5230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DocuType 103=54,095 / 104=52,923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82880" y="2084832"/>
            <a:ext cx="877824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8600" y="2084832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SOInvHD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874520" y="2084832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282,087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520440" y="2084832"/>
            <a:ext cx="5230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107=146,276 / 202=113,043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82880" y="2304288"/>
            <a:ext cx="877824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2304288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SOInvDT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874520" y="2304288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471,641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520440" y="2304288"/>
            <a:ext cx="5230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GoodID=NULL 224,571 rows (misc/service)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82880" y="2523744"/>
            <a:ext cx="877824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28600" y="2523744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GLHD/GLDT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874520" y="2523744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384,400 / 813,085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520440" y="2523744"/>
            <a:ext cx="5230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DocuType=501 ทุกแถว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82880" y="2743200"/>
            <a:ext cx="877824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28600" y="2743200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EMGood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874520" y="2743200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417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520440" y="2743200"/>
            <a:ext cx="5230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StockFlag='Y' 193 ตัว (ปุ๋ย FG)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82880" y="2962656"/>
            <a:ext cx="877824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28600" y="2962656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EMSetPriceHD/DT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874520" y="2962656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129 / 4,054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520440" y="2962656"/>
            <a:ext cx="5230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ราคา NET 2022–2025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Document Flow — DocuType &amp; Join Keys (ยืนยันจากข้อมูลจริง)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82880" y="594360"/>
            <a:ext cx="8778240" cy="228600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594360"/>
            <a:ext cx="5669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Type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" y="594360"/>
            <a:ext cx="19385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ชื่อ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880360" y="594360"/>
            <a:ext cx="17556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ตาราง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709160" y="594360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PK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897880" y="594360"/>
            <a:ext cx="28529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หมายเหตุ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82880" y="822960"/>
            <a:ext cx="8778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822960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103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68680" y="822960"/>
            <a:ext cx="19385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ใบจอง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880360" y="822960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SOHD/SODT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09160" y="822960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97880" y="822960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AppvFlag=W→Y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82880" y="1060704"/>
            <a:ext cx="8778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" y="1060704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104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68680" y="1060704"/>
            <a:ext cx="19385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ใบสั่งขาย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880360" y="1060704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SOHD/SODT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09160" y="1060704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97880" y="1060704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RefNo=AI68-XXXXX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82880" y="1298448"/>
            <a:ext cx="8778240" cy="237744"/>
          </a:xfrm>
          <a:prstGeom prst="rect">
            <a:avLst/>
          </a:prstGeom>
          <a:solidFill>
            <a:srgbClr val="EAF3DE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8600" y="1298448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107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68680" y="1298448"/>
            <a:ext cx="19385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ใบกำกับขายเชื่อ★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880360" y="1298448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SOInvHD/DT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09160" y="1298448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SOInvID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897880" y="1298448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PostGL='Y'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82880" y="1536192"/>
            <a:ext cx="8778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" y="1536192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202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68680" y="1536192"/>
            <a:ext cx="19385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Flow ลัด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880360" y="1536192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SOInvHD/DT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09160" y="1536192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SOInvID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897880" y="1536192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DocuNo=SONo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82880" y="1773936"/>
            <a:ext cx="8778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1773936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109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68680" y="1773936"/>
            <a:ext cx="19385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Credit Note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880360" y="1773936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SOInvHD/DT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709160" y="1773936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SOInvID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897880" y="177393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RefSOID→orig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82880" y="2011680"/>
            <a:ext cx="8778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8600" y="2011680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110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68680" y="2011680"/>
            <a:ext cx="19385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Debit Note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880360" y="2011680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SOInvHD/DT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709160" y="2011680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SOInvID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897880" y="2011680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RefNo→orig.DocuNo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82880" y="2249424"/>
            <a:ext cx="8778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28600" y="2249424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501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68680" y="2249424"/>
            <a:ext cx="19385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GL Journal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880360" y="2249424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GLHD/GLDT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709160" y="2249424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GLID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897880" y="2249424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FromFlag=107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82880" y="2487168"/>
            <a:ext cx="8778240" cy="731520"/>
          </a:xfrm>
          <a:prstGeom prst="rect">
            <a:avLst/>
          </a:prstGeom>
          <a:solidFill>
            <a:srgbClr val="E6F1FB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0040" y="252374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Join Keys ที่ยืนยันแล้ว: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320040" y="2706624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SOHD104.RefNo = SOHD103.AppvDocuNo  ·  SOInvHD.SONo = SOHD104.DocuNo  ·  GLHD.DocuNo = SOInvHD.DocuNo AND FromFlag=107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320040" y="2889504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CN 109: SOInvHD.RefSOID = orig.SOInvID  ·  DN 110: SOInvHD.RefNo = orig.DocuNo (RefSOID=NULL!)  ·  รับชำระ: ARReceDT.SOInvID = SOInvHD.SOInvID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182880" y="3291840"/>
            <a:ext cx="87782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20040" y="3328416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GL Flow (ยืนยันแล้ว):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320040" y="3511296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SOHD(103→104) → SOInvHD(107, PostGL='Y') → GLHD(501, FromFlag=107) → GLDT → EMAcc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320040" y="3694176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Join ถูก: GLHD.DocuNo = SOInvHD.DocuNo AND FromFlag=107  |  ✓ GLHD.FromID = SOInvHD.PostID  |  ✗ ผิด: GLHD.FromID = SOInvHD.SOInvID  |  GL: Dr 1037 / Cr 1120 · ปุ๋ยยกเว้น VAT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ตั๋วคุม / เข้าชั่ง-ชั่งออก — กระบวนการและข้อมูลจริง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82880" y="594360"/>
            <a:ext cx="2103120" cy="18288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" y="6400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  ลูกค้าจอง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56032" y="950976"/>
            <a:ext cx="195681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SOHD DocuType=103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AppvFlag='W' (รอชั่ง)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TransRegistration=ทะเบียนรถ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176272" y="100584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395728" y="594360"/>
            <a:ext cx="2103120" cy="1828800"/>
          </a:xfrm>
          <a:prstGeom prst="rect">
            <a:avLst/>
          </a:prstGeom>
          <a:solidFill>
            <a:srgbClr val="E6F1FB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68880" y="6400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  เข้าชั่ง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468880" y="950976"/>
            <a:ext cx="195681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AppvFlag → 'Y'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AppvDocuNo → 'AI68-XXXXX'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AppvDate → วันที่ชั่ง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389120" y="100584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608576" y="594360"/>
            <a:ext cx="2103120" cy="18288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81728" y="6400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  ชั่งออก / ปิด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81728" y="950976"/>
            <a:ext cx="195681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SOHD DocuType=104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RefNo = AppvDocuNo (AI...)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SODT.Refno = 'AI68-XXXXX'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01968" y="100584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821424" y="594360"/>
            <a:ext cx="2103120" cy="1828800"/>
          </a:xfrm>
          <a:prstGeom prst="rect">
            <a:avLst/>
          </a:prstGeom>
          <a:solidFill>
            <a:srgbClr val="E6F1FB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94576" y="6400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  ออกใบกำกับ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94576" y="950976"/>
            <a:ext cx="195681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SOInvHD DocuType=107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SONo = SOHD104.DocuNo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PostGL='Y'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82880" y="2514600"/>
            <a:ext cx="8778240" cy="548640"/>
          </a:xfrm>
          <a:prstGeom prst="rect">
            <a:avLst/>
          </a:prstGeom>
          <a:solidFill>
            <a:srgbClr val="FFF3CD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254203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⚠  ไม่มีใน WINSpeed — ต้องสร้างใน schema wf: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0040" y="272491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wf.WeighTicket: Gross/Tare/Net weight (kg) + weighInAt + weighOutAt timestamps  |  ไม่มี Gross/Tare/Net weight ใน WS  |  ไม่มี Weigh timestamp  |  BTCar/TMTruck ว่าง (0 rows)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82880" y="3154680"/>
            <a:ext cx="87782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318211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ข้อมูลจริง: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0040" y="338328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รอชั่ง Active (W,Y):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20040" y="3566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28,290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514600" y="338328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ผ่านชั่ง Active (Y,Y):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14600" y="3566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24,632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709160" y="338328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AppvDocuNo prefix 'AI':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09160" y="3566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25,639 (99.8%)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903720" y="338328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 104 อ้างตั๋วคุม: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903720" y="3566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52,923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UI/UX Design System — Light Theme Standard v6.2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React 19 + Vite + TypeScript + Tailwind v4 + lucide-react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2880" y="594360"/>
            <a:ext cx="640080" cy="365760"/>
          </a:xfrm>
          <a:prstGeom prst="rect">
            <a:avLst/>
          </a:prstGeom>
          <a:solidFill>
            <a:srgbClr val="0C447C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" y="594360"/>
            <a:ext cx="640080" cy="365760"/>
          </a:xfrm>
          <a:prstGeom prst="rect">
            <a:avLst/>
          </a:prstGeom>
          <a:solidFill>
            <a:srgbClr val="E6F1FB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978408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Primary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82880" y="1143000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#0C447C / #E6F1FB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82880" y="130759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Header, primary actions / Light hover, selected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45920" y="594360"/>
            <a:ext cx="6400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22576" y="594360"/>
            <a:ext cx="640080" cy="36576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45920" y="978408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Surface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645920" y="1143000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#FFFFFF / #F1EFE8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645920" y="130759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Card background / Page background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108960" y="594360"/>
            <a:ext cx="640080" cy="365760"/>
          </a:xfrm>
          <a:prstGeom prst="rect">
            <a:avLst/>
          </a:prstGeom>
          <a:solidFill>
            <a:srgbClr val="D3D1C7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85616" y="594360"/>
            <a:ext cx="640080" cy="365760"/>
          </a:xfrm>
          <a:prstGeom prst="rect">
            <a:avLst/>
          </a:prstGeom>
          <a:solidFill>
            <a:srgbClr val="888780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08960" y="978408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Border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108960" y="1143000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#D3D1C7 / #888780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108960" y="130759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0.5px all cards / Text secondary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572000" y="594360"/>
            <a:ext cx="640080" cy="365760"/>
          </a:xfrm>
          <a:prstGeom prst="rect">
            <a:avLst/>
          </a:prstGeom>
          <a:solidFill>
            <a:srgbClr val="3B6D11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48656" y="594360"/>
            <a:ext cx="640080" cy="365760"/>
          </a:xfrm>
          <a:prstGeom prst="rect">
            <a:avLst/>
          </a:prstGeom>
          <a:solidFill>
            <a:srgbClr val="EAF3DE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0" y="978408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Success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0" y="1143000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#3B6D11 / #EAF3DE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572000" y="130759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Confirmed, shipped / Success bg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035040" y="594360"/>
            <a:ext cx="640080" cy="365760"/>
          </a:xfrm>
          <a:prstGeom prst="rect">
            <a:avLst/>
          </a:prstGeom>
          <a:solidFill>
            <a:srgbClr val="BA7517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11696" y="594360"/>
            <a:ext cx="640080" cy="365760"/>
          </a:xfrm>
          <a:prstGeom prst="rect">
            <a:avLst/>
          </a:prstGeom>
          <a:solidFill>
            <a:srgbClr val="FAEEDA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35040" y="978408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035040" y="1143000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#BA7517 / #FAEEDA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6035040" y="130759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accrual / Rebate bg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7498080" y="594360"/>
            <a:ext cx="640080" cy="365760"/>
          </a:xfrm>
          <a:prstGeom prst="rect">
            <a:avLst/>
          </a:prstGeom>
          <a:solidFill>
            <a:srgbClr val="A32D2D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74736" y="594360"/>
            <a:ext cx="640080" cy="365760"/>
          </a:xfrm>
          <a:prstGeom prst="rect">
            <a:avLst/>
          </a:prstGeom>
          <a:solidFill>
            <a:srgbClr val="F09595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0" y="978408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Danger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498080" y="1143000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#A32D2D / #F09595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498080" y="130759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Error, late &gt;45d / Danger bg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182880" y="1554480"/>
            <a:ext cx="50292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82880" y="1554480"/>
            <a:ext cx="502920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032" y="1554480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Status Pills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74320" y="1810512"/>
            <a:ext cx="896112" cy="201168"/>
          </a:xfrm>
          <a:prstGeom prst="roundRect">
            <a:avLst>
              <a:gd name="adj" fmla="val 27273"/>
            </a:avLst>
          </a:prstGeom>
          <a:solidFill>
            <a:srgbClr val="D3D1C7"/>
          </a:solidFill>
          <a:ln w="12700">
            <a:solidFill>
              <a:srgbClr val="D3D1C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1810512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444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DRAFT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243584" y="1810512"/>
            <a:ext cx="896112" cy="201168"/>
          </a:xfrm>
          <a:prstGeom prst="roundRect">
            <a:avLst>
              <a:gd name="adj" fmla="val 27273"/>
            </a:avLst>
          </a:prstGeom>
          <a:solidFill>
            <a:srgbClr val="97C459"/>
          </a:solidFill>
          <a:ln w="12700">
            <a:solidFill>
              <a:srgbClr val="97C45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243584" y="1810512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7500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CONFIRMED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212848" y="1810512"/>
            <a:ext cx="896112" cy="201168"/>
          </a:xfrm>
          <a:prstGeom prst="roundRect">
            <a:avLst>
              <a:gd name="adj" fmla="val 27273"/>
            </a:avLst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12848" y="1810512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12402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PICKING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3182112" y="1810512"/>
            <a:ext cx="896112" cy="201168"/>
          </a:xfrm>
          <a:prstGeom prst="roundRect">
            <a:avLst>
              <a:gd name="adj" fmla="val 27273"/>
            </a:avLst>
          </a:prstGeom>
          <a:solidFill>
            <a:srgbClr val="85B7EB"/>
          </a:solidFill>
          <a:ln w="12700">
            <a:solidFill>
              <a:srgbClr val="85B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182112" y="1810512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42C53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SHIPPED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151376" y="1810512"/>
            <a:ext cx="896112" cy="201168"/>
          </a:xfrm>
          <a:prstGeom prst="roundRect">
            <a:avLst>
              <a:gd name="adj" fmla="val 27273"/>
            </a:avLst>
          </a:prstGeom>
          <a:solidFill>
            <a:srgbClr val="F09595"/>
          </a:solidFill>
          <a:ln w="12700">
            <a:solidFill>
              <a:srgbClr val="F0959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51376" y="1810512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01313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CANCELLED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274320" y="2048256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&gt;30 วัน = เหลือง  |  &gt;45 วัน = แดง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274320" y="2267712"/>
            <a:ext cx="4663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Font: Prompt (Thai) / System-UI  |  Touch target ≥ 44px  |  Tablet-first 768–1024px  |  Radius: 8px card / 6px input / 4px pill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303520" y="1554480"/>
            <a:ext cx="36576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303520" y="1554480"/>
            <a:ext cx="365760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376672" y="155448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Typography Scale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394960" y="1792224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Title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5394960" y="1993392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Section Header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394960" y="2157984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Body text / 46-0-0 ยูเรีย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394960" y="2322576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LABEL  ·  Caption ฿18,500/ตัน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82880" y="2633472"/>
            <a:ext cx="87782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82880" y="2633472"/>
            <a:ext cx="877824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56032" y="2633472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Component Tokens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320040" y="2871216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Border: 0.5px solid #D3D1C7  |  Card radius: 8px  |  Page bg: #F1EFE8  |  Card bg: #FFFFFF  |  Header bg: #0C447C  |  Btn Primary: #0C447C/#E6F1FB  |  Btn Confirm: #3B6D11/#EAF3DE  |  Input height: 44px  |  Icon: Tabler Outline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320040" y="3072384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7 บทบาทผู้ใช้: SALES · COUNTER_SALES · WAREHOUSE · WEIGHBRIDGE · APPROVER · ACCOUNTING · ADMIN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UI — 13.2 Dashboard (real-time)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Counter Sales / Warehouse / Approver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" y="530352"/>
            <a:ext cx="8869680" cy="29260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5303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🌾 WS-Sale-App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057400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57400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Dashboard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52344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52344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 สั่งขาย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447288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47288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142232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42232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ของแถม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837176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37176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รายงาน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37160" y="868680"/>
            <a:ext cx="1691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" y="896112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32D2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142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" y="1188720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ตั๋วคงค้าง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892808" y="868680"/>
            <a:ext cx="1691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92808" y="896112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A751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18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892808" y="1188720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รอชั่งวันนี้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48456" y="868680"/>
            <a:ext cx="1691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48456" y="896112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7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648456" y="1188720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รถในโรงงาน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04104" y="868680"/>
            <a:ext cx="1691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04104" y="896112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฿2.4M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404104" y="1188720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pool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159752" y="868680"/>
            <a:ext cx="1691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59752" y="896112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34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159752" y="1188720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 วันนี้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37160" y="1481328"/>
            <a:ext cx="438912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7160" y="1481328"/>
            <a:ext cx="438912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0312" y="1481328"/>
            <a:ext cx="4297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ตั๋วคงค้าง aging  (&gt;30d=🟡 &gt;45d=🔴)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37160" y="1719072"/>
            <a:ext cx="4389120" cy="228600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82880" y="1719072"/>
            <a:ext cx="13898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ลูกค้า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645920" y="1719072"/>
            <a:ext cx="1207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สูตร/ตัน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2926080" y="1719072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วัน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657600" y="1719072"/>
            <a:ext cx="9326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สถานะ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37160" y="1947672"/>
            <a:ext cx="4389120" cy="228600"/>
          </a:xfrm>
          <a:prstGeom prst="rect">
            <a:avLst/>
          </a:prstGeom>
          <a:solidFill>
            <a:srgbClr val="F09595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82880" y="194767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บ.ปุ๋ยสุโขทัย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618488" y="1947672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46-0-0/40ต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2871216" y="194767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32D2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52 วัน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3575304" y="1947672"/>
            <a:ext cx="960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รอชั่ง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37160" y="2176272"/>
            <a:ext cx="4389120" cy="228600"/>
          </a:xfrm>
          <a:prstGeom prst="rect">
            <a:avLst/>
          </a:prstGeom>
          <a:solidFill>
            <a:srgbClr val="FFF3CD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82880" y="217627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หจก.เกษตรอีสาน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1618488" y="2176272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15-15-15/20ต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2871216" y="217627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38 วัน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3575304" y="2176272"/>
            <a:ext cx="960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Confirm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37160" y="2404872"/>
            <a:ext cx="4389120" cy="228600"/>
          </a:xfrm>
          <a:prstGeom prst="rect">
            <a:avLst/>
          </a:prstGeom>
          <a:solidFill>
            <a:srgbClr val="FFF3CD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82880" y="240487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ร้านชัยเกษตร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1618488" y="2404872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0-0-60/10ต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2871216" y="240487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31 วัน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3575304" y="2404872"/>
            <a:ext cx="960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Confirm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137160" y="2633472"/>
            <a:ext cx="438912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82880" y="263347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บ.เจริญผล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1618488" y="2633472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16-20-0/60ต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2871216" y="263347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22 วัน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3575304" y="2633472"/>
            <a:ext cx="960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Picking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37160" y="2862072"/>
            <a:ext cx="438912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82880" y="286207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บ.รุ่งเรือง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1618488" y="2862072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21-0-0/35ต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2871216" y="286207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15 วัน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3575304" y="2862072"/>
            <a:ext cx="960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Shipped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4617720" y="1481328"/>
            <a:ext cx="438912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617720" y="1481328"/>
            <a:ext cx="438912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690872" y="1481328"/>
            <a:ext cx="4297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สถานะรถ / Rebate Pool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663440" y="1737360"/>
            <a:ext cx="429768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709160" y="17373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สท 70-4239/40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5925312" y="173736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46-0-0(40t)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7315200" y="1773936"/>
            <a:ext cx="868680" cy="182880"/>
          </a:xfrm>
          <a:prstGeom prst="roundRect">
            <a:avLst>
              <a:gd name="adj" fmla="val 30000"/>
            </a:avLst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315200" y="1773936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กำลังรับ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663440" y="2011680"/>
            <a:ext cx="429768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709160" y="201168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นบ 80-1234/35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5925312" y="20116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21-0-0(35t)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315200" y="2048256"/>
            <a:ext cx="868680" cy="182880"/>
          </a:xfrm>
          <a:prstGeom prst="roundRect">
            <a:avLst>
              <a:gd name="adj" fmla="val 30000"/>
            </a:avLst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315200" y="2048256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กำลังรับ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4663440" y="2286000"/>
            <a:ext cx="429768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709160" y="228600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ชม 90-5678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5925312" y="22860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0-0-60(10t)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7315200" y="2322576"/>
            <a:ext cx="868680" cy="182880"/>
          </a:xfrm>
          <a:prstGeom prst="roundRect">
            <a:avLst>
              <a:gd name="adj" fmla="val 30000"/>
            </a:avLst>
          </a:prstGeom>
          <a:solidFill>
            <a:srgbClr val="D3D1C7"/>
          </a:solidFill>
          <a:ln w="12700">
            <a:solidFill>
              <a:srgbClr val="D3D1C7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15200" y="2322576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รอคิว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4663440" y="2560320"/>
            <a:ext cx="429768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709160" y="256032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กก 60-9012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5925312" y="25603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16-20-0(60t)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7315200" y="2596896"/>
            <a:ext cx="868680" cy="182880"/>
          </a:xfrm>
          <a:prstGeom prst="roundRect">
            <a:avLst>
              <a:gd name="adj" fmla="val 30000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315200" y="2596896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ออกแล้ว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4617720" y="2834640"/>
            <a:ext cx="438912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690872" y="2834640"/>
            <a:ext cx="4297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pool (Sales)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4663440" y="3072384"/>
            <a:ext cx="429768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736592" y="3072384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ภาคเหนือ — สมชาย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6766560" y="3108960"/>
            <a:ext cx="1280160" cy="91440"/>
          </a:xfrm>
          <a:prstGeom prst="rect">
            <a:avLst/>
          </a:prstGeom>
          <a:solidFill>
            <a:srgbClr val="FAC775"/>
          </a:solidFill>
          <a:ln w="12700">
            <a:solidFill>
              <a:srgbClr val="FAC775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766560" y="3108960"/>
            <a:ext cx="704088" cy="91440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092440" y="3072384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฿684,000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663440" y="3383280"/>
            <a:ext cx="429768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736592" y="338328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ภาคกลาง — วิชัย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6766560" y="3419856"/>
            <a:ext cx="1280160" cy="91440"/>
          </a:xfrm>
          <a:prstGeom prst="rect">
            <a:avLst/>
          </a:prstGeom>
          <a:solidFill>
            <a:srgbClr val="FAC775"/>
          </a:solidFill>
          <a:ln w="12700">
            <a:solidFill>
              <a:srgbClr val="FAC775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766560" y="3419856"/>
            <a:ext cx="448056" cy="91440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8092440" y="338328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฿432,000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4663440" y="3694176"/>
            <a:ext cx="429768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736592" y="369417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ภาคตะวันออก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6766560" y="3730752"/>
            <a:ext cx="1280160" cy="91440"/>
          </a:xfrm>
          <a:prstGeom prst="rect">
            <a:avLst/>
          </a:prstGeom>
          <a:solidFill>
            <a:srgbClr val="FAC775"/>
          </a:solidFill>
          <a:ln w="12700">
            <a:solidFill>
              <a:srgbClr val="FAC775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766560" y="3730752"/>
            <a:ext cx="1049731" cy="91440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092440" y="3694176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฿1,230,000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663440" y="4005072"/>
            <a:ext cx="429768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736592" y="400507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ภาคใต้ — ปิยะ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6766560" y="4041648"/>
            <a:ext cx="1280160" cy="91440"/>
          </a:xfrm>
          <a:prstGeom prst="rect">
            <a:avLst/>
          </a:prstGeom>
          <a:solidFill>
            <a:srgbClr val="FAC775"/>
          </a:solidFill>
          <a:ln w="12700">
            <a:solidFill>
              <a:srgbClr val="FAC77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766560" y="4041648"/>
            <a:ext cx="230429" cy="91440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092440" y="400507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฿54,800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UI — 13.3 ใบสั่งขาย (SO) — POS Mode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Sales / Counter Sales · Tablet-first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" y="530352"/>
            <a:ext cx="8869680" cy="29260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5303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🌾 WS-Sale-App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057400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57400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Dashboard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52344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52344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 สั่งขาย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447288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47288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142232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42232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ของแถม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837176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37176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รายงาน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37160" y="850392"/>
            <a:ext cx="841248" cy="201168"/>
          </a:xfrm>
          <a:prstGeom prst="roundRect">
            <a:avLst>
              <a:gd name="adj" fmla="val 27273"/>
            </a:avLst>
          </a:prstGeom>
          <a:solidFill>
            <a:srgbClr val="E6F1FB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" y="850392"/>
            <a:ext cx="841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 — เชื่อม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1051560" y="850392"/>
            <a:ext cx="841248" cy="201168"/>
          </a:xfrm>
          <a:prstGeom prst="roundRect">
            <a:avLst>
              <a:gd name="adj" fmla="val 27273"/>
            </a:avLst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850392"/>
            <a:ext cx="841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 — คลัง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965960" y="850392"/>
            <a:ext cx="841248" cy="201168"/>
          </a:xfrm>
          <a:prstGeom prst="roundRect">
            <a:avLst>
              <a:gd name="adj" fmla="val 27273"/>
            </a:avLst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65960" y="850392"/>
            <a:ext cx="841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AI — ตั๋วคุม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2971800" y="8778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I69-03842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14800" y="877824"/>
            <a:ext cx="731520" cy="164592"/>
          </a:xfrm>
          <a:prstGeom prst="roundRect">
            <a:avLst>
              <a:gd name="adj" fmla="val 33333"/>
            </a:avLst>
          </a:prstGeom>
          <a:solidFill>
            <a:srgbClr val="D3D1C7"/>
          </a:solidFill>
          <a:ln w="12700">
            <a:solidFill>
              <a:srgbClr val="D3D1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0" y="87782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444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DRAFT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892040" y="8778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27 มิ.ย. 2569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37160" y="1115568"/>
            <a:ext cx="20116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ลูกค้า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137160" y="1261872"/>
            <a:ext cx="201168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82880" y="1261872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บ.ปุ๋ยสุโขทัย จก.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240280" y="1115568"/>
            <a:ext cx="16459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ทะเบียนรถ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2240280" y="1261872"/>
            <a:ext cx="164592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0" y="1261872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สท 70-4239/40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977640" y="1115568"/>
            <a:ext cx="12801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วันส่ง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3977640" y="1261872"/>
            <a:ext cx="128016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023360" y="126187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22/06/2569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349240" y="1115568"/>
            <a:ext cx="164592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49240" y="1115568"/>
            <a:ext cx="10972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pool: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349240" y="1261872"/>
            <a:ext cx="1645920" cy="219456"/>
          </a:xfrm>
          <a:prstGeom prst="roundRect">
            <a:avLst>
              <a:gd name="adj" fmla="val 16667"/>
            </a:avLst>
          </a:prstGeom>
          <a:solidFill>
            <a:srgbClr val="FAEEDA"/>
          </a:solidFill>
          <a:ln w="6350">
            <a:solidFill>
              <a:srgbClr val="BA751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49240" y="1261872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 42,800 คงเหลือ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37160" y="1572768"/>
            <a:ext cx="525780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37160" y="1572768"/>
            <a:ext cx="525780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10312" y="1572768"/>
            <a:ext cx="5166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สินค้า / ปุ๋ย (แตะเพื่อเพิ่ม)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37160" y="1810512"/>
            <a:ext cx="525780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28600" y="181051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🔍  ค้นหาสูตรปุ๋ย เช่น 46-0-0, 15-5...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971800" y="1847088"/>
            <a:ext cx="50292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71800" y="1847088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ทั้งหมด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3520440" y="1847088"/>
            <a:ext cx="502920" cy="182880"/>
          </a:xfrm>
          <a:prstGeom prst="roundRect">
            <a:avLst>
              <a:gd name="adj" fmla="val 20000"/>
            </a:avLst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520440" y="1847088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 สูง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069080" y="1847088"/>
            <a:ext cx="502920" cy="182880"/>
          </a:xfrm>
          <a:prstGeom prst="roundRect">
            <a:avLst>
              <a:gd name="adj" fmla="val 20000"/>
            </a:avLst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69080" y="1847088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NPK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4617720" y="1847088"/>
            <a:ext cx="502920" cy="182880"/>
          </a:xfrm>
          <a:prstGeom prst="roundRect">
            <a:avLst>
              <a:gd name="adj" fmla="val 20000"/>
            </a:avLst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17720" y="1847088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 สูง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201168" y="2121408"/>
            <a:ext cx="1645920" cy="1143000"/>
          </a:xfrm>
          <a:prstGeom prst="rect">
            <a:avLst/>
          </a:prstGeom>
          <a:solidFill>
            <a:srgbClr val="EAF3DE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6032" y="217627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256032" y="2377440"/>
            <a:ext cx="15361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ยูเรีย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56032" y="254203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฿18,500/ตัน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256032" y="2743200"/>
            <a:ext cx="153619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NET ฿17,200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256032" y="2907792"/>
            <a:ext cx="914400" cy="164592"/>
          </a:xfrm>
          <a:prstGeom prst="roundRect">
            <a:avLst>
              <a:gd name="adj" fmla="val 3333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56032" y="2907792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 ฿1,300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256032" y="3090672"/>
            <a:ext cx="1536192" cy="137160"/>
          </a:xfrm>
          <a:prstGeom prst="rect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56032" y="3090672"/>
            <a:ext cx="153619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เพิ่มแล้ว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1920240" y="2121408"/>
            <a:ext cx="1645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975104" y="217627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21-0-0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1975104" y="2377440"/>
            <a:ext cx="15361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แอมโมเนียม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975104" y="254203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฿15,900/ตัน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1975104" y="2743200"/>
            <a:ext cx="153619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NET ฿14,800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1975104" y="2907792"/>
            <a:ext cx="914400" cy="164592"/>
          </a:xfrm>
          <a:prstGeom prst="roundRect">
            <a:avLst>
              <a:gd name="adj" fmla="val 3333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975104" y="2907792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 ฿1,100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1975104" y="3090672"/>
            <a:ext cx="1536192" cy="13716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975104" y="3090672"/>
            <a:ext cx="153619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+ เพิ่ม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3639312" y="2121408"/>
            <a:ext cx="1645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94176" y="217627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15-15-15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3694176" y="2377440"/>
            <a:ext cx="15361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สูตรกลาง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3694176" y="254203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฿17,200/ตัน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3694176" y="2743200"/>
            <a:ext cx="153619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NET ฿16,100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3694176" y="2907792"/>
            <a:ext cx="914400" cy="164592"/>
          </a:xfrm>
          <a:prstGeom prst="roundRect">
            <a:avLst>
              <a:gd name="adj" fmla="val 3333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694176" y="2907792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 ฿1,100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3694176" y="3090672"/>
            <a:ext cx="1536192" cy="13716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694176" y="3090672"/>
            <a:ext cx="153619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+ เพิ่ม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01168" y="3401568"/>
            <a:ext cx="1645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256032" y="345643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0-0-60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256032" y="3657600"/>
            <a:ext cx="15361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โพแทส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256032" y="382219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฿19,800/ตัน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256032" y="4023360"/>
            <a:ext cx="153619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NET ฿18,500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256032" y="4187952"/>
            <a:ext cx="914400" cy="164592"/>
          </a:xfrm>
          <a:prstGeom prst="roundRect">
            <a:avLst>
              <a:gd name="adj" fmla="val 3333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256032" y="4187952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 ฿1,300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256032" y="4370832"/>
            <a:ext cx="1536192" cy="13716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56032" y="4370832"/>
            <a:ext cx="153619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+ เพิ่ม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1920240" y="3401568"/>
            <a:ext cx="1645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75104" y="345643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15-5-35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1975104" y="3657600"/>
            <a:ext cx="15361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 สูง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1975104" y="382219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฿18,100/ตัน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1975104" y="4023360"/>
            <a:ext cx="153619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NET ฿17,000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1975104" y="4187952"/>
            <a:ext cx="914400" cy="164592"/>
          </a:xfrm>
          <a:prstGeom prst="roundRect">
            <a:avLst>
              <a:gd name="adj" fmla="val 3333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975104" y="4187952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 ฿1,100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1975104" y="4370832"/>
            <a:ext cx="1536192" cy="13716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975104" y="4370832"/>
            <a:ext cx="153619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+ เพิ่ม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3639312" y="3401568"/>
            <a:ext cx="1645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694176" y="345643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16-20-0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3694176" y="3657600"/>
            <a:ext cx="15361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แอมโมเนียมP</a:t>
            </a:r>
            <a:endParaRPr lang="en-US" sz="800" dirty="0"/>
          </a:p>
        </p:txBody>
      </p:sp>
      <p:sp>
        <p:nvSpPr>
          <p:cNvPr id="101" name="Text 99"/>
          <p:cNvSpPr/>
          <p:nvPr/>
        </p:nvSpPr>
        <p:spPr>
          <a:xfrm>
            <a:off x="3694176" y="382219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฿16,800/ตัน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3694176" y="4023360"/>
            <a:ext cx="153619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NET ฿15,600</a:t>
            </a:r>
            <a:endParaRPr lang="en-US" sz="750" dirty="0"/>
          </a:p>
        </p:txBody>
      </p:sp>
      <p:sp>
        <p:nvSpPr>
          <p:cNvPr id="103" name="Shape 101"/>
          <p:cNvSpPr/>
          <p:nvPr/>
        </p:nvSpPr>
        <p:spPr>
          <a:xfrm>
            <a:off x="3694176" y="4187952"/>
            <a:ext cx="914400" cy="164592"/>
          </a:xfrm>
          <a:prstGeom prst="roundRect">
            <a:avLst>
              <a:gd name="adj" fmla="val 3333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694176" y="4187952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 ฿1,200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3694176" y="4370832"/>
            <a:ext cx="1536192" cy="13716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694176" y="4370832"/>
            <a:ext cx="153619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+ เพิ่ม</a:t>
            </a:r>
            <a:endParaRPr lang="en-US" sz="800" dirty="0"/>
          </a:p>
        </p:txBody>
      </p:sp>
      <p:sp>
        <p:nvSpPr>
          <p:cNvPr id="107" name="Shape 105"/>
          <p:cNvSpPr/>
          <p:nvPr/>
        </p:nvSpPr>
        <p:spPr>
          <a:xfrm>
            <a:off x="137160" y="4617720"/>
            <a:ext cx="5257800" cy="320040"/>
          </a:xfrm>
          <a:prstGeom prst="rect">
            <a:avLst/>
          </a:prstGeom>
          <a:solidFill>
            <a:srgbClr val="FFF8E6"/>
          </a:solidFill>
          <a:ln w="6350">
            <a:solidFill>
              <a:srgbClr val="FAC77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228600" y="461772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🎁  ของแถม — งบ ฿18,500 คงเหลือ</a:t>
            </a:r>
            <a:endParaRPr lang="en-US" sz="850" dirty="0"/>
          </a:p>
        </p:txBody>
      </p:sp>
      <p:sp>
        <p:nvSpPr>
          <p:cNvPr id="109" name="Shape 107"/>
          <p:cNvSpPr/>
          <p:nvPr/>
        </p:nvSpPr>
        <p:spPr>
          <a:xfrm>
            <a:off x="2194560" y="4663440"/>
            <a:ext cx="914400" cy="201168"/>
          </a:xfrm>
          <a:prstGeom prst="roundRect">
            <a:avLst>
              <a:gd name="adj" fmla="val 2727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194560" y="466344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เสื้อ WF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3200400" y="4663440"/>
            <a:ext cx="914400" cy="201168"/>
          </a:xfrm>
          <a:prstGeom prst="roundRect">
            <a:avLst>
              <a:gd name="adj" fmla="val 2727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200400" y="466344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กระเป๋า WF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4206240" y="4663440"/>
            <a:ext cx="914400" cy="201168"/>
          </a:xfrm>
          <a:prstGeom prst="roundRect">
            <a:avLst>
              <a:gd name="adj" fmla="val 2727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206240" y="466344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กระสอบเปล่า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5486400" y="1572768"/>
            <a:ext cx="352044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486400" y="1572768"/>
            <a:ext cx="352044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5559552" y="1572768"/>
            <a:ext cx="3429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รายการสั่ง (Order Summary)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5486400" y="1810512"/>
            <a:ext cx="3520440" cy="1005840"/>
          </a:xfrm>
          <a:prstGeom prst="rect">
            <a:avLst/>
          </a:prstGeom>
          <a:solidFill>
            <a:srgbClr val="EAF3DE"/>
          </a:solidFill>
          <a:ln w="6350">
            <a:solidFill>
              <a:srgbClr val="3B6D11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5577840" y="184708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  ยูเรีย</a:t>
            </a:r>
            <a:endParaRPr lang="en-US" sz="900" dirty="0"/>
          </a:p>
        </p:txBody>
      </p:sp>
      <p:sp>
        <p:nvSpPr>
          <p:cNvPr id="120" name="Text 118"/>
          <p:cNvSpPr/>
          <p:nvPr/>
        </p:nvSpPr>
        <p:spPr>
          <a:xfrm>
            <a:off x="5577840" y="2048256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30 ตัน = 600 กระสอบ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6858000" y="1847088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฿555,000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5577840" y="2231136"/>
            <a:ext cx="1005840" cy="256032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577840" y="2231136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−  30  +</a:t>
            </a:r>
            <a:endParaRPr lang="en-US" sz="1100" dirty="0"/>
          </a:p>
        </p:txBody>
      </p:sp>
      <p:sp>
        <p:nvSpPr>
          <p:cNvPr id="124" name="Shape 122"/>
          <p:cNvSpPr/>
          <p:nvPr/>
        </p:nvSpPr>
        <p:spPr>
          <a:xfrm>
            <a:off x="6629400" y="2267712"/>
            <a:ext cx="1371600" cy="182880"/>
          </a:xfrm>
          <a:prstGeom prst="roundRect">
            <a:avLst>
              <a:gd name="adj" fmla="val 20000"/>
            </a:avLst>
          </a:prstGeom>
          <a:solidFill>
            <a:srgbClr val="FAEEDA"/>
          </a:solidFill>
          <a:ln w="3810">
            <a:solidFill>
              <a:srgbClr val="BA7517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629400" y="226771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฿39,000</a:t>
            </a:r>
            <a:endParaRPr lang="en-US" sz="750" dirty="0"/>
          </a:p>
        </p:txBody>
      </p:sp>
      <p:sp>
        <p:nvSpPr>
          <p:cNvPr id="126" name="Shape 124"/>
          <p:cNvSpPr/>
          <p:nvPr/>
        </p:nvSpPr>
        <p:spPr>
          <a:xfrm>
            <a:off x="5486400" y="2871216"/>
            <a:ext cx="3520440" cy="457200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5577840" y="2898648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ยอดสินค้า</a:t>
            </a:r>
            <a:endParaRPr lang="en-US" sz="850" dirty="0"/>
          </a:p>
        </p:txBody>
      </p:sp>
      <p:sp>
        <p:nvSpPr>
          <p:cNvPr id="128" name="Text 126"/>
          <p:cNvSpPr/>
          <p:nvPr/>
        </p:nvSpPr>
        <p:spPr>
          <a:xfrm>
            <a:off x="7589520" y="2898648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฿555,000</a:t>
            </a:r>
            <a:endParaRPr lang="en-US" sz="850" dirty="0"/>
          </a:p>
        </p:txBody>
      </p:sp>
      <p:sp>
        <p:nvSpPr>
          <p:cNvPr id="129" name="Text 127"/>
          <p:cNvSpPr/>
          <p:nvPr/>
        </p:nvSpPr>
        <p:spPr>
          <a:xfrm>
            <a:off x="5577840" y="3063240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accrual</a:t>
            </a:r>
            <a:endParaRPr lang="en-US" sz="850" dirty="0"/>
          </a:p>
        </p:txBody>
      </p:sp>
      <p:sp>
        <p:nvSpPr>
          <p:cNvPr id="130" name="Text 128"/>
          <p:cNvSpPr/>
          <p:nvPr/>
        </p:nvSpPr>
        <p:spPr>
          <a:xfrm>
            <a:off x="7589520" y="3063240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฿39,000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5486400" y="3328416"/>
            <a:ext cx="3520440" cy="29260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5577840" y="3328416"/>
            <a:ext cx="3337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ยอดสุทธิ  ฿555,000</a:t>
            </a:r>
            <a:endParaRPr lang="en-US" sz="1100" dirty="0"/>
          </a:p>
        </p:txBody>
      </p:sp>
      <p:sp>
        <p:nvSpPr>
          <p:cNvPr id="133" name="Shape 131"/>
          <p:cNvSpPr/>
          <p:nvPr/>
        </p:nvSpPr>
        <p:spPr>
          <a:xfrm>
            <a:off x="5532120" y="3712464"/>
            <a:ext cx="3429000" cy="274320"/>
          </a:xfrm>
          <a:prstGeom prst="roundRect">
            <a:avLst>
              <a:gd name="adj" fmla="val 13333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5532120" y="3712464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F3D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 ยืนยัน SO — ตั้ง Rebate accrual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UI — 13.5 Rebate Pool — FIFO Ledger + Claim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Sales / Accounting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" y="530352"/>
            <a:ext cx="8869680" cy="29260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5303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🌾 WS-Sale-App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057400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57400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Dashboard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52344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52344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 สั่งขาย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447288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47288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142232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42232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ของแถม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837176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37176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รายงาน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37160" y="804672"/>
            <a:ext cx="21031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" y="82296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฿1,240,000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7160" y="1078992"/>
            <a:ext cx="2103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Allocated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331720" y="804672"/>
            <a:ext cx="21031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331720" y="82296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฿684,000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331720" y="1078992"/>
            <a:ext cx="2103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Accrual ตั้งไว้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26280" y="804672"/>
            <a:ext cx="21031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26280" y="82296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A751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฿280,000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26280" y="1078992"/>
            <a:ext cx="2103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Claimed แล้ว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720840" y="804672"/>
            <a:ext cx="21031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20840" y="82296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32D2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฿404,000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720840" y="1078992"/>
            <a:ext cx="2103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คงเหลือ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37160" y="1389888"/>
            <a:ext cx="886968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7160" y="1389888"/>
            <a:ext cx="886968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0312" y="1389888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FIFO Ledger — สมชาย / ภาคเหนือ / มิ.ย. 2569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37160" y="1627632"/>
            <a:ext cx="8869680" cy="228600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2880" y="1627632"/>
            <a:ext cx="3840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#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40080" y="1627632"/>
            <a:ext cx="9326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SO/Invoice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645920" y="1627632"/>
            <a:ext cx="1207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สูตร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926080" y="1627632"/>
            <a:ext cx="5669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ตัน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566160" y="1627632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ราคาขาย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480560" y="1627632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NET/ตัน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394960" y="1627632"/>
            <a:ext cx="9326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Reb/ตัน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400800" y="1627632"/>
            <a:ext cx="10241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รวม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498080" y="1627632"/>
            <a:ext cx="1481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สถานะ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137160" y="1856232"/>
            <a:ext cx="8869680" cy="246888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73736" y="1856232"/>
            <a:ext cx="4023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30936" y="1856232"/>
            <a:ext cx="95097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I69-03511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636776" y="1856232"/>
            <a:ext cx="122529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16936" y="1856232"/>
            <a:ext cx="5852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557016" y="1856232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฿18,500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471416" y="1856232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฿17,200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5385816" y="1856232"/>
            <a:ext cx="95097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฿1,300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6391656" y="1856232"/>
            <a:ext cx="10424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฿52,000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488936" y="1856232"/>
            <a:ext cx="14996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7500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ตัดแล้ว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955280" y="1883664"/>
            <a:ext cx="1005840" cy="164592"/>
          </a:xfrm>
          <a:prstGeom prst="roundRect">
            <a:avLst>
              <a:gd name="adj" fmla="val 22222"/>
            </a:avLst>
          </a:prstGeom>
          <a:solidFill>
            <a:srgbClr val="EAF3DE"/>
          </a:solidFill>
          <a:ln w="12700">
            <a:solidFill>
              <a:srgbClr val="EAF3D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955280" y="1883664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7500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ตัดแล้ว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137160" y="2103120"/>
            <a:ext cx="8869680" cy="246888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73736" y="2103120"/>
            <a:ext cx="4023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30936" y="2103120"/>
            <a:ext cx="95097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I69-03598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1636776" y="2103120"/>
            <a:ext cx="122529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15-15-15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2916936" y="2103120"/>
            <a:ext cx="5852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3557016" y="2103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฿17,200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471416" y="2103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฿16,100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5385816" y="2103120"/>
            <a:ext cx="95097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฿1,100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6391656" y="2103120"/>
            <a:ext cx="10424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฿22,000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488936" y="2103120"/>
            <a:ext cx="14996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7500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ตัดแล้ว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7955280" y="2130552"/>
            <a:ext cx="1005840" cy="164592"/>
          </a:xfrm>
          <a:prstGeom prst="roundRect">
            <a:avLst>
              <a:gd name="adj" fmla="val 22222"/>
            </a:avLst>
          </a:prstGeom>
          <a:solidFill>
            <a:srgbClr val="EAF3DE"/>
          </a:solidFill>
          <a:ln w="12700">
            <a:solidFill>
              <a:srgbClr val="EAF3D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55280" y="2130552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7500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ตัดแล้ว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137160" y="2350008"/>
            <a:ext cx="8869680" cy="246888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73736" y="2350008"/>
            <a:ext cx="4023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30936" y="2350008"/>
            <a:ext cx="95097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I69-03720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1636776" y="2350008"/>
            <a:ext cx="122529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0-0-60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2916936" y="2350008"/>
            <a:ext cx="5852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16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3557016" y="2350008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฿19,800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4471416" y="2350008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฿18,500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385816" y="2350008"/>
            <a:ext cx="95097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฿1,300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6391656" y="2350008"/>
            <a:ext cx="10424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฿20,800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7488936" y="2350008"/>
            <a:ext cx="14996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3806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pending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955280" y="2377440"/>
            <a:ext cx="1005840" cy="164592"/>
          </a:xfrm>
          <a:prstGeom prst="roundRect">
            <a:avLst>
              <a:gd name="adj" fmla="val 22222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955280" y="2377440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33806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pending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137160" y="2596896"/>
            <a:ext cx="8869680" cy="246888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73736" y="2596896"/>
            <a:ext cx="4023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630936" y="2596896"/>
            <a:ext cx="95097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I69-03842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1636776" y="2596896"/>
            <a:ext cx="122529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2916936" y="2596896"/>
            <a:ext cx="5852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30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3557016" y="2596896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฿18,500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4471416" y="2596896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฿17,200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5385816" y="2596896"/>
            <a:ext cx="95097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฿1,300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6391656" y="2596896"/>
            <a:ext cx="10424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฿39,000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7488936" y="2596896"/>
            <a:ext cx="14996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accrual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137160" y="3822192"/>
            <a:ext cx="8869680" cy="292608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28600" y="3858768"/>
            <a:ext cx="2286000" cy="274320"/>
          </a:xfrm>
          <a:prstGeom prst="roundRect">
            <a:avLst>
              <a:gd name="adj" fmla="val 13333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28600" y="385876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F3D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สร้าง Claim → CN (109)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2606040" y="3877056"/>
            <a:ext cx="6309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ยอด pending: ฿20,800  ·  ต้องการอนุมัติ Accounting  ·  Claim ประเภท: คืนรีเบท / คืนส่วนต่าง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137160" y="4187952"/>
            <a:ext cx="8869680" cy="822960"/>
          </a:xfrm>
          <a:prstGeom prst="rect">
            <a:avLst/>
          </a:prstGeom>
          <a:solidFill>
            <a:srgbClr val="FFF8E6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74320" y="422452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ตัวอย่างจริง — RBD68-019 (฿55,800)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137160" y="4407408"/>
            <a:ext cx="6217920" cy="228600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82880" y="4407408"/>
            <a:ext cx="9326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สูตร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1188720" y="4407408"/>
            <a:ext cx="4754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ตัน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1737360" y="4407408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ราคาขาย</a:t>
            </a:r>
            <a:endParaRPr lang="en-US" sz="800" dirty="0"/>
          </a:p>
        </p:txBody>
      </p:sp>
      <p:sp>
        <p:nvSpPr>
          <p:cNvPr id="98" name="Text 96"/>
          <p:cNvSpPr/>
          <p:nvPr/>
        </p:nvSpPr>
        <p:spPr>
          <a:xfrm>
            <a:off x="2651760" y="4407408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NET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3566160" y="4407408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Reb/ตัน</a:t>
            </a:r>
            <a:endParaRPr lang="en-US" sz="800" dirty="0"/>
          </a:p>
        </p:txBody>
      </p:sp>
      <p:sp>
        <p:nvSpPr>
          <p:cNvPr id="100" name="Text 98"/>
          <p:cNvSpPr/>
          <p:nvPr/>
        </p:nvSpPr>
        <p:spPr>
          <a:xfrm>
            <a:off x="4480560" y="4407408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รวม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137160" y="4636008"/>
            <a:ext cx="621792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82880" y="4636008"/>
            <a:ext cx="9326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15-5-35</a:t>
            </a:r>
            <a:endParaRPr lang="en-US" sz="900" dirty="0"/>
          </a:p>
        </p:txBody>
      </p:sp>
      <p:sp>
        <p:nvSpPr>
          <p:cNvPr id="103" name="Text 101"/>
          <p:cNvSpPr/>
          <p:nvPr/>
        </p:nvSpPr>
        <p:spPr>
          <a:xfrm>
            <a:off x="1188720" y="4636008"/>
            <a:ext cx="4754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19ต</a:t>
            </a:r>
            <a:endParaRPr lang="en-US" sz="900" dirty="0"/>
          </a:p>
        </p:txBody>
      </p:sp>
      <p:sp>
        <p:nvSpPr>
          <p:cNvPr id="104" name="Text 102"/>
          <p:cNvSpPr/>
          <p:nvPr/>
        </p:nvSpPr>
        <p:spPr>
          <a:xfrm>
            <a:off x="1737360" y="4636008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฿18,200</a:t>
            </a:r>
            <a:endParaRPr lang="en-US" sz="900" dirty="0"/>
          </a:p>
        </p:txBody>
      </p:sp>
      <p:sp>
        <p:nvSpPr>
          <p:cNvPr id="105" name="Text 103"/>
          <p:cNvSpPr/>
          <p:nvPr/>
        </p:nvSpPr>
        <p:spPr>
          <a:xfrm>
            <a:off x="2651760" y="4636008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฿17,000</a:t>
            </a:r>
            <a:endParaRPr lang="en-US" sz="900" dirty="0"/>
          </a:p>
        </p:txBody>
      </p:sp>
      <p:sp>
        <p:nvSpPr>
          <p:cNvPr id="106" name="Text 104"/>
          <p:cNvSpPr/>
          <p:nvPr/>
        </p:nvSpPr>
        <p:spPr>
          <a:xfrm>
            <a:off x="3566160" y="4636008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฿1,200</a:t>
            </a:r>
            <a:endParaRPr lang="en-US" sz="900" dirty="0"/>
          </a:p>
        </p:txBody>
      </p:sp>
      <p:sp>
        <p:nvSpPr>
          <p:cNvPr id="107" name="Text 105"/>
          <p:cNvSpPr/>
          <p:nvPr/>
        </p:nvSpPr>
        <p:spPr>
          <a:xfrm>
            <a:off x="4480560" y="4636008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฿22,800</a:t>
            </a:r>
            <a:endParaRPr lang="en-US" sz="900" dirty="0"/>
          </a:p>
        </p:txBody>
      </p:sp>
      <p:sp>
        <p:nvSpPr>
          <p:cNvPr id="108" name="Shape 106"/>
          <p:cNvSpPr/>
          <p:nvPr/>
        </p:nvSpPr>
        <p:spPr>
          <a:xfrm>
            <a:off x="137160" y="4837176"/>
            <a:ext cx="621792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82880" y="4837176"/>
            <a:ext cx="9326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0-0-60</a:t>
            </a:r>
            <a:endParaRPr lang="en-US" sz="900" dirty="0"/>
          </a:p>
        </p:txBody>
      </p:sp>
      <p:sp>
        <p:nvSpPr>
          <p:cNvPr id="110" name="Text 108"/>
          <p:cNvSpPr/>
          <p:nvPr/>
        </p:nvSpPr>
        <p:spPr>
          <a:xfrm>
            <a:off x="1188720" y="4837176"/>
            <a:ext cx="4754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16ต</a:t>
            </a:r>
            <a:endParaRPr lang="en-US" sz="900" dirty="0"/>
          </a:p>
        </p:txBody>
      </p:sp>
      <p:sp>
        <p:nvSpPr>
          <p:cNvPr id="111" name="Text 109"/>
          <p:cNvSpPr/>
          <p:nvPr/>
        </p:nvSpPr>
        <p:spPr>
          <a:xfrm>
            <a:off x="1737360" y="4837176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฿13,200</a:t>
            </a:r>
            <a:endParaRPr lang="en-US" sz="900" dirty="0"/>
          </a:p>
        </p:txBody>
      </p:sp>
      <p:sp>
        <p:nvSpPr>
          <p:cNvPr id="112" name="Text 110"/>
          <p:cNvSpPr/>
          <p:nvPr/>
        </p:nvSpPr>
        <p:spPr>
          <a:xfrm>
            <a:off x="2651760" y="4837176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฿12,500</a:t>
            </a:r>
            <a:endParaRPr lang="en-US" sz="900" dirty="0"/>
          </a:p>
        </p:txBody>
      </p:sp>
      <p:sp>
        <p:nvSpPr>
          <p:cNvPr id="113" name="Text 111"/>
          <p:cNvSpPr/>
          <p:nvPr/>
        </p:nvSpPr>
        <p:spPr>
          <a:xfrm>
            <a:off x="3566160" y="4837176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฿700</a:t>
            </a:r>
            <a:endParaRPr lang="en-US" sz="900" dirty="0"/>
          </a:p>
        </p:txBody>
      </p:sp>
      <p:sp>
        <p:nvSpPr>
          <p:cNvPr id="114" name="Text 112"/>
          <p:cNvSpPr/>
          <p:nvPr/>
        </p:nvSpPr>
        <p:spPr>
          <a:xfrm>
            <a:off x="4480560" y="4837176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฿11,200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137160" y="5038344"/>
            <a:ext cx="621792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82880" y="5038344"/>
            <a:ext cx="9326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21-0-0</a:t>
            </a:r>
            <a:endParaRPr lang="en-US" sz="900" dirty="0"/>
          </a:p>
        </p:txBody>
      </p:sp>
      <p:sp>
        <p:nvSpPr>
          <p:cNvPr id="117" name="Text 115"/>
          <p:cNvSpPr/>
          <p:nvPr/>
        </p:nvSpPr>
        <p:spPr>
          <a:xfrm>
            <a:off x="1188720" y="5038344"/>
            <a:ext cx="4754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8ต</a:t>
            </a:r>
            <a:endParaRPr lang="en-US" sz="900" dirty="0"/>
          </a:p>
        </p:txBody>
      </p:sp>
      <p:sp>
        <p:nvSpPr>
          <p:cNvPr id="118" name="Text 116"/>
          <p:cNvSpPr/>
          <p:nvPr/>
        </p:nvSpPr>
        <p:spPr>
          <a:xfrm>
            <a:off x="1737360" y="5038344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฿8,200</a:t>
            </a:r>
            <a:endParaRPr lang="en-US" sz="900" dirty="0"/>
          </a:p>
        </p:txBody>
      </p:sp>
      <p:sp>
        <p:nvSpPr>
          <p:cNvPr id="119" name="Text 117"/>
          <p:cNvSpPr/>
          <p:nvPr/>
        </p:nvSpPr>
        <p:spPr>
          <a:xfrm>
            <a:off x="2651760" y="5038344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฿7,700</a:t>
            </a:r>
            <a:endParaRPr lang="en-US" sz="900" dirty="0"/>
          </a:p>
        </p:txBody>
      </p:sp>
      <p:sp>
        <p:nvSpPr>
          <p:cNvPr id="120" name="Text 118"/>
          <p:cNvSpPr/>
          <p:nvPr/>
        </p:nvSpPr>
        <p:spPr>
          <a:xfrm>
            <a:off x="3566160" y="5038344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฿500</a:t>
            </a:r>
            <a:endParaRPr lang="en-US" sz="900" dirty="0"/>
          </a:p>
        </p:txBody>
      </p:sp>
      <p:sp>
        <p:nvSpPr>
          <p:cNvPr id="121" name="Text 119"/>
          <p:cNvSpPr/>
          <p:nvPr/>
        </p:nvSpPr>
        <p:spPr>
          <a:xfrm>
            <a:off x="4480560" y="5038344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฿4,000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UI — 13.9 Paper Trail Kanban + 13.4 SO State Machine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Warehouse / Counter Sales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" y="530352"/>
            <a:ext cx="8869680" cy="29260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5303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🌾 WS-Sale-App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057400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57400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Dashboard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52344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52344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 สั่งขาย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447288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47288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142232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42232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ของแถม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837176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37176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Paper Trail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37160" y="822960"/>
            <a:ext cx="1691640" cy="32004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822960"/>
            <a:ext cx="1691640" cy="2286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2024" y="8229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รอพิมพ์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325880" y="859536"/>
            <a:ext cx="411480" cy="155448"/>
          </a:xfrm>
          <a:prstGeom prst="roundRect">
            <a:avLst>
              <a:gd name="adj" fmla="val 23529"/>
            </a:avLst>
          </a:prstGeom>
          <a:solidFill>
            <a:srgbClr val="D3D1C7"/>
          </a:solidFill>
          <a:ln w="12700">
            <a:solidFill>
              <a:srgbClr val="D3D1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25880" y="859536"/>
            <a:ext cx="4114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192024" y="1097280"/>
            <a:ext cx="1581912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8600" y="1133856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I69-03842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28600" y="1298448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บ.ปุ๋ยสุโขทัย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28600" y="1444752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46-0-0/30ต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463040" y="1481328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2024" y="1755648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8600" y="1792224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K69-01512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28600" y="1956816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หจก.เกษตร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28600" y="2103120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15-15-15/20ต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1463040" y="2139696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2024" y="2414016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8600" y="2450592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I69-03801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28600" y="2615184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ร้านชัย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228600" y="2761488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0-0-60/10ต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463040" y="2798064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892808" y="822960"/>
            <a:ext cx="1691640" cy="32004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892808" y="822960"/>
            <a:ext cx="1691640" cy="2286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47672" y="8229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พิมพ์แล้ว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081528" y="859536"/>
            <a:ext cx="411480" cy="155448"/>
          </a:xfrm>
          <a:prstGeom prst="roundRect">
            <a:avLst>
              <a:gd name="adj" fmla="val 23529"/>
            </a:avLst>
          </a:prstGeom>
          <a:solidFill>
            <a:srgbClr val="D3D1C7"/>
          </a:solidFill>
          <a:ln w="12700">
            <a:solidFill>
              <a:srgbClr val="D3D1C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081528" y="859536"/>
            <a:ext cx="4114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947672" y="1097280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84248" y="1133856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I69-03798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984248" y="1298448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บ.เจริญผล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984248" y="1444752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16-20-0/60ต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3218688" y="1481328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947672" y="1755648"/>
            <a:ext cx="1581912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A32D2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984248" y="1792224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I69-03750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984248" y="1956816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บ.ปุ๋ยสุโขทัย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1984248" y="2103120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21-0-0/25ต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3218688" y="2139696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947672" y="2414016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84248" y="2450592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K69-01508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1984248" y="2615184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ร้านชัย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1984248" y="2761488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15-5-35/8ต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3218688" y="2798064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648456" y="822960"/>
            <a:ext cx="1691640" cy="32004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648456" y="822960"/>
            <a:ext cx="1691640" cy="2286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703320" y="8229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จ่ายออก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837176" y="859536"/>
            <a:ext cx="411480" cy="155448"/>
          </a:xfrm>
          <a:prstGeom prst="roundRect">
            <a:avLst>
              <a:gd name="adj" fmla="val 23529"/>
            </a:avLst>
          </a:prstGeom>
          <a:solidFill>
            <a:srgbClr val="D3D1C7"/>
          </a:solidFill>
          <a:ln w="12700">
            <a:solidFill>
              <a:srgbClr val="D3D1C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37176" y="859536"/>
            <a:ext cx="4114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3703320" y="1097280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739896" y="1133856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I69-03789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3739896" y="1298448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บ.รุ่งเรือง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3739896" y="1444752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46-0-0/50ต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4974336" y="1481328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703320" y="1755648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739896" y="1792224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I69-03777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3739896" y="1956816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หจก.สมบูรณ์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3739896" y="2103120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16-16-16/30ต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4974336" y="2139696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404104" y="822960"/>
            <a:ext cx="1691640" cy="32004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404104" y="822960"/>
            <a:ext cx="1691640" cy="2286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458968" y="8229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รับคืน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6592824" y="859536"/>
            <a:ext cx="411480" cy="155448"/>
          </a:xfrm>
          <a:prstGeom prst="roundRect">
            <a:avLst>
              <a:gd name="adj" fmla="val 23529"/>
            </a:avLst>
          </a:prstGeom>
          <a:solidFill>
            <a:srgbClr val="97C459"/>
          </a:solidFill>
          <a:ln w="12700">
            <a:solidFill>
              <a:srgbClr val="97C459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92824" y="859536"/>
            <a:ext cx="4114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7500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5458968" y="1097280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495544" y="1133856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I69-03701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5495544" y="1298448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บ.เจริญผล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5495544" y="1444752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13-13-21/15ต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6729984" y="1481328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58968" y="1755648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495544" y="1792224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K69-01490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5495544" y="1956816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ร้านรุ่งสว่าง</a:t>
            </a:r>
            <a:endParaRPr lang="en-US" sz="750" dirty="0"/>
          </a:p>
        </p:txBody>
      </p:sp>
      <p:sp>
        <p:nvSpPr>
          <p:cNvPr id="85" name="Text 83"/>
          <p:cNvSpPr/>
          <p:nvPr/>
        </p:nvSpPr>
        <p:spPr>
          <a:xfrm>
            <a:off x="5495544" y="2103120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46-0-0/20ต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6729984" y="2139696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159752" y="822960"/>
            <a:ext cx="1691640" cy="32004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159752" y="822960"/>
            <a:ext cx="1691640" cy="2286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214616" y="8229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ยืนยันครบ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8348472" y="859536"/>
            <a:ext cx="411480" cy="155448"/>
          </a:xfrm>
          <a:prstGeom prst="roundRect">
            <a:avLst>
              <a:gd name="adj" fmla="val 23529"/>
            </a:avLst>
          </a:prstGeom>
          <a:solidFill>
            <a:srgbClr val="97C459"/>
          </a:solidFill>
          <a:ln w="12700">
            <a:solidFill>
              <a:srgbClr val="97C459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348472" y="859536"/>
            <a:ext cx="4114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7500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8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7214616" y="1097280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251192" y="1133856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I69-03680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7251192" y="1298448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บ.ปุ๋ยสุโขทัย</a:t>
            </a:r>
            <a:endParaRPr lang="en-US" sz="750" dirty="0"/>
          </a:p>
        </p:txBody>
      </p:sp>
      <p:sp>
        <p:nvSpPr>
          <p:cNvPr id="95" name="Text 93"/>
          <p:cNvSpPr/>
          <p:nvPr/>
        </p:nvSpPr>
        <p:spPr>
          <a:xfrm>
            <a:off x="7251192" y="1444752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46-0-0/80ต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8485632" y="1481328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214616" y="1755648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251192" y="1792224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K69-01450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7251192" y="1956816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หจก.เกษตร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7251192" y="2103120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0-0-60/12ต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8485632" y="2139696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37160" y="4133088"/>
            <a:ext cx="88696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37160" y="4133088"/>
            <a:ext cx="886968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10312" y="4133088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 State Machine — wf.SalesOrder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228600" y="4370832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1EFE8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28600" y="437083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DRAFT</a:t>
            </a:r>
            <a:endParaRPr lang="en-US" sz="1000" dirty="0"/>
          </a:p>
        </p:txBody>
      </p:sp>
      <p:sp>
        <p:nvSpPr>
          <p:cNvPr id="107" name="Text 105"/>
          <p:cNvSpPr/>
          <p:nvPr/>
        </p:nvSpPr>
        <p:spPr>
          <a:xfrm>
            <a:off x="228600" y="4572000"/>
            <a:ext cx="20116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แก้ได้ทุก field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2148840" y="4443984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2404872" y="4370832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1EFE8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404872" y="437083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A751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CONFIRMED</a:t>
            </a:r>
            <a:endParaRPr lang="en-US" sz="1000" dirty="0"/>
          </a:p>
        </p:txBody>
      </p:sp>
      <p:sp>
        <p:nvSpPr>
          <p:cNvPr id="111" name="Text 109"/>
          <p:cNvSpPr/>
          <p:nvPr/>
        </p:nvSpPr>
        <p:spPr>
          <a:xfrm>
            <a:off x="2404872" y="4572000"/>
            <a:ext cx="20116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ตั้ง Rebate accrual</a:t>
            </a:r>
            <a:endParaRPr lang="en-US" sz="750" dirty="0"/>
          </a:p>
        </p:txBody>
      </p:sp>
      <p:sp>
        <p:nvSpPr>
          <p:cNvPr id="112" name="Text 110"/>
          <p:cNvSpPr/>
          <p:nvPr/>
        </p:nvSpPr>
        <p:spPr>
          <a:xfrm>
            <a:off x="4325112" y="4443984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4581144" y="4370832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1EFE8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581144" y="437083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PICKING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4581144" y="4572000"/>
            <a:ext cx="20116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จัดของ (ห้ามแก้)</a:t>
            </a:r>
            <a:endParaRPr lang="en-US" sz="750" dirty="0"/>
          </a:p>
        </p:txBody>
      </p:sp>
      <p:sp>
        <p:nvSpPr>
          <p:cNvPr id="116" name="Text 114"/>
          <p:cNvSpPr/>
          <p:nvPr/>
        </p:nvSpPr>
        <p:spPr>
          <a:xfrm>
            <a:off x="6501384" y="4443984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6757416" y="4370832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1EFE8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57416" y="437083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SHIPPED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57416" y="4572000"/>
            <a:ext cx="20116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ส่ง import → WS</a:t>
            </a:r>
            <a:endParaRPr lang="en-US" sz="750" dirty="0"/>
          </a:p>
        </p:txBody>
      </p:sp>
      <p:sp>
        <p:nvSpPr>
          <p:cNvPr id="120" name="Text 118"/>
          <p:cNvSpPr/>
          <p:nvPr/>
        </p:nvSpPr>
        <p:spPr>
          <a:xfrm>
            <a:off x="228600" y="4754880"/>
            <a:ext cx="8503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Unlock → กลับ DRAFT + Reverse accrual (reversedFlag=1, ไม่ลบ)  ·  ทุก transition → wf.SalesOrderAudit (actor, IP, timestamp, before/after JSON) · immutable 7 ปี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UI — 13.7 ของแถม &amp; 13.10 อนุมัติ/Unlock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Sales / Approver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" y="566928"/>
            <a:ext cx="4343400" cy="44348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" y="566928"/>
            <a:ext cx="434340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0312" y="566928"/>
            <a:ext cx="4251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13.7 ของแถม (Giveaway)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01168" y="822960"/>
            <a:ext cx="4206240" cy="749808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859536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เสื้อ World Fert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2608" y="1060704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P00001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92608" y="1225296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คงเหลือ: 48 ชิ้น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92608" y="1389888"/>
            <a:ext cx="2743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เหนือ ฿45,000 / ฿62,000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108960" y="877824"/>
            <a:ext cx="1097280" cy="274320"/>
          </a:xfrm>
          <a:prstGeom prst="roundRect">
            <a:avLst>
              <a:gd name="adj" fmla="val 13333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08960" y="87782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เบิก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01168" y="1645920"/>
            <a:ext cx="4206240" cy="749808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2608" y="1682496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กระเป๋า WF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92608" y="1883664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P00002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92608" y="2048256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คงเหลือ: 12 ชิ้น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2608" y="2212848"/>
            <a:ext cx="2743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กลาง ฿18,500 / ฿30,000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108960" y="1700784"/>
            <a:ext cx="1097280" cy="274320"/>
          </a:xfrm>
          <a:prstGeom prst="roundRect">
            <a:avLst>
              <a:gd name="adj" fmla="val 13333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08960" y="170078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เบิก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01168" y="2468880"/>
            <a:ext cx="4206240" cy="749808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" y="2505456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กระสอบเปล่า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92608" y="2706624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P00010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92608" y="2871216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คงเหลือ: 200 ชิ้น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2608" y="3035808"/>
            <a:ext cx="2743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ตะวันออก ฿22,000 / ฿40,000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108960" y="2523744"/>
            <a:ext cx="1097280" cy="274320"/>
          </a:xfrm>
          <a:prstGeom prst="roundRect">
            <a:avLst>
              <a:gd name="adj" fmla="val 13333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08960" y="252374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เบิก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37160" y="3310128"/>
            <a:ext cx="4343400" cy="914400"/>
          </a:xfrm>
          <a:prstGeom prst="rect">
            <a:avLst/>
          </a:prstGeom>
          <a:solidFill>
            <a:srgbClr val="FFF8E6"/>
          </a:solidFill>
          <a:ln w="6350">
            <a:solidFill>
              <a:srgbClr val="FAC77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28600" y="336499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⚠  งบเบิกเกิน → แจ้งเตือน (ติดลบได้ตามพฤติกรรมจริง)  ·  สต็อกของแถมจัดใน schema wf  ·  แยกงบต่อภาค→Sales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0" y="566928"/>
            <a:ext cx="4434840" cy="44348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0" y="566928"/>
            <a:ext cx="443484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45152" y="566928"/>
            <a:ext cx="4343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13.10 Approval Levels — กฎเฉพาะ (ยืนยันจากทีมขาย)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45152" y="822960"/>
            <a:ext cx="4297680" cy="78638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45152" y="822960"/>
            <a:ext cx="109728" cy="786384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00600" y="859536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แก้ไขตอน Picking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800600" y="106070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ผู้อนุมัติ: สุรชัย คนเดียว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00600" y="1225296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Flag: ApproveFlagPicking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645152" y="1691640"/>
            <a:ext cx="4297680" cy="78638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45152" y="1691640"/>
            <a:ext cx="109728" cy="786384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00600" y="1728216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ขายเกินราคาตั้ง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800600" y="192938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ผู้อนุมัติ: รุ่งนิรันดร์ (1 คน)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800600" y="2093976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Flag: ApproveFlag SO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645152" y="2560320"/>
            <a:ext cx="4297680" cy="78638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645152" y="2560320"/>
            <a:ext cx="109728" cy="786384"/>
          </a:xfrm>
          <a:prstGeom prst="rect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00600" y="2596896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ขายต่ำกว่า ≤500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800600" y="279806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ผู้อนุมัติ: ผจก. 3 ท่าน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800600" y="2962656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Flag: ApproveFlag SO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4572000" y="3493008"/>
            <a:ext cx="4434840" cy="150876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72000" y="3493008"/>
            <a:ext cx="443484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45152" y="3493008"/>
            <a:ext cx="4343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Unlock Request Flow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681728" y="3730752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Sales ขอ Unlock → Approver รับแจ้ง real-time (WebSocket)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 อนุมัติ: SO กลับ DRAFT + Reverse RebateLedger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 ปฏิเสธ: SO คงสถานะ + บันทึก Audit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ทุก action → wf.SalesOrderAudit (immutable)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สถาปัตยกรรมระบบ — 2-Tier, SQL Server เดียว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ไม่ใช้ PostgreSQL / Redis / Message Queue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2560320" cy="1371600"/>
          </a:xfrm>
          <a:prstGeom prst="rect">
            <a:avLst/>
          </a:prstGeom>
          <a:solidFill>
            <a:srgbClr val="E6F1FB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75895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Frontend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033272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React 19 + Vite + TypeScript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Tailwind v4 + lucide-react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Tablet-first (768–1024px)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JWT auth · polling (5s)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291840" y="685800"/>
            <a:ext cx="2560320" cy="1371600"/>
          </a:xfrm>
          <a:prstGeom prst="rect">
            <a:avLst/>
          </a:prstGeom>
          <a:solidFill>
            <a:srgbClr val="F1EFE8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75895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Backend API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83280" y="1033272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Express (Node 22) + REST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JWT (jsonwebtoken+bcrypt)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RBAC 7 roles · polling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mssql/msnodesqlv8 (named-pipe)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309360" y="685800"/>
            <a:ext cx="2560320" cy="1371600"/>
          </a:xfrm>
          <a:prstGeom prst="rect">
            <a:avLst/>
          </a:prstGeom>
          <a:solidFill>
            <a:srgbClr val="EAF3DE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75895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SQL Server 2022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33272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dbwins_worldfert9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• wf_owner: CONTROL wf เท่านั้น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• wf_reader: db_datareader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• dbo เขียนไม่ได้ (permission)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26080" y="11430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943600" y="11430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3113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ข้อจำกัดและการรักษาความถูกต้อง (Non-Invasive)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" y="2450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wf และ dbo อยู่ DB เดียวกัน → JOIN ข้ามได้ตรง ไม่ต้อง sync/cache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dbo = READ-ONLY ผ่าน View เท่านั้น · ห้ามเขียน dbo เด็ดขาด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ส่งข้อมูลเข้า WINSpeed ผ่าน SO Export/Import (SOHD/SODT.TXT) · WINSpeed post GL เอง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ระบบใหม่ล่ม → กลับไปคีย์ WINSpeed ได้ปกติ · ไม่มี trigger/SP post GL อัตโนมัติใน DB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3108960"/>
            <a:ext cx="8595360" cy="9144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" y="3108960"/>
            <a:ext cx="859536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3108960"/>
            <a:ext cx="8503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schema wf — Entities หลัก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47472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AppUser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1005840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SalesOrder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1664208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64208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SalesOrderLine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322576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22576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SalesOrderAudit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2980944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80944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RebatePool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3639312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RebateLedger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4297680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97680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RebateClaim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4956048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56048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GiveawayBudget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5614416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14416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GiveawayIssue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6272784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72784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GoodExtra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347472" y="3621024"/>
            <a:ext cx="8503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18 ตาราง + 7 Views READ-ONLY บน dbo: v_Customer · v_FertGood · v_CurrentPrice · v_ControlTicket   |   dbo: EMGood (417) · EMCust (790) · EMEmp (59) · SOInvHD (282,087)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74320" y="4114800"/>
            <a:ext cx="85953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74320" y="4114800"/>
            <a:ext cx="859536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7472" y="4114800"/>
            <a:ext cx="8503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WINSpeed Integration — SO Import Flow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334256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wf (CONFIRMED→PICKING→SHIPPED) → SOHD.TXT + SODT.TXT (Tab-delimited, DocuType=104, VATType=3, EmpID จาก AppUser↔EMEmp) → WINSpeed Import (w_importexport_so)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 WINSpeed ออกใบกำกับ (107) + post GL เอง (WINSpeed = เจ้าของบัญชี 100%) → poll DocuNo กลับมา sync สถานะ (read-only)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แผนการพัฒนา v6 — Timeline 20 พ.ค. – 31 ก.ค. 2569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คืบหน้า 65% · เกินแผน 20%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" y="566928"/>
            <a:ext cx="2103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60350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65%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" y="9692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คืบหน้าจริง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31720" y="566928"/>
            <a:ext cx="2103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23160" y="60350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32D2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+20%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377440" y="9692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เกินแผน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26280" y="566928"/>
            <a:ext cx="2103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60350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30 มิ.ย.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572000" y="9692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Frontend เสร็จ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720840" y="566928"/>
            <a:ext cx="2103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12280" y="60350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A751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31 ก.ค.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766560" y="9692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Go-Live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560320" y="1325880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พ.ค. 2569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3596640" y="1325880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มิ.ย. 2569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6187440" y="1325880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ก.ค. 2569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37160" y="15544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เก็บ Requirement &amp; SRS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560320" y="1609344"/>
            <a:ext cx="1036320" cy="274320"/>
          </a:xfrm>
          <a:prstGeom prst="roundRect">
            <a:avLst>
              <a:gd name="adj" fmla="val 13333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60320" y="1609344"/>
            <a:ext cx="10363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60320" y="1609344"/>
            <a:ext cx="1036320" cy="274320"/>
          </a:xfrm>
          <a:prstGeom prst="roundRect">
            <a:avLst>
              <a:gd name="adj" fmla="val 13333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06040" y="1609344"/>
            <a:ext cx="94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37160" y="20116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DB Schema + Auth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51200" y="2066544"/>
            <a:ext cx="949960" cy="274320"/>
          </a:xfrm>
          <a:prstGeom prst="roundRect">
            <a:avLst>
              <a:gd name="adj" fmla="val 13333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51200" y="2066544"/>
            <a:ext cx="94996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51200" y="2066544"/>
            <a:ext cx="949960" cy="274320"/>
          </a:xfrm>
          <a:prstGeom prst="roundRect">
            <a:avLst>
              <a:gd name="adj" fmla="val 13333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96920" y="2066544"/>
            <a:ext cx="858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37160" y="24688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 State Machine (Frontend+API)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769360" y="2523744"/>
            <a:ext cx="1122680" cy="274320"/>
          </a:xfrm>
          <a:prstGeom prst="roundRect">
            <a:avLst>
              <a:gd name="adj" fmla="val 13333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69360" y="2523744"/>
            <a:ext cx="112268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69360" y="2523744"/>
            <a:ext cx="1122680" cy="274320"/>
          </a:xfrm>
          <a:prstGeom prst="roundRect">
            <a:avLst>
              <a:gd name="adj" fmla="val 13333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15080" y="2523744"/>
            <a:ext cx="1031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137160" y="29260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FIFO Engine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373880" y="2980944"/>
            <a:ext cx="1295400" cy="274320"/>
          </a:xfrm>
          <a:prstGeom prst="roundRect">
            <a:avLst>
              <a:gd name="adj" fmla="val 13333"/>
            </a:avLst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73880" y="2980944"/>
            <a:ext cx="77724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373880" y="2980944"/>
            <a:ext cx="777240" cy="274320"/>
          </a:xfrm>
          <a:prstGeom prst="roundRect">
            <a:avLst>
              <a:gd name="adj" fmla="val 13333"/>
            </a:avLst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19600" y="2980944"/>
            <a:ext cx="1203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60%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137160" y="33832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Paper Trail + Unlock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064760" y="3438144"/>
            <a:ext cx="777240" cy="274320"/>
          </a:xfrm>
          <a:prstGeom prst="roundRect">
            <a:avLst>
              <a:gd name="adj" fmla="val 13333"/>
            </a:avLst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64760" y="3438144"/>
            <a:ext cx="310896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64760" y="3438144"/>
            <a:ext cx="310896" cy="274320"/>
          </a:xfrm>
          <a:prstGeom prst="roundRect">
            <a:avLst>
              <a:gd name="adj" fmla="val 13333"/>
            </a:avLst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10480" y="3438144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40%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37160" y="38404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Frontend UI (ไม่เชื่อม WS)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5237480" y="3895344"/>
            <a:ext cx="863600" cy="274320"/>
          </a:xfrm>
          <a:prstGeom prst="roundRect">
            <a:avLst>
              <a:gd name="adj" fmla="val 13333"/>
            </a:avLst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37480" y="3895344"/>
            <a:ext cx="30226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37480" y="3895344"/>
            <a:ext cx="302260" cy="274320"/>
          </a:xfrm>
          <a:prstGeom prst="roundRect">
            <a:avLst>
              <a:gd name="adj" fmla="val 13333"/>
            </a:avLst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83200" y="3895344"/>
            <a:ext cx="77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35%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137160" y="42976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WINSpeed Integration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87440" y="4352544"/>
            <a:ext cx="1468120" cy="274320"/>
          </a:xfrm>
          <a:prstGeom prst="roundRect">
            <a:avLst>
              <a:gd name="adj" fmla="val 13333"/>
            </a:avLst>
          </a:prstGeom>
          <a:solidFill>
            <a:srgbClr val="85B7EB"/>
          </a:solidFill>
          <a:ln w="12700">
            <a:solidFill>
              <a:srgbClr val="85B7E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233160" y="4352544"/>
            <a:ext cx="1376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42C53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แผน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137160" y="47548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UAT + Go-Live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7914640" y="4809744"/>
            <a:ext cx="863600" cy="274320"/>
          </a:xfrm>
          <a:prstGeom prst="roundRect">
            <a:avLst>
              <a:gd name="adj" fmla="val 13333"/>
            </a:avLst>
          </a:prstGeom>
          <a:solidFill>
            <a:srgbClr val="85B7EB"/>
          </a:solidFill>
          <a:ln w="12700">
            <a:solidFill>
              <a:srgbClr val="85B7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960360" y="4809744"/>
            <a:ext cx="77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42C53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แผน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5410200" y="1463040"/>
            <a:ext cx="0" cy="3840480"/>
          </a:xfrm>
          <a:prstGeom prst="line">
            <a:avLst/>
          </a:prstGeom>
          <a:noFill/>
          <a:ln w="19050">
            <a:solidFill>
              <a:srgbClr val="E24B4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27320" y="1298448"/>
            <a:ext cx="457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32D2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วันนี้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101080" y="1463040"/>
            <a:ext cx="0" cy="3840480"/>
          </a:xfrm>
          <a:prstGeom prst="line">
            <a:avLst/>
          </a:prstGeom>
          <a:noFill/>
          <a:ln w="12700">
            <a:solidFill>
              <a:srgbClr val="3B6D11"/>
            </a:solidFill>
            <a:prstDash val="dash"/>
          </a:ln>
        </p:spPr>
      </p:sp>
      <p:sp>
        <p:nvSpPr>
          <p:cNvPr id="59" name="Text 57"/>
          <p:cNvSpPr/>
          <p:nvPr/>
        </p:nvSpPr>
        <p:spPr>
          <a:xfrm>
            <a:off x="5826760" y="1298448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Frontend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Complete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8759952" y="1463040"/>
            <a:ext cx="0" cy="3840480"/>
          </a:xfrm>
          <a:prstGeom prst="line">
            <a:avLst/>
          </a:prstGeom>
          <a:noFill/>
          <a:ln w="12700">
            <a:solidFill>
              <a:srgbClr val="0C447C"/>
            </a:solidFill>
            <a:prstDash val="dash"/>
          </a:ln>
        </p:spPr>
      </p:sp>
      <p:sp>
        <p:nvSpPr>
          <p:cNvPr id="61" name="Text 59"/>
          <p:cNvSpPr/>
          <p:nvPr/>
        </p:nvSpPr>
        <p:spPr>
          <a:xfrm>
            <a:off x="8412480" y="1298448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Go-Live</a:t>
            </a:r>
            <a:endParaRPr lang="en-US" sz="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Traceability + สถานะการพัฒนา — v6.2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27 มิ.ย. 2569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" y="594360"/>
            <a:ext cx="429768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" y="594360"/>
            <a:ext cx="429768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0312" y="59436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Requirement ↔ FR Traceability (ครบทุกข้อ)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841248"/>
            <a:ext cx="420624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84124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75488" y="84124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ปัญหา #1 แม่-ลูกตัน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331720" y="84124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FR-019 Mother/Baby Load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82880" y="1115568"/>
            <a:ext cx="420624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" y="111556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5488" y="11155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ปัญหา #2 รายงานชุดตั๋ว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331720" y="111556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FR-021 Control Ticket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82880" y="1389888"/>
            <a:ext cx="420624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" y="138988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" y="13898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ปัญหา #3 ของแถม+สต็อก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331720" y="13898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FR-020 Giveaway Budget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82880" y="1664208"/>
            <a:ext cx="420624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166420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" y="166420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ปัญหา #4 รับเฉพาะชุด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331720" y="16642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FR-021 Ticket Set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82880" y="1938528"/>
            <a:ext cx="420624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8600" y="193852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5488" y="193852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ปัญหา #5 ตรวจซ้ำ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331720" y="193852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FR-022 Verification Gate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2880" y="2212848"/>
            <a:ext cx="420624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" y="221284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5488" y="221284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FIFO แยก Sales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2331720" y="221284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FR-008/9/10/11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82880" y="2487168"/>
            <a:ext cx="420624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8600" y="248716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75488" y="2487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บันทึก WINSpeed ถูกต้อง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2331720" y="248716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D-03(B) SO Import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182880" y="2761488"/>
            <a:ext cx="420624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8600" y="276148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75488" y="27614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ตั๋ว aging 30/45 วัน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331720" y="2761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FR-017 Dashboard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82880" y="3035808"/>
            <a:ext cx="420624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8600" y="303580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" y="303580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Approval เฉพาะคน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2331720" y="30358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FR-006/007 §5.5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26280" y="594360"/>
            <a:ext cx="44805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26280" y="594360"/>
            <a:ext cx="448056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99432" y="594360"/>
            <a:ext cx="4389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สถานะการพัฒนา — Implemented ✓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645152" y="822960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645152" y="822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974336" y="82296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wf schema (deployed)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974336" y="987552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18 ตาราง + 7 views · wf_reader/wf_owner · dbo เขียนไม่ได้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645152" y="1325880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45152" y="1325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974336" y="132588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Backend API (Express)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974336" y="1490472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JWT + RBAC · SO state machine · msnodesqlv8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645152" y="1828800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45152" y="18288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974336" y="182880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Engine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4974336" y="1993392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accrual ต่อบรรทัด → FIFO cut → Claim → CN (109)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4645152" y="2331720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45152" y="2331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4974336" y="233172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WINSpeed Import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4974336" y="2496312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SOHD/SODT.TXT (EmpID map) → poll DocuNo กลับ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4645152" y="2834640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45152" y="2834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4974336" y="283464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Frontend + Admin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4974336" y="2999232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POS · Picking · Map พนักงาน · ทดสอบ E2E ผ่าน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4526280" y="3200400"/>
            <a:ext cx="4480560" cy="868680"/>
          </a:xfrm>
          <a:prstGeom prst="rect">
            <a:avLst/>
          </a:prstGeom>
          <a:solidFill>
            <a:srgbClr val="EAF3DE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645152" y="3246120"/>
            <a:ext cx="429768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Frontend (ไม่เชื่อม WS) → 30 มิ.ย. 2569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Go-Live เต็มระบบ → 31 ก.ค. 2569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Warranty 30 วันหลัง Go-Live · MA option 12 เดือน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0" y="475488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74320" y="4754880"/>
            <a:ext cx="8595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DC8E8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World Fert Co., Ltd.  ·  WS-Sale-App v6.2 (Production)  ·  27 มิ.ย. 2569  ·  ข้อมูลยืนยันจาก query DB จริง  |  dbo = READ-ONLY  |  schema wf = สร้างใหม่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2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/>
            <a:r>
              <a:rPr lang="th-TH" sz="2000" b="1" dirty="0">
                <a:solidFill>
                  <a:srgbClr val="FFFFFF"/>
                </a:solidFill>
                <a:latin typeface="Prompt"/>
                <a:cs typeface="Prompt"/>
              </a:rPr>
              <a:t>v6.2 Release — โมดูลใหม่ &amp; สถานะการพัฒนา</a:t>
            </a:r>
          </a:p>
        </p:txBody>
      </p:sp>
      <p:sp>
        <p:nvSpPr>
          <p:cNvPr id="23" name="b24"/>
          <p:cNvSpPr/>
          <p:nvPr/>
        </p:nvSpPr>
        <p:spPr>
          <a:xfrm>
            <a:off x="228600" y="548640"/>
            <a:ext cx="86868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200" dirty="0">
                <a:solidFill>
                  <a:srgbClr val="5A6470"/>
                </a:solidFill>
                <a:latin typeface="Prompt"/>
                <a:cs typeface="Prompt"/>
              </a:rPr>
              <a:t>27 มิ.ย. 2569 · build v4.2.11 · Non-Invasive · ทดสอบ end-to-end ผ่าน</a:t>
            </a:r>
          </a:p>
        </p:txBody>
      </p:sp>
      <p:sp>
        <p:nvSpPr>
          <p:cNvPr id="11" name="b12"/>
          <p:cNvSpPr/>
          <p:nvPr/>
        </p:nvSpPr>
        <p:spPr>
          <a:xfrm>
            <a:off x="228600" y="1005840"/>
            <a:ext cx="435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400" b="1" dirty="0">
                <a:solidFill>
                  <a:srgbClr val="1F3864"/>
                </a:solidFill>
                <a:latin typeface="Prompt"/>
                <a:cs typeface="Prompt"/>
              </a:rPr>
              <a:t>โมดูลใหม่ (New Modules)</a:t>
            </a:r>
          </a:p>
        </p:txBody>
      </p:sp>
      <p:sp>
        <p:nvSpPr>
          <p:cNvPr id="13" name="b14"/>
          <p:cNvSpPr/>
          <p:nvPr/>
        </p:nvSpPr>
        <p:spPr>
          <a:xfrm>
            <a:off x="228600" y="1365840"/>
            <a:ext cx="4350000" cy="26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150" dirty="0">
                <a:solidFill>
                  <a:srgbClr val="2B2B2B"/>
                </a:solidFill>
                <a:latin typeface="Prompt"/>
                <a:cs typeface="Prompt"/>
              </a:rPr>
              <a:t>• Voucher — คูปองคงค้าง (dbo.WFCoupon · ตัน)</a:t>
            </a:r>
          </a:p>
          <a:p>
            <a:pPr/>
            <a:r>
              <a:rPr lang="th-TH" sz="1150" dirty="0">
                <a:solidFill>
                  <a:srgbClr val="2B2B2B"/>
                </a:solidFill>
                <a:latin typeface="Prompt"/>
                <a:cs typeface="Prompt"/>
              </a:rPr>
              <a:t>• CN Rebate — ใบลดหนี้รีเบทจริง (dbo.SOInvHD 109)</a:t>
            </a:r>
          </a:p>
          <a:p>
            <a:pPr/>
            <a:r>
              <a:rPr lang="th-TH" sz="1150" dirty="0">
                <a:solidFill>
                  <a:srgbClr val="2B2B2B"/>
                </a:solidFill>
                <a:latin typeface="Prompt"/>
                <a:cs typeface="Prompt"/>
              </a:rPr>
              <a:t>• ใบเสนอราคา (Quotation) → แปลงเป็น SO</a:t>
            </a:r>
          </a:p>
          <a:p>
            <a:pPr/>
            <a:r>
              <a:rPr lang="th-TH" sz="1150" dirty="0">
                <a:solidFill>
                  <a:srgbClr val="2B2B2B"/>
                </a:solidFill>
                <a:latin typeface="Prompt"/>
                <a:cs typeface="Prompt"/>
              </a:rPr>
              <a:t>• ตั๋วคงค้าง (Aging) — 30/45 วัน + ค้นหา</a:t>
            </a:r>
          </a:p>
          <a:p>
            <a:pPr/>
            <a:r>
              <a:rPr lang="th-TH" sz="1150" dirty="0">
                <a:solidFill>
                  <a:srgbClr val="2B2B2B"/>
                </a:solidFill>
                <a:latin typeface="Prompt"/>
                <a:cs typeface="Prompt"/>
              </a:rPr>
              <a:t>• บัญชี — ออกของวันนี้ + อนุมัติเคลม → CN</a:t>
            </a:r>
          </a:p>
        </p:txBody>
      </p:sp>
      <p:sp>
        <p:nvSpPr>
          <p:cNvPr id="15" name="b16"/>
          <p:cNvSpPr/>
          <p:nvPr/>
        </p:nvSpPr>
        <p:spPr>
          <a:xfrm>
            <a:off x="4680000" y="1005840"/>
            <a:ext cx="423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400" b="1" dirty="0">
                <a:solidFill>
                  <a:srgbClr val="1F3864"/>
                </a:solidFill>
                <a:latin typeface="Prompt"/>
                <a:cs typeface="Prompt"/>
              </a:rPr>
              <a:t>สถานะการพัฒนา (Status)</a:t>
            </a:r>
          </a:p>
        </p:txBody>
      </p:sp>
      <p:sp>
        <p:nvSpPr>
          <p:cNvPr id="17" name="b18"/>
          <p:cNvSpPr/>
          <p:nvPr/>
        </p:nvSpPr>
        <p:spPr>
          <a:xfrm>
            <a:off x="4680000" y="1365840"/>
            <a:ext cx="4230000" cy="26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150" dirty="0">
                <a:solidFill>
                  <a:srgbClr val="3B6D11"/>
                </a:solidFill>
                <a:latin typeface="Prompt"/>
                <a:cs typeface="Prompt"/>
              </a:rPr>
              <a:t>✓ 13 เมนู ขึ้น Production (Railway + Vercel)</a:t>
            </a:r>
          </a:p>
          <a:p>
            <a:pPr/>
            <a:r>
              <a:rPr lang="th-TH" sz="1150" dirty="0">
                <a:solidFill>
                  <a:srgbClr val="3B6D11"/>
                </a:solidFill>
                <a:latin typeface="Prompt"/>
                <a:cs typeface="Prompt"/>
              </a:rPr>
              <a:t>✓ schema wf: 18 ตาราง + 7 views</a:t>
            </a:r>
          </a:p>
          <a:p>
            <a:pPr/>
            <a:r>
              <a:rPr lang="th-TH" sz="1150" dirty="0">
                <a:solidFill>
                  <a:srgbClr val="3B6D11"/>
                </a:solidFill>
                <a:latin typeface="Prompt"/>
                <a:cs typeface="Prompt"/>
              </a:rPr>
              <a:t>✓ migration 17 ไฟล์ — 0 errors (local+remote)</a:t>
            </a:r>
          </a:p>
          <a:p>
            <a:pPr/>
            <a:r>
              <a:rPr lang="th-TH" sz="1150" dirty="0">
                <a:solidFill>
                  <a:srgbClr val="3B6D11"/>
                </a:solidFill>
                <a:latin typeface="Prompt"/>
                <a:cs typeface="Prompt"/>
              </a:rPr>
              <a:t>✓ LOCAL = REMOTE (ยืนยัน checksum)</a:t>
            </a:r>
          </a:p>
          <a:p>
            <a:pPr/>
            <a:r>
              <a:rPr lang="th-TH" sz="1150" dirty="0">
                <a:solidFill>
                  <a:srgbClr val="3B6D11"/>
                </a:solidFill>
                <a:latin typeface="Prompt"/>
                <a:cs typeface="Prompt"/>
              </a:rPr>
              <a:t>✓ Socket.IO realtime (event so_updated)</a:t>
            </a:r>
          </a:p>
          <a:p>
            <a:pPr/>
            <a:r>
              <a:rPr lang="th-TH" sz="1150" dirty="0">
                <a:solidFill>
                  <a:srgbClr val="3B6D11"/>
                </a:solidFill>
                <a:latin typeface="Prompt"/>
                <a:cs typeface="Prompt"/>
              </a:rPr>
              <a:t>✓ พร้อมให้ทีมบัญชีทดสอบ (UAT)</a:t>
            </a:r>
          </a:p>
        </p:txBody>
      </p:sp>
      <p:sp>
        <p:nvSpPr>
          <p:cNvPr id="19" name="b20"/>
          <p:cNvSpPr/>
          <p:nvPr/>
        </p:nvSpPr>
        <p:spPr>
          <a:xfrm>
            <a:off x="228600" y="4680000"/>
            <a:ext cx="86868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ctr"/>
            <a:r>
              <a:rPr lang="th-TH" sz="1000" dirty="0">
                <a:solidFill>
                  <a:srgbClr val="8A8A8A"/>
                </a:solidFill>
                <a:latin typeface="Prompt"/>
                <a:cs typeface="Prompt"/>
              </a:rPr>
              <a:t>World Fert Co., Ltd. · WS-Sale-App v6.2 (Production) · dbo = READ-ONLY · เขียนเฉพาะ schema wf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b34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/>
            <a:r>
              <a:rPr lang="th-TH" sz="2000" b="1" dirty="0">
                <a:solidFill>
                  <a:srgbClr val="FFFFFF"/>
                </a:solidFill>
                <a:latin typeface="Prompt"/>
                <a:cs typeface="Prompt"/>
              </a:rPr>
              <a:t>ระบบรีเบท/ส่วนลด 3 รูปแบบ + Dual-DB</a:t>
            </a:r>
          </a:p>
        </p:txBody>
      </p:sp>
      <p:sp>
        <p:nvSpPr>
          <p:cNvPr id="35" name="b36"/>
          <p:cNvSpPr/>
          <p:nvPr/>
        </p:nvSpPr>
        <p:spPr>
          <a:xfrm>
            <a:off x="228600" y="548640"/>
            <a:ext cx="86868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200" dirty="0">
                <a:solidFill>
                  <a:srgbClr val="5A6470"/>
                </a:solidFill>
                <a:latin typeface="Prompt"/>
                <a:cs typeface="Prompt"/>
              </a:rPr>
              <a:t>แยกระบบให้ชัดเจน ไม่ปะปนกัน — ยืนยันจากข้อมูลจริง (v6.2)</a:t>
            </a:r>
          </a:p>
        </p:txBody>
      </p:sp>
      <p:sp>
        <p:nvSpPr>
          <p:cNvPr id="25" name="b26"/>
          <p:cNvSpPr/>
          <p:nvPr/>
        </p:nvSpPr>
        <p:spPr>
          <a:xfrm>
            <a:off x="228600" y="1100000"/>
            <a:ext cx="2820000" cy="2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BA7517"/>
                </a:solidFill>
                <a:latin typeface="Prompt"/>
                <a:cs typeface="Prompt"/>
              </a:rPr>
              <a:t>฿ Rebate (ส่วนต่างราคา)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หน่วย: บาท (฿)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แหล่ง: wf.RebatePool/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Ledger/Claim/Usage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/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accrual = (ขาย − NET) × ตัน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เมื่อ Confirm SO ผ่าน App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→ ตัด FIFO → CN 109</a:t>
            </a:r>
          </a:p>
        </p:txBody>
      </p:sp>
      <p:sp>
        <p:nvSpPr>
          <p:cNvPr id="27" name="b28"/>
          <p:cNvSpPr/>
          <p:nvPr/>
        </p:nvSpPr>
        <p:spPr>
          <a:xfrm>
            <a:off x="3162000" y="1100000"/>
            <a:ext cx="2820000" cy="2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0C447C"/>
                </a:solidFill>
                <a:latin typeface="Prompt"/>
                <a:cs typeface="Prompt"/>
              </a:rPr>
              <a:t>Voucher / WFCoupon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หน่วย: ตัน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แหล่ง: dbo.WFCoupon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(READ-ONLY)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/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คูปองแลกสินค้า loyalty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ของ WINSpeed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94,540 แถว · คนละระบบ</a:t>
            </a:r>
          </a:p>
        </p:txBody>
      </p:sp>
      <p:sp>
        <p:nvSpPr>
          <p:cNvPr id="29" name="b30"/>
          <p:cNvSpPr/>
          <p:nvPr/>
        </p:nvSpPr>
        <p:spPr>
          <a:xfrm>
            <a:off x="6096000" y="1100000"/>
            <a:ext cx="2820000" cy="2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3B6D11"/>
                </a:solidFill>
                <a:latin typeface="Prompt"/>
                <a:cs typeface="Prompt"/>
              </a:rPr>
              <a:t>ตั๋วคุม (Control Ticket)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หน่วย: ใบ / ตัน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แหล่ง: dbo.SOHD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.AppvDocuNo ('AI')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/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ใบจองล่วงหน้า /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คุมเข้าชั่ง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ไม่ใช่รีเบท/คูปอง</a:t>
            </a:r>
          </a:p>
        </p:txBody>
      </p:sp>
      <p:sp>
        <p:nvSpPr>
          <p:cNvPr id="31" name="b32"/>
          <p:cNvSpPr/>
          <p:nvPr/>
        </p:nvSpPr>
        <p:spPr>
          <a:xfrm>
            <a:off x="228600" y="3560000"/>
            <a:ext cx="8686800" cy="9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1F3864"/>
                </a:solidFill>
                <a:latin typeface="Prompt"/>
                <a:cs typeface="Prompt"/>
              </a:rPr>
              <a:t>Dual-DB Architecture</a:t>
            </a:r>
          </a:p>
          <a:p>
            <a:pPr/>
            <a:r>
              <a:rPr lang="th-TH" sz="1100" dirty="0">
                <a:solidFill>
                  <a:srgbClr val="2B2B2B"/>
                </a:solidFill>
                <a:latin typeface="Prompt"/>
                <a:cs typeface="Prompt"/>
              </a:rPr>
              <a:t>LOCAL (Windows Auth · msnodesqlv8 · named-pipe)  ↔  REMOTE (SQL Auth · ODBC 17 · TCP)</a:t>
            </a:r>
          </a:p>
          <a:p>
            <a:pPr/>
            <a:r>
              <a:rPr lang="th-TH" sz="1100" dirty="0">
                <a:solidFill>
                  <a:srgbClr val="2B2B2B"/>
                </a:solidFill>
                <a:latin typeface="Prompt"/>
                <a:cs typeface="Prompt"/>
              </a:rPr>
              <a:t>สลับ runtime ผ่าน header X-DB-Target (AsyncLocalStorage) · dbo = READ-ONLY ทั้งสองฝั่ง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18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/>
            <a:r>
              <a:rPr lang="th-TH" sz="2000" b="1" dirty="0">
                <a:solidFill>
                  <a:srgbClr val="FFFFFF"/>
                </a:solidFill>
                <a:latin typeface="Prompt"/>
                <a:cs typeface="Prompt"/>
              </a:rPr>
              <a:t>TruckScale Integration — Weigh-In / Weigh-Out Flow</a:t>
            </a:r>
          </a:p>
        </p:txBody>
      </p:sp>
      <p:sp>
        <p:nvSpPr>
          <p:cNvPr id="19" name="b20"/>
          <p:cNvSpPr/>
          <p:nvPr/>
        </p:nvSpPr>
        <p:spPr>
          <a:xfrm>
            <a:off x="228600" y="548640"/>
            <a:ext cx="86868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150" dirty="0">
                <a:solidFill>
                  <a:srgbClr val="5A6470"/>
                </a:solidFill>
                <a:latin typeface="Prompt"/>
                <a:cs typeface="Prompt"/>
              </a:rPr>
              <a:t>LIVE (v4.2.17) · db_truckscale บน Railway MySQL · match ด้วยทะเบียนรถ</a:t>
            </a:r>
          </a:p>
        </p:txBody>
      </p:sp>
      <p:sp>
        <p:nvSpPr>
          <p:cNvPr id="11" name="b12"/>
          <p:cNvSpPr/>
          <p:nvPr/>
        </p:nvSpPr>
        <p:spPr>
          <a:xfrm>
            <a:off x="228600" y="1000000"/>
            <a:ext cx="4500000" cy="27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1F3864"/>
                </a:solidFill>
                <a:latin typeface="Prompt"/>
                <a:cs typeface="Prompt"/>
              </a:rPr>
              <a:t>กระบวนการชั่งผ่าน App (7 ขั้น)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1) รับใบจอง WINSpeed (SOHD 103/104 · ทะเบียนรถ)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2) เปิดตั๋วชั่งเข้า (tbl_keyone · wf.WeighTicket)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3) ชั่งเข้า — weight_in (รถเปล่า)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4) รับของ (tblproduct_detail · สายพาน/คลัง/bulk)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5) ชั่งออก — weight_out → net = out − in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6) ยืนยัน → SO = SHIPPED + แนบน้ำหนักจริง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7) ส่ง Import → WINSpeed ออกใบกำกับ+GL เอง</a:t>
            </a:r>
          </a:p>
        </p:txBody>
      </p:sp>
      <p:sp>
        <p:nvSpPr>
          <p:cNvPr id="13" name="b14"/>
          <p:cNvSpPr/>
          <p:nvPr/>
        </p:nvSpPr>
        <p:spPr>
          <a:xfrm>
            <a:off x="4850000" y="1000000"/>
            <a:ext cx="4060000" cy="27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BA7517"/>
                </a:solidFill>
                <a:latin typeface="Prompt"/>
                <a:cs typeface="Prompt"/>
              </a:rPr>
              <a:t>ตาราง TruckScale หลัก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tblscale — รายการชั่ง (403,908)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tbl_keyone — ก่อนชั่ง (407,973)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tblproduct_detail — สินค้าต่อบิล (550,161)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tblorder — ยอดคงเหลือ (5,890)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เครื่องชั่ง 2 ตัว · 80 ตัน/เครื่อง</a:t>
            </a:r>
          </a:p>
        </p:txBody>
      </p:sp>
      <p:sp>
        <p:nvSpPr>
          <p:cNvPr id="15" name="b16"/>
          <p:cNvSpPr/>
          <p:nvPr/>
        </p:nvSpPr>
        <p:spPr>
          <a:xfrm>
            <a:off x="228600" y="3900000"/>
            <a:ext cx="8686800" cy="560000"/>
          </a:xfrm>
          <a:prstGeom prst="rect">
            <a:avLst/>
          </a:prstGeom>
          <a:solidFill>
            <a:srgbClr val="EAF3DE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100" dirty="0">
                <a:solidFill>
                  <a:srgbClr val="2C520C"/>
                </a:solidFill>
                <a:latin typeface="Prompt"/>
                <a:cs typeface="Prompt"/>
              </a:rPr>
              <a:t>เป้าหมาย: App เป็นสะพาน WINSpeed ↔ TruckScale ครบวงจร — เปิดจากใบจอง → ชั่งเข้า → ชั่งออก → ยืนยัน Shipped กลับ WINSpeed อัตโนมัติ (ลดคีย์ซ้ำ)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3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/>
            <a:r>
              <a:rPr lang="th-TH" sz="2000" b="1" dirty="0">
                <a:solidFill>
                  <a:srgbClr val="FFFFFF"/>
                </a:solidFill>
                <a:latin typeface="Prompt"/>
                <a:cs typeface="Prompt"/>
              </a:rPr>
              <a:t>WINSpeed ↔ TruckScale — DB Linkage &amp; Architecture</a:t>
            </a:r>
          </a:p>
        </p:txBody>
      </p:sp>
      <p:sp>
        <p:nvSpPr>
          <p:cNvPr id="31" name="b32"/>
          <p:cNvSpPr/>
          <p:nvPr/>
        </p:nvSpPr>
        <p:spPr>
          <a:xfrm>
            <a:off x="228600" y="548640"/>
            <a:ext cx="86868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150" dirty="0">
                <a:solidFill>
                  <a:srgbClr val="5A6470"/>
                </a:solidFill>
                <a:latin typeface="Prompt"/>
                <a:cs typeface="Prompt"/>
              </a:rPr>
              <a:t>เชื่อมผ่านทะเบียนรถ — LIVE (v4.2.17 · Railway MySQL)</a:t>
            </a:r>
          </a:p>
        </p:txBody>
      </p:sp>
      <p:sp>
        <p:nvSpPr>
          <p:cNvPr id="21" name="b22"/>
          <p:cNvSpPr/>
          <p:nvPr/>
        </p:nvSpPr>
        <p:spPr>
          <a:xfrm>
            <a:off x="228600" y="1000000"/>
            <a:ext cx="2820000" cy="26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0C447C"/>
                </a:solidFill>
                <a:latin typeface="Prompt"/>
                <a:cs typeface="Prompt"/>
              </a:rPr>
              <a:t>Join Keys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pd_pro_invoid  ↔  dbo.SOHD.DocuNo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pd_pro_number  ↔  dbo.SODT.DocuNo (ตั๋วคุม)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one_car_regis  ↔  SOHD.TransRegistration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one_cus_id  ↔  EMCust.CustID</a:t>
            </a:r>
          </a:p>
        </p:txBody>
      </p:sp>
      <p:sp>
        <p:nvSpPr>
          <p:cNvPr id="23" name="b24"/>
          <p:cNvSpPr/>
          <p:nvPr/>
        </p:nvSpPr>
        <p:spPr>
          <a:xfrm>
            <a:off x="3162000" y="1000000"/>
            <a:ext cx="2820000" cy="26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1F3864"/>
                </a:solidFill>
                <a:latin typeface="Prompt"/>
                <a:cs typeface="Prompt"/>
              </a:rPr>
              <a:t>Architecture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Approach 1 (แนะนำ): App ต่อ MySQL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read-only + /api/truckscale/*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match ทะเบียน/movebill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Approach 2: ETL → wf.TruckScaleImport</a:t>
            </a:r>
          </a:p>
        </p:txBody>
      </p:sp>
      <p:sp>
        <p:nvSpPr>
          <p:cNvPr id="25" name="b26"/>
          <p:cNvSpPr/>
          <p:nvPr/>
        </p:nvSpPr>
        <p:spPr>
          <a:xfrm>
            <a:off x="6096000" y="1000000"/>
            <a:ext cx="2820000" cy="26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A32D2D"/>
                </a:solidFill>
                <a:latin typeface="Prompt"/>
                <a:cs typeface="Prompt"/>
              </a:rPr>
              <a:t>ข้อควรระวัง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เครื่องชั่ง local — ต้อง VPN/tunnel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วันที่ Excel serial → แปลง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charset tis620 (Node: TIS620)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ไม่มี FK ข้ามระบบ — match + verify</a:t>
            </a:r>
          </a:p>
        </p:txBody>
      </p:sp>
      <p:sp>
        <p:nvSpPr>
          <p:cNvPr id="27" name="b28"/>
          <p:cNvSpPr/>
          <p:nvPr/>
        </p:nvSpPr>
        <p:spPr>
          <a:xfrm>
            <a:off x="228600" y="3780000"/>
            <a:ext cx="8686800" cy="620000"/>
          </a:xfrm>
          <a:prstGeom prst="rect">
            <a:avLst/>
          </a:prstGeom>
          <a:solidFill>
            <a:srgbClr val="EAF3DE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100" dirty="0">
                <a:solidFill>
                  <a:srgbClr val="2C520C"/>
                </a:solidFill>
                <a:latin typeface="Prompt"/>
                <a:cs typeface="Prompt"/>
              </a:rPr>
              <a:t>หลักการคงเดิม: dbo = READ-ONLY · ไม่แก้ schema TruckScale · App อ่าน+เชื่อมเท่านั้น · wf.WeighTicket เก็บ gross/tare/net + เวลาเข้า-ออก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18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/>
            <a:r>
              <a:rPr lang="th-TH" sz="1900" b="1" dirty="0">
                <a:solidFill>
                  <a:srgbClr val="FFFFFF"/>
                </a:solidFill>
                <a:latin typeface="Prompt"/>
                <a:cs typeface="Prompt"/>
              </a:rPr>
              <a:t>Implementation Update — Batch 1-4 (build v4.2.16)</a:t>
            </a:r>
          </a:p>
        </p:txBody>
      </p:sp>
      <p:sp>
        <p:nvSpPr>
          <p:cNvPr id="19" name="b20"/>
          <p:cNvSpPr/>
          <p:nvPr/>
        </p:nvSpPr>
        <p:spPr>
          <a:xfrm>
            <a:off x="228600" y="548640"/>
            <a:ext cx="86868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150" dirty="0">
                <a:solidFill>
                  <a:srgbClr val="5A6470"/>
                </a:solidFill>
                <a:latin typeface="Prompt"/>
                <a:cs typeface="Prompt"/>
              </a:rPr>
              <a:t>ฟีเจอร์ที่ออกแบบไว้ → สร้างจริง + deploy (Railway + Vercel) · migration clean local+remote</a:t>
            </a:r>
          </a:p>
        </p:txBody>
      </p:sp>
      <p:sp>
        <p:nvSpPr>
          <p:cNvPr id="11" name="b12"/>
          <p:cNvSpPr/>
          <p:nvPr/>
        </p:nvSpPr>
        <p:spPr>
          <a:xfrm>
            <a:off x="228600" y="1000000"/>
            <a:ext cx="4500000" cy="27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3B6D11"/>
                </a:solidFill>
                <a:latin typeface="Prompt"/>
                <a:cs typeface="Prompt"/>
              </a:rPr>
              <a:t>Batch ที่ deploy แล้ว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✓ B1 — Paper Trail 4 สี + QR + scan + alert ใบหาย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✓ B2 — Rebate Plan + จัดสรร Pool ตามภาค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✓ B3 — Verification Gate + Unlock Request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✓ B4a — WeighTicket (gross/tare/net + เครื่องชั่ง)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✓ B4b — Control Ticket + Reports + Export Excel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✓ B4c — TruckScale LIVE (Railway MySQL)</a:t>
            </a:r>
          </a:p>
        </p:txBody>
      </p:sp>
      <p:sp>
        <p:nvSpPr>
          <p:cNvPr id="13" name="b14"/>
          <p:cNvSpPr/>
          <p:nvPr/>
        </p:nvSpPr>
        <p:spPr>
          <a:xfrm>
            <a:off x="4850000" y="1000000"/>
            <a:ext cx="4060000" cy="27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1F3864"/>
                </a:solidFill>
                <a:latin typeface="Prompt"/>
                <a:cs typeface="Prompt"/>
              </a:rPr>
              <a:t>ของใหม่ + การตัดสินใจ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migration 016-019: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  PaperCopy/Scan · RebatePlan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  UnlockRequest · WeighTicket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dbo write ตรง (GL ยังให้ WINSpeed post)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FR-004/006/007/008/009/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012/013/017/021/022 = ✓</a:t>
            </a:r>
          </a:p>
        </p:txBody>
      </p:sp>
      <p:sp>
        <p:nvSpPr>
          <p:cNvPr id="15" name="b16"/>
          <p:cNvSpPr/>
          <p:nvPr/>
        </p:nvSpPr>
        <p:spPr>
          <a:xfrm>
            <a:off x="228600" y="3900000"/>
            <a:ext cx="8686800" cy="520000"/>
          </a:xfrm>
          <a:prstGeom prst="rect">
            <a:avLst/>
          </a:prstGeom>
          <a:solidFill>
            <a:srgbClr val="FFF7E6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100" dirty="0">
                <a:solidFill>
                  <a:srgbClr val="7A4E10"/>
                </a:solidFill>
                <a:latin typeface="Prompt"/>
                <a:cs typeface="Prompt"/>
              </a:rPr>
              <a:t>TruckScale: LIVE แล้ว (Railway MySQL) · รายละเอียดอ้างอิง SRS v6.2 §17 (Implementation Update)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WS-Sale-App v5.0 — World Fert</dc:title>
  <dc:subject>PptxGenJS Presentation</dc:subject>
  <dc:creator>World Fert</dc:creator>
  <cp:lastModifiedBy>World Fert</cp:lastModifiedBy>
  <cp:revision>1</cp:revision>
  <dcterms:created xsi:type="dcterms:W3CDTF">2026-06-23T05:58:57Z</dcterms:created>
  <dcterms:modified xsi:type="dcterms:W3CDTF">2026-06-23T05:58:57Z</dcterms:modified>
</cp:coreProperties>
</file>